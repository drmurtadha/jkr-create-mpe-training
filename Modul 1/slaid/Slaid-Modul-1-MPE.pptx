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Modul ini ialah asas kepada semua modul seterusnya. Kita akan bermula dengan masalah kerja MPE, mengenal pasti peluang yang bernilai, dan menamatkan sesi dengan satu cadangan percubaan kecil bagi setiap kumpulan.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Nyatakan hasil dengan jelas. Peserta tidak hanya mendengar teori; setiap kumpulan akan menghasilkan satu kanvas yang mempunyai masalah, cadangan, ukuran, kawalan dan percubaan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Terangkan hubungan lima modul. Modul 1 memilih peluang. Modul 2 mengautomasi dokumen, Modul 3 mengurus data dan rekod, Modul 4 memperbaiki aliran kerja, dan Modul 5 menyediakan bahan projek serta pembentangan.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angkat tangan atau undian. Jangan menghukum respons. Tekankan bahawa masalah proses ialah peluang penambahbaikan dan bukan kegagalan individu.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pintar tidak semestinya AI. Data dan peraturan yang baik sering memberi nilai yang besar. Gunakan definisi ini untuk memfokuskan peserta kepada kerja dan keputusan.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Buku Log sebagai contoh. Manual menggunakan catatan dan fail fizikal. Digital memindahkan borang ke skrin tetapi mungkin masih memerlukan salinan data. Pintar mengumpul sekali, menyemak awal dan menyediakan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 peserta sama ada semua proses perlu sampai ke tahap pintar. Jawapan: tidak. Tahap penyelesaian perlu sepadan dengan nilai, kekerapan, kebolehlaksanaan dan risiko.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Terangkan lima kebocoran. Jangan labelkan kebocoran mengikut tahap manual, digital atau pintar kerana kebocoran boleh berlaku pada mana-mana tahap jika proses tidak direka dengan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 dua contoh. Minta peserta menerangkan mengapa pernyataan kedua lebih berguna. Gunakan formula pengguna–tugas–punca–kesan untuk membetulkan masalah yang masih terlalu umum.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Mulakan pemasa dua minit. Peserta menulis satu masalah pada satu nota. Minta mereka menulis masalah dan kesan, bukan penyelesaian. Kelompokkan respons mengikut lima kebocoran.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Terangkan enam keupayaan. Satu penyelesaian boleh menggabungkan beberapa keupayaan, tetapi jangan memasukkan semuanya ke dalam percubaan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Pilih dua nota masalah daripada papan. Minta peserta memadankan masalah itu dengan keupayaan. Tanyakan mengapa keupayaan tersebut sesuai.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Terangkan bahawa automasi biasa sering lebih boleh diramal dan diaudit. AI berguna apabila bahasa atau pola mempunyai variasi tinggi, tetapi hasilnya masih perlu disemak.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dimensi diberi skor 1, 3 atau 5 mengikut rubrik pada kanvas. Risiko ditolak. Skor tinggi bermaksud calon percubaan terkawal, bukan arahan untuk terus melaksanakan tanpa pemilik proses.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gelung aplikasi membantu, manusia menyemak dan tindakan direkod. Risiko bukan alasan untuk berhenti; ia ialah keperluan reka bentuk.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Mulakan demonstrasi 12 minit. Terangkan bahawa MPE Hub ialah demonstrasi corak transformasi, bukan produk yang mesti diterima tanpa penilaian proses. Buka aplikasi sebenar dan tunjuk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istilah sasaran atau hipotesis. Jangan mendakwa semua manfaat telah terbukti. Tunjukkan satu borang mudah alih dan terangkan bahawa status berubah selepas data disimpan dan dashboard disegerakkan.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demo, sebut empat soalan. Selepas demo, minta peserta memberikan jawapan pendek. Gunakan pengguna yang dibenarkan, bukan semua pihak, apabila menerangkan ketelusan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Edarkan kanvas A3. Terangkan lapan bahagian. Tekankan satu proses, satu kumpulan pengguna, satu ukuran utama dan satu percubaan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Mulakan pemasa. Beri amaran pada 10 minit, 5 minit dan 1 minit terakhir. Jika masa lewat, kurangkan bilangan pembentangan kumpulan, bukan masa kanvas. Bergerak antara kumpulan dan semak: masalah jelas, ukuran ada, siapa menyemak, dan percubaan cukup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kumpulan mempunyai 60 saat. Benarkan satu soalan klarifikasi, bukan perbahasan panjang. Jika kumpulan melebihi lima, pilih tiga untuk berkongsi dan kutip kanvas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Rumusan: produktiviti tidak meningkat kerana lebih banyak aplikasi. Ia meningkat apabila data dikumpul dengan betul, kerja berulang dikurangkan, pengecualian kelihatan dan pegawai boleh membuat keputusan dengan yakin. Minta peserta melengkapkan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drmurtadha.github.io/mpe-hub/" TargetMode="External"/><Relationship Id="rId3" Type="http://schemas.openxmlformats.org/officeDocument/2006/relationships/hyperlink" Target="https://drmurtadha.github.io/mpe-hub/" TargetMode="External"/><Relationship Id="rId1" Type="http://schemas.openxmlformats.org/officeDocument/2006/relationships/image" Target="../media/image-16-1.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PEMBUKAAN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01</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Shape 19"/>
          <p:cNvSpPr/>
          <p:nvPr/>
        </p:nvSpPr>
        <p:spPr>
          <a:xfrm>
            <a:off x="566928" y="731520"/>
            <a:ext cx="11018520" cy="3886200"/>
          </a:xfrm>
          <a:prstGeom prst="rect">
            <a:avLst/>
          </a:prstGeom>
          <a:solidFill>
            <a:srgbClr val="173440"/>
          </a:solidFill>
          <a:ln w="15240">
            <a:solidFill>
              <a:srgbClr val="4B6970"/>
            </a:solidFill>
            <a:prstDash val="solid"/>
          </a:ln>
        </p:spPr>
      </p:sp>
      <p:sp>
        <p:nvSpPr>
          <p:cNvPr id="22" name="Text 20"/>
          <p:cNvSpPr/>
          <p:nvPr/>
        </p:nvSpPr>
        <p:spPr>
          <a:xfrm>
            <a:off x="841248" y="1078992"/>
            <a:ext cx="2011680" cy="310896"/>
          </a:xfrm>
          <a:prstGeom prst="rect">
            <a:avLst/>
          </a:prstGeom>
          <a:noFill/>
          <a:ln/>
        </p:spPr>
        <p:txBody>
          <a:bodyPr wrap="square" lIns="0" tIns="0" rIns="0" bIns="0" rtlCol="0" anchor="ctr"/>
          <a:lstStyle/>
          <a:p>
            <a:pPr indent="0" marL="0">
              <a:buNone/>
            </a:pPr>
            <a:r>
              <a:rPr lang="en-US" sz="1200" b="1" spc="240" kern="0" dirty="0">
                <a:solidFill>
                  <a:srgbClr val="CDFF3F"/>
                </a:solidFill>
              </a:rPr>
              <a:t>MODUL 1</a:t>
            </a:r>
            <a:endParaRPr lang="en-US" sz="1200" dirty="0"/>
          </a:p>
        </p:txBody>
      </p:sp>
      <p:sp>
        <p:nvSpPr>
          <p:cNvPr id="23" name="Text 21"/>
          <p:cNvSpPr/>
          <p:nvPr/>
        </p:nvSpPr>
        <p:spPr>
          <a:xfrm>
            <a:off x="841248" y="1554480"/>
            <a:ext cx="9784080" cy="2148840"/>
          </a:xfrm>
          <a:prstGeom prst="rect">
            <a:avLst/>
          </a:prstGeom>
          <a:noFill/>
          <a:ln/>
        </p:spPr>
        <p:txBody>
          <a:bodyPr wrap="square" lIns="0" tIns="0" rIns="0" bIns="0" rtlCol="0" anchor="ctr">
            <a:normAutofit/>
          </a:bodyPr>
          <a:lstStyle/>
          <a:p>
            <a:pPr indent="0" marL="0">
              <a:buNone/>
            </a:pPr>
            <a:r>
              <a:rPr lang="en-US" sz="3300" b="1" dirty="0">
                <a:solidFill>
                  <a:srgbClr val="FFFFFF"/>
                </a:solidFill>
                <a:latin typeface="Aptos Display" pitchFamily="34" charset="0"/>
                <a:ea typeface="Aptos Display" pitchFamily="34" charset="-122"/>
                <a:cs typeface="Aptos Display" pitchFamily="34" charset="-120"/>
              </a:rPr>
              <a:t>Pengenalan Aplikasi Pintar</a:t>
            </a:r>
            <a:endParaRPr lang="en-US" sz="3300" dirty="0"/>
          </a:p>
          <a:p>
            <a:pPr indent="0" marL="0">
              <a:buNone/>
            </a:pPr>
            <a:r>
              <a:rPr lang="en-US" sz="3300" b="1" dirty="0">
                <a:solidFill>
                  <a:srgbClr val="FFFFFF"/>
                </a:solidFill>
                <a:latin typeface="Aptos Display" pitchFamily="34" charset="0"/>
                <a:ea typeface="Aptos Display" pitchFamily="34" charset="-122"/>
                <a:cs typeface="Aptos Display" pitchFamily="34" charset="-120"/>
              </a:rPr>
              <a:t>untuk Meningkatkan</a:t>
            </a:r>
            <a:endParaRPr lang="en-US" sz="3300" dirty="0"/>
          </a:p>
          <a:p>
            <a:pPr indent="0" marL="0">
              <a:buNone/>
            </a:pPr>
            <a:r>
              <a:rPr lang="en-US" sz="3300" b="1" dirty="0">
                <a:solidFill>
                  <a:srgbClr val="FFFFFF"/>
                </a:solidFill>
                <a:latin typeface="Aptos Display" pitchFamily="34" charset="0"/>
                <a:ea typeface="Aptos Display" pitchFamily="34" charset="-122"/>
                <a:cs typeface="Aptos Display" pitchFamily="34" charset="-120"/>
              </a:rPr>
              <a:t>Produktiviti Kerja MPE</a:t>
            </a:r>
            <a:endParaRPr lang="en-US" sz="3300" dirty="0"/>
          </a:p>
        </p:txBody>
      </p:sp>
      <p:sp>
        <p:nvSpPr>
          <p:cNvPr id="24" name="Shape 22"/>
          <p:cNvSpPr/>
          <p:nvPr/>
        </p:nvSpPr>
        <p:spPr>
          <a:xfrm>
            <a:off x="841248" y="3931920"/>
            <a:ext cx="7498080" cy="475488"/>
          </a:xfrm>
          <a:prstGeom prst="roundRect">
            <a:avLst>
              <a:gd name="adj" fmla="val 11538"/>
            </a:avLst>
          </a:prstGeom>
          <a:solidFill>
            <a:srgbClr val="00A99D"/>
          </a:solidFill>
          <a:ln w="12700">
            <a:solidFill>
              <a:srgbClr val="00A99D"/>
            </a:solidFill>
            <a:prstDash val="solid"/>
          </a:ln>
        </p:spPr>
      </p:sp>
      <p:sp>
        <p:nvSpPr>
          <p:cNvPr id="25" name="Text 23"/>
          <p:cNvSpPr/>
          <p:nvPr/>
        </p:nvSpPr>
        <p:spPr>
          <a:xfrm>
            <a:off x="1051560" y="4023360"/>
            <a:ext cx="7132320" cy="237744"/>
          </a:xfrm>
          <a:prstGeom prst="rect">
            <a:avLst/>
          </a:prstGeom>
          <a:noFill/>
          <a:ln/>
        </p:spPr>
        <p:txBody>
          <a:bodyPr wrap="square" lIns="0" tIns="0" rIns="0" bIns="0" rtlCol="0" anchor="ctr"/>
          <a:lstStyle/>
          <a:p>
            <a:pPr indent="0" marL="0">
              <a:buNone/>
            </a:pPr>
            <a:r>
              <a:rPr lang="en-US" sz="1450" b="1" dirty="0">
                <a:solidFill>
                  <a:srgbClr val="FFFFFF"/>
                </a:solidFill>
              </a:rPr>
              <a:t>Mulakan dengan masalah kerja, bukan dengan nama alat.</a:t>
            </a:r>
            <a:endParaRPr lang="en-US" sz="1450" dirty="0"/>
          </a:p>
        </p:txBody>
      </p:sp>
      <p:sp>
        <p:nvSpPr>
          <p:cNvPr id="26" name="Text 24"/>
          <p:cNvSpPr/>
          <p:nvPr/>
        </p:nvSpPr>
        <p:spPr>
          <a:xfrm>
            <a:off x="841248" y="4956048"/>
            <a:ext cx="5212080" cy="640080"/>
          </a:xfrm>
          <a:prstGeom prst="rect">
            <a:avLst/>
          </a:prstGeom>
          <a:noFill/>
          <a:ln/>
        </p:spPr>
        <p:txBody>
          <a:bodyPr wrap="square" lIns="0" tIns="0" rIns="0" bIns="0" rtlCol="0" anchor="ctr"/>
          <a:lstStyle/>
          <a:p>
            <a:pPr indent="0" marL="0">
              <a:buNone/>
            </a:pPr>
            <a:r>
              <a:rPr lang="en-US" sz="1350" dirty="0">
                <a:solidFill>
                  <a:srgbClr val="BFD0D2"/>
                </a:solidFill>
              </a:rPr>
              <a:t>Prof. Madya Dr. Mohd Murtadha Mohamad</a:t>
            </a:r>
            <a:endParaRPr lang="en-US" sz="1350" dirty="0"/>
          </a:p>
          <a:p>
            <a:pPr indent="0" marL="0">
              <a:buNone/>
            </a:pPr>
            <a:r>
              <a:rPr lang="en-US" sz="1350" dirty="0">
                <a:solidFill>
                  <a:srgbClr val="BFD0D2"/>
                </a:solidFill>
              </a:rPr>
              <a:t>28 Julai 2026 · CREaTE JKR</a:t>
            </a:r>
            <a:endParaRPr lang="en-US" sz="1350" dirty="0"/>
          </a:p>
        </p:txBody>
      </p:sp>
      <p:sp>
        <p:nvSpPr>
          <p:cNvPr id="27" name="Text 25"/>
          <p:cNvSpPr/>
          <p:nvPr/>
        </p:nvSpPr>
        <p:spPr>
          <a:xfrm>
            <a:off x="9966960" y="4800600"/>
            <a:ext cx="1325880" cy="1005840"/>
          </a:xfrm>
          <a:prstGeom prst="rect">
            <a:avLst/>
          </a:prstGeom>
          <a:noFill/>
          <a:ln/>
        </p:spPr>
        <p:txBody>
          <a:bodyPr wrap="square" lIns="0" tIns="0" rIns="0" bIns="0" rtlCol="0" anchor="ctr"/>
          <a:lstStyle/>
          <a:p>
            <a:pPr algn="ctr" indent="0" marL="0">
              <a:buNone/>
            </a:pPr>
            <a:r>
              <a:rPr lang="en-US" sz="2300" b="1" dirty="0">
                <a:solidFill>
                  <a:srgbClr val="CDFF3F"/>
                </a:solidFill>
              </a:rPr>
              <a:t>90</a:t>
            </a:r>
            <a:endParaRPr lang="en-US" sz="2300" dirty="0"/>
          </a:p>
          <a:p>
            <a:pPr algn="ctr" indent="0" marL="0">
              <a:buNone/>
            </a:pPr>
            <a:r>
              <a:rPr lang="en-US" sz="2300" b="1" dirty="0">
                <a:solidFill>
                  <a:srgbClr val="CDFF3F"/>
                </a:solidFill>
              </a:rPr>
              <a:t>MINIT</a:t>
            </a:r>
            <a:endParaRPr lang="en-US"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PEMBUKAAN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02</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Hasil akhir sesi</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Pada 10.30 pagi, setiap kumpulan membawa satu peluang yang boleh dinilai.</a:t>
            </a:r>
            <a:endParaRPr lang="en-US" sz="1250" dirty="0"/>
          </a:p>
        </p:txBody>
      </p:sp>
      <p:sp>
        <p:nvSpPr>
          <p:cNvPr id="23" name="Shape 21"/>
          <p:cNvSpPr/>
          <p:nvPr/>
        </p:nvSpPr>
        <p:spPr>
          <a:xfrm>
            <a:off x="594360" y="1901952"/>
            <a:ext cx="1993392" cy="3218688"/>
          </a:xfrm>
          <a:prstGeom prst="roundRect">
            <a:avLst>
              <a:gd name="adj" fmla="val 2752"/>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4" name="Shape 22"/>
          <p:cNvSpPr/>
          <p:nvPr/>
        </p:nvSpPr>
        <p:spPr>
          <a:xfrm>
            <a:off x="731520" y="2084832"/>
            <a:ext cx="457200" cy="457200"/>
          </a:xfrm>
          <a:prstGeom prst="ellipse">
            <a:avLst/>
          </a:prstGeom>
          <a:solidFill>
            <a:srgbClr val="00A99D"/>
          </a:solidFill>
          <a:ln w="12700">
            <a:solidFill>
              <a:srgbClr val="00A99D"/>
            </a:solidFill>
            <a:prstDash val="solid"/>
          </a:ln>
        </p:spPr>
      </p:sp>
      <p:sp>
        <p:nvSpPr>
          <p:cNvPr id="25" name="Text 23"/>
          <p:cNvSpPr/>
          <p:nvPr/>
        </p:nvSpPr>
        <p:spPr>
          <a:xfrm>
            <a:off x="731520" y="2093976"/>
            <a:ext cx="457200" cy="43891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6" name="Text 24"/>
          <p:cNvSpPr/>
          <p:nvPr/>
        </p:nvSpPr>
        <p:spPr>
          <a:xfrm>
            <a:off x="731520" y="2788920"/>
            <a:ext cx="1700784" cy="384048"/>
          </a:xfrm>
          <a:prstGeom prst="rect">
            <a:avLst/>
          </a:prstGeom>
          <a:noFill/>
          <a:ln/>
        </p:spPr>
        <p:txBody>
          <a:bodyPr wrap="square" lIns="0" tIns="0" rIns="0" bIns="0" rtlCol="0" anchor="ctr">
            <a:normAutofit/>
          </a:bodyPr>
          <a:lstStyle/>
          <a:p>
            <a:pPr indent="0" marL="0">
              <a:buNone/>
            </a:pPr>
            <a:r>
              <a:rPr lang="en-US" sz="1700" b="1" dirty="0">
                <a:solidFill>
                  <a:srgbClr val="173440"/>
                </a:solidFill>
              </a:rPr>
              <a:t>Masalah</a:t>
            </a:r>
            <a:endParaRPr lang="en-US" sz="1700" dirty="0"/>
          </a:p>
        </p:txBody>
      </p:sp>
      <p:sp>
        <p:nvSpPr>
          <p:cNvPr id="27" name="Text 25"/>
          <p:cNvSpPr/>
          <p:nvPr/>
        </p:nvSpPr>
        <p:spPr>
          <a:xfrm>
            <a:off x="731520" y="3364992"/>
            <a:ext cx="1682496" cy="1170432"/>
          </a:xfrm>
          <a:prstGeom prst="rect">
            <a:avLst/>
          </a:prstGeom>
          <a:noFill/>
          <a:ln/>
        </p:spPr>
        <p:txBody>
          <a:bodyPr wrap="square" lIns="0" tIns="0" rIns="0" bIns="0" rtlCol="0" anchor="t">
            <a:normAutofit/>
          </a:bodyPr>
          <a:lstStyle/>
          <a:p>
            <a:pPr indent="0" marL="0">
              <a:buNone/>
            </a:pPr>
            <a:r>
              <a:rPr lang="en-US" sz="1230" dirty="0">
                <a:solidFill>
                  <a:srgbClr val="6A777A"/>
                </a:solidFill>
              </a:rPr>
              <a:t>Satu masalah operasi MPE yang jelas</a:t>
            </a:r>
            <a:endParaRPr lang="en-US" sz="1230" dirty="0"/>
          </a:p>
        </p:txBody>
      </p:sp>
      <p:sp>
        <p:nvSpPr>
          <p:cNvPr id="28" name="Shape 26"/>
          <p:cNvSpPr/>
          <p:nvPr/>
        </p:nvSpPr>
        <p:spPr>
          <a:xfrm>
            <a:off x="2862072" y="1901952"/>
            <a:ext cx="1993392" cy="3218688"/>
          </a:xfrm>
          <a:prstGeom prst="roundRect">
            <a:avLst>
              <a:gd name="adj" fmla="val 2752"/>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9" name="Shape 27"/>
          <p:cNvSpPr/>
          <p:nvPr/>
        </p:nvSpPr>
        <p:spPr>
          <a:xfrm>
            <a:off x="2999232" y="2084832"/>
            <a:ext cx="457200" cy="457200"/>
          </a:xfrm>
          <a:prstGeom prst="ellipse">
            <a:avLst/>
          </a:prstGeom>
          <a:solidFill>
            <a:srgbClr val="00A99D"/>
          </a:solidFill>
          <a:ln w="12700">
            <a:solidFill>
              <a:srgbClr val="00A99D"/>
            </a:solidFill>
            <a:prstDash val="solid"/>
          </a:ln>
        </p:spPr>
      </p:sp>
      <p:sp>
        <p:nvSpPr>
          <p:cNvPr id="30" name="Text 28"/>
          <p:cNvSpPr/>
          <p:nvPr/>
        </p:nvSpPr>
        <p:spPr>
          <a:xfrm>
            <a:off x="2999232" y="2093976"/>
            <a:ext cx="457200" cy="43891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31" name="Text 29"/>
          <p:cNvSpPr/>
          <p:nvPr/>
        </p:nvSpPr>
        <p:spPr>
          <a:xfrm>
            <a:off x="2999232" y="2788920"/>
            <a:ext cx="1700784" cy="384048"/>
          </a:xfrm>
          <a:prstGeom prst="rect">
            <a:avLst/>
          </a:prstGeom>
          <a:noFill/>
          <a:ln/>
        </p:spPr>
        <p:txBody>
          <a:bodyPr wrap="square" lIns="0" tIns="0" rIns="0" bIns="0" rtlCol="0" anchor="ctr">
            <a:normAutofit/>
          </a:bodyPr>
          <a:lstStyle/>
          <a:p>
            <a:pPr indent="0" marL="0">
              <a:buNone/>
            </a:pPr>
            <a:r>
              <a:rPr lang="en-US" sz="1700" b="1" dirty="0">
                <a:solidFill>
                  <a:srgbClr val="173440"/>
                </a:solidFill>
              </a:rPr>
              <a:t>Cadangan</a:t>
            </a:r>
            <a:endParaRPr lang="en-US" sz="1700" dirty="0"/>
          </a:p>
        </p:txBody>
      </p:sp>
      <p:sp>
        <p:nvSpPr>
          <p:cNvPr id="32" name="Text 30"/>
          <p:cNvSpPr/>
          <p:nvPr/>
        </p:nvSpPr>
        <p:spPr>
          <a:xfrm>
            <a:off x="2999232" y="3364992"/>
            <a:ext cx="1682496" cy="1170432"/>
          </a:xfrm>
          <a:prstGeom prst="rect">
            <a:avLst/>
          </a:prstGeom>
          <a:noFill/>
          <a:ln/>
        </p:spPr>
        <p:txBody>
          <a:bodyPr wrap="square" lIns="0" tIns="0" rIns="0" bIns="0" rtlCol="0" anchor="t">
            <a:normAutofit/>
          </a:bodyPr>
          <a:lstStyle/>
          <a:p>
            <a:pPr indent="0" marL="0">
              <a:buNone/>
            </a:pPr>
            <a:r>
              <a:rPr lang="en-US" sz="1230" dirty="0">
                <a:solidFill>
                  <a:srgbClr val="6A777A"/>
                </a:solidFill>
              </a:rPr>
              <a:t>Satu gabungan keupayaan aplikasi pintar</a:t>
            </a:r>
            <a:endParaRPr lang="en-US" sz="1230" dirty="0"/>
          </a:p>
        </p:txBody>
      </p:sp>
      <p:sp>
        <p:nvSpPr>
          <p:cNvPr id="33" name="Shape 31"/>
          <p:cNvSpPr/>
          <p:nvPr/>
        </p:nvSpPr>
        <p:spPr>
          <a:xfrm>
            <a:off x="5129784" y="1901952"/>
            <a:ext cx="1993392" cy="3218688"/>
          </a:xfrm>
          <a:prstGeom prst="roundRect">
            <a:avLst>
              <a:gd name="adj" fmla="val 2752"/>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4" name="Shape 32"/>
          <p:cNvSpPr/>
          <p:nvPr/>
        </p:nvSpPr>
        <p:spPr>
          <a:xfrm>
            <a:off x="5266944" y="2084832"/>
            <a:ext cx="457200" cy="457200"/>
          </a:xfrm>
          <a:prstGeom prst="ellipse">
            <a:avLst/>
          </a:prstGeom>
          <a:solidFill>
            <a:srgbClr val="00A99D"/>
          </a:solidFill>
          <a:ln w="12700">
            <a:solidFill>
              <a:srgbClr val="00A99D"/>
            </a:solidFill>
            <a:prstDash val="solid"/>
          </a:ln>
        </p:spPr>
      </p:sp>
      <p:sp>
        <p:nvSpPr>
          <p:cNvPr id="35" name="Text 33"/>
          <p:cNvSpPr/>
          <p:nvPr/>
        </p:nvSpPr>
        <p:spPr>
          <a:xfrm>
            <a:off x="5266944" y="2093976"/>
            <a:ext cx="457200" cy="43891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6" name="Text 34"/>
          <p:cNvSpPr/>
          <p:nvPr/>
        </p:nvSpPr>
        <p:spPr>
          <a:xfrm>
            <a:off x="5266944" y="2788920"/>
            <a:ext cx="1700784" cy="384048"/>
          </a:xfrm>
          <a:prstGeom prst="rect">
            <a:avLst/>
          </a:prstGeom>
          <a:noFill/>
          <a:ln/>
        </p:spPr>
        <p:txBody>
          <a:bodyPr wrap="square" lIns="0" tIns="0" rIns="0" bIns="0" rtlCol="0" anchor="ctr">
            <a:normAutofit/>
          </a:bodyPr>
          <a:lstStyle/>
          <a:p>
            <a:pPr indent="0" marL="0">
              <a:buNone/>
            </a:pPr>
            <a:r>
              <a:rPr lang="en-US" sz="1700" b="1" dirty="0">
                <a:solidFill>
                  <a:srgbClr val="173440"/>
                </a:solidFill>
              </a:rPr>
              <a:t>Ukuran</a:t>
            </a:r>
            <a:endParaRPr lang="en-US" sz="1700" dirty="0"/>
          </a:p>
        </p:txBody>
      </p:sp>
      <p:sp>
        <p:nvSpPr>
          <p:cNvPr id="37" name="Text 35"/>
          <p:cNvSpPr/>
          <p:nvPr/>
        </p:nvSpPr>
        <p:spPr>
          <a:xfrm>
            <a:off x="5266944" y="3364992"/>
            <a:ext cx="1682496" cy="1170432"/>
          </a:xfrm>
          <a:prstGeom prst="rect">
            <a:avLst/>
          </a:prstGeom>
          <a:noFill/>
          <a:ln/>
        </p:spPr>
        <p:txBody>
          <a:bodyPr wrap="square" lIns="0" tIns="0" rIns="0" bIns="0" rtlCol="0" anchor="t">
            <a:normAutofit/>
          </a:bodyPr>
          <a:lstStyle/>
          <a:p>
            <a:pPr indent="0" marL="0">
              <a:buNone/>
            </a:pPr>
            <a:r>
              <a:rPr lang="en-US" sz="1230" dirty="0">
                <a:solidFill>
                  <a:srgbClr val="6A777A"/>
                </a:solidFill>
              </a:rPr>
              <a:t>Satu metrik kejayaan yang boleh diperiksa</a:t>
            </a:r>
            <a:endParaRPr lang="en-US" sz="1230" dirty="0"/>
          </a:p>
        </p:txBody>
      </p:sp>
      <p:sp>
        <p:nvSpPr>
          <p:cNvPr id="38" name="Shape 36"/>
          <p:cNvSpPr/>
          <p:nvPr/>
        </p:nvSpPr>
        <p:spPr>
          <a:xfrm>
            <a:off x="7397496" y="1901952"/>
            <a:ext cx="1993392" cy="3218688"/>
          </a:xfrm>
          <a:prstGeom prst="roundRect">
            <a:avLst>
              <a:gd name="adj" fmla="val 2752"/>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9" name="Shape 37"/>
          <p:cNvSpPr/>
          <p:nvPr/>
        </p:nvSpPr>
        <p:spPr>
          <a:xfrm>
            <a:off x="7534656" y="2084832"/>
            <a:ext cx="457200" cy="457200"/>
          </a:xfrm>
          <a:prstGeom prst="ellipse">
            <a:avLst/>
          </a:prstGeom>
          <a:solidFill>
            <a:srgbClr val="00A99D"/>
          </a:solidFill>
          <a:ln w="12700">
            <a:solidFill>
              <a:srgbClr val="00A99D"/>
            </a:solidFill>
            <a:prstDash val="solid"/>
          </a:ln>
        </p:spPr>
      </p:sp>
      <p:sp>
        <p:nvSpPr>
          <p:cNvPr id="40" name="Text 38"/>
          <p:cNvSpPr/>
          <p:nvPr/>
        </p:nvSpPr>
        <p:spPr>
          <a:xfrm>
            <a:off x="7534656" y="2093976"/>
            <a:ext cx="457200" cy="43891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41" name="Text 39"/>
          <p:cNvSpPr/>
          <p:nvPr/>
        </p:nvSpPr>
        <p:spPr>
          <a:xfrm>
            <a:off x="7534656" y="2788920"/>
            <a:ext cx="1700784" cy="384048"/>
          </a:xfrm>
          <a:prstGeom prst="rect">
            <a:avLst/>
          </a:prstGeom>
          <a:noFill/>
          <a:ln/>
        </p:spPr>
        <p:txBody>
          <a:bodyPr wrap="square" lIns="0" tIns="0" rIns="0" bIns="0" rtlCol="0" anchor="ctr">
            <a:normAutofit/>
          </a:bodyPr>
          <a:lstStyle/>
          <a:p>
            <a:pPr indent="0" marL="0">
              <a:buNone/>
            </a:pPr>
            <a:r>
              <a:rPr lang="en-US" sz="1700" b="1" dirty="0">
                <a:solidFill>
                  <a:srgbClr val="173440"/>
                </a:solidFill>
              </a:rPr>
              <a:t>Kawalan</a:t>
            </a:r>
            <a:endParaRPr lang="en-US" sz="1700" dirty="0"/>
          </a:p>
        </p:txBody>
      </p:sp>
      <p:sp>
        <p:nvSpPr>
          <p:cNvPr id="42" name="Text 40"/>
          <p:cNvSpPr/>
          <p:nvPr/>
        </p:nvSpPr>
        <p:spPr>
          <a:xfrm>
            <a:off x="7534656" y="3364992"/>
            <a:ext cx="1682496" cy="1170432"/>
          </a:xfrm>
          <a:prstGeom prst="rect">
            <a:avLst/>
          </a:prstGeom>
          <a:noFill/>
          <a:ln/>
        </p:spPr>
        <p:txBody>
          <a:bodyPr wrap="square" lIns="0" tIns="0" rIns="0" bIns="0" rtlCol="0" anchor="t">
            <a:normAutofit/>
          </a:bodyPr>
          <a:lstStyle/>
          <a:p>
            <a:pPr indent="0" marL="0">
              <a:buNone/>
            </a:pPr>
            <a:r>
              <a:rPr lang="en-US" sz="1230" dirty="0">
                <a:solidFill>
                  <a:srgbClr val="6A777A"/>
                </a:solidFill>
              </a:rPr>
              <a:t>Satu risiko dan titik semakan manusia</a:t>
            </a:r>
            <a:endParaRPr lang="en-US" sz="1230" dirty="0"/>
          </a:p>
        </p:txBody>
      </p:sp>
      <p:sp>
        <p:nvSpPr>
          <p:cNvPr id="43" name="Shape 41"/>
          <p:cNvSpPr/>
          <p:nvPr/>
        </p:nvSpPr>
        <p:spPr>
          <a:xfrm>
            <a:off x="9665208" y="1901952"/>
            <a:ext cx="1993392" cy="3218688"/>
          </a:xfrm>
          <a:prstGeom prst="roundRect">
            <a:avLst>
              <a:gd name="adj" fmla="val 2752"/>
            </a:avLst>
          </a:prstGeom>
          <a:solidFill>
            <a:srgbClr val="EEFFD0"/>
          </a:solidFill>
          <a:ln w="11430">
            <a:solidFill>
              <a:srgbClr val="A8CD42"/>
            </a:solidFill>
            <a:prstDash val="solid"/>
          </a:ln>
          <a:effectLst>
            <a:outerShdw sx="100000" sy="100000" kx="0" ky="0" algn="bl" rotWithShape="0" blurRad="25400" dist="50800" dir="2700000">
              <a:srgbClr val="000000">
                <a:alpha val="10000"/>
              </a:srgbClr>
            </a:outerShdw>
          </a:effectLst>
        </p:spPr>
      </p:sp>
      <p:sp>
        <p:nvSpPr>
          <p:cNvPr id="44" name="Shape 42"/>
          <p:cNvSpPr/>
          <p:nvPr/>
        </p:nvSpPr>
        <p:spPr>
          <a:xfrm>
            <a:off x="9802368" y="2084832"/>
            <a:ext cx="457200" cy="457200"/>
          </a:xfrm>
          <a:prstGeom prst="ellipse">
            <a:avLst/>
          </a:prstGeom>
          <a:solidFill>
            <a:srgbClr val="173440"/>
          </a:solidFill>
          <a:ln w="12700">
            <a:solidFill>
              <a:srgbClr val="173440"/>
            </a:solidFill>
            <a:prstDash val="solid"/>
          </a:ln>
        </p:spPr>
      </p:sp>
      <p:sp>
        <p:nvSpPr>
          <p:cNvPr id="45" name="Text 43"/>
          <p:cNvSpPr/>
          <p:nvPr/>
        </p:nvSpPr>
        <p:spPr>
          <a:xfrm>
            <a:off x="9802368" y="2093976"/>
            <a:ext cx="457200" cy="438912"/>
          </a:xfrm>
          <a:prstGeom prst="rect">
            <a:avLst/>
          </a:prstGeom>
          <a:noFill/>
          <a:ln/>
        </p:spPr>
        <p:txBody>
          <a:bodyPr wrap="square" lIns="0" tIns="0" rIns="0" bIns="0" rtlCol="0" anchor="ctr"/>
          <a:lstStyle/>
          <a:p>
            <a:pPr algn="ctr" indent="0" marL="0">
              <a:buNone/>
            </a:pPr>
            <a:r>
              <a:rPr lang="en-US" sz="1200" b="1" dirty="0">
                <a:solidFill>
                  <a:srgbClr val="CDFF3F"/>
                </a:solidFill>
              </a:rPr>
              <a:t>5</a:t>
            </a:r>
            <a:endParaRPr lang="en-US" sz="1200" dirty="0"/>
          </a:p>
        </p:txBody>
      </p:sp>
      <p:sp>
        <p:nvSpPr>
          <p:cNvPr id="46" name="Text 44"/>
          <p:cNvSpPr/>
          <p:nvPr/>
        </p:nvSpPr>
        <p:spPr>
          <a:xfrm>
            <a:off x="9802368" y="2788920"/>
            <a:ext cx="1700784" cy="384048"/>
          </a:xfrm>
          <a:prstGeom prst="rect">
            <a:avLst/>
          </a:prstGeom>
          <a:noFill/>
          <a:ln/>
        </p:spPr>
        <p:txBody>
          <a:bodyPr wrap="square" lIns="0" tIns="0" rIns="0" bIns="0" rtlCol="0" anchor="ctr">
            <a:normAutofit/>
          </a:bodyPr>
          <a:lstStyle/>
          <a:p>
            <a:pPr indent="0" marL="0">
              <a:buNone/>
            </a:pPr>
            <a:r>
              <a:rPr lang="en-US" sz="1700" b="1" dirty="0">
                <a:solidFill>
                  <a:srgbClr val="173440"/>
                </a:solidFill>
              </a:rPr>
              <a:t>Percubaan</a:t>
            </a:r>
            <a:endParaRPr lang="en-US" sz="1700" dirty="0"/>
          </a:p>
        </p:txBody>
      </p:sp>
      <p:sp>
        <p:nvSpPr>
          <p:cNvPr id="47" name="Text 45"/>
          <p:cNvSpPr/>
          <p:nvPr/>
        </p:nvSpPr>
        <p:spPr>
          <a:xfrm>
            <a:off x="9802368" y="3364992"/>
            <a:ext cx="1682496" cy="1170432"/>
          </a:xfrm>
          <a:prstGeom prst="rect">
            <a:avLst/>
          </a:prstGeom>
          <a:noFill/>
          <a:ln/>
        </p:spPr>
        <p:txBody>
          <a:bodyPr wrap="square" lIns="0" tIns="0" rIns="0" bIns="0" rtlCol="0" anchor="t">
            <a:normAutofit/>
          </a:bodyPr>
          <a:lstStyle/>
          <a:p>
            <a:pPr indent="0" marL="0">
              <a:buNone/>
            </a:pPr>
            <a:r>
              <a:rPr lang="en-US" sz="1230" dirty="0">
                <a:solidFill>
                  <a:srgbClr val="6A777A"/>
                </a:solidFill>
              </a:rPr>
              <a:t>Satu langkah kecil untuk dua minggu pertama</a:t>
            </a:r>
            <a:endParaRPr lang="en-US" sz="1230" dirty="0"/>
          </a:p>
        </p:txBody>
      </p:sp>
      <p:sp>
        <p:nvSpPr>
          <p:cNvPr id="48" name="Text 46"/>
          <p:cNvSpPr/>
          <p:nvPr/>
        </p:nvSpPr>
        <p:spPr>
          <a:xfrm>
            <a:off x="594360" y="5650992"/>
            <a:ext cx="10972800" cy="347472"/>
          </a:xfrm>
          <a:prstGeom prst="rect">
            <a:avLst/>
          </a:prstGeom>
          <a:noFill/>
          <a:ln/>
        </p:spPr>
        <p:txBody>
          <a:bodyPr wrap="square" lIns="0" tIns="0" rIns="0" bIns="0" rtlCol="0" anchor="ctr"/>
          <a:lstStyle/>
          <a:p>
            <a:pPr algn="ctr" indent="0" marL="0">
              <a:buNone/>
            </a:pPr>
            <a:r>
              <a:rPr lang="en-US" sz="1400" b="1" dirty="0">
                <a:solidFill>
                  <a:srgbClr val="00A99D"/>
                </a:solidFill>
              </a:rPr>
              <a:t>Bukti pembelajaran: Kanvas Peluang Produktiviti MPE + pitch 60 saat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PEMBUKAAN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03</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Perjalanan bengkel dua hari</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Peluang yang dipilih hari ini menjadi benang merah bagi Modul 2–5.</a:t>
            </a:r>
            <a:endParaRPr lang="en-US" sz="1250" dirty="0"/>
          </a:p>
        </p:txBody>
      </p:sp>
      <p:sp>
        <p:nvSpPr>
          <p:cNvPr id="23" name="Shape 21"/>
          <p:cNvSpPr/>
          <p:nvPr/>
        </p:nvSpPr>
        <p:spPr>
          <a:xfrm>
            <a:off x="2441448" y="3154680"/>
            <a:ext cx="402336" cy="0"/>
          </a:xfrm>
          <a:prstGeom prst="line">
            <a:avLst/>
          </a:prstGeom>
          <a:noFill/>
          <a:ln w="20320">
            <a:solidFill>
              <a:srgbClr val="9FB0AE"/>
            </a:solidFill>
            <a:prstDash val="solid"/>
            <a:tailEnd type="triangle"/>
          </a:ln>
        </p:spPr>
      </p:sp>
      <p:sp>
        <p:nvSpPr>
          <p:cNvPr id="24" name="Shape 22"/>
          <p:cNvSpPr/>
          <p:nvPr/>
        </p:nvSpPr>
        <p:spPr>
          <a:xfrm>
            <a:off x="594360" y="2057400"/>
            <a:ext cx="1856232" cy="2148840"/>
          </a:xfrm>
          <a:prstGeom prst="hexagon">
            <a:avLst/>
          </a:prstGeom>
          <a:solidFill>
            <a:srgbClr val="E0F9F5"/>
          </a:solidFill>
          <a:ln w="27940">
            <a:solidFill>
              <a:srgbClr val="00A99D"/>
            </a:solidFill>
            <a:prstDash val="solid"/>
          </a:ln>
          <a:effectLst>
            <a:outerShdw sx="100000" sy="100000" kx="0" ky="0" algn="bl" rotWithShape="0" blurRad="25400" dist="50800" dir="2700000">
              <a:srgbClr val="000000">
                <a:alpha val="10000"/>
              </a:srgbClr>
            </a:outerShdw>
          </a:effectLst>
        </p:spPr>
      </p:sp>
      <p:sp>
        <p:nvSpPr>
          <p:cNvPr id="25" name="Text 23"/>
          <p:cNvSpPr/>
          <p:nvPr/>
        </p:nvSpPr>
        <p:spPr>
          <a:xfrm>
            <a:off x="1197864" y="2331720"/>
            <a:ext cx="640080" cy="384048"/>
          </a:xfrm>
          <a:prstGeom prst="rect">
            <a:avLst/>
          </a:prstGeom>
          <a:noFill/>
          <a:ln/>
        </p:spPr>
        <p:txBody>
          <a:bodyPr wrap="square" lIns="0" tIns="0" rIns="0" bIns="0" rtlCol="0" anchor="ctr"/>
          <a:lstStyle/>
          <a:p>
            <a:pPr algn="ctr" indent="0" marL="0">
              <a:buNone/>
            </a:pPr>
            <a:r>
              <a:rPr lang="en-US" sz="1800" b="1" dirty="0">
                <a:solidFill>
                  <a:srgbClr val="00A99D"/>
                </a:solidFill>
              </a:rPr>
              <a:t>01</a:t>
            </a:r>
            <a:endParaRPr lang="en-US" sz="1800" dirty="0"/>
          </a:p>
        </p:txBody>
      </p:sp>
      <p:sp>
        <p:nvSpPr>
          <p:cNvPr id="26" name="Text 24"/>
          <p:cNvSpPr/>
          <p:nvPr/>
        </p:nvSpPr>
        <p:spPr>
          <a:xfrm>
            <a:off x="795528" y="2999232"/>
            <a:ext cx="1463040" cy="457200"/>
          </a:xfrm>
          <a:prstGeom prst="rect">
            <a:avLst/>
          </a:prstGeom>
          <a:noFill/>
          <a:ln/>
        </p:spPr>
        <p:txBody>
          <a:bodyPr wrap="square" lIns="0" tIns="0" rIns="0" bIns="0" rtlCol="0" anchor="ctr">
            <a:normAutofit/>
          </a:bodyPr>
          <a:lstStyle/>
          <a:p>
            <a:pPr algn="ctr" indent="0" marL="0">
              <a:buNone/>
            </a:pPr>
            <a:r>
              <a:rPr lang="en-US" sz="1400" b="1" dirty="0">
                <a:solidFill>
                  <a:srgbClr val="182427"/>
                </a:solidFill>
              </a:rPr>
              <a:t>Pilih peluang</a:t>
            </a:r>
            <a:endParaRPr lang="en-US" sz="1400" dirty="0"/>
          </a:p>
        </p:txBody>
      </p:sp>
      <p:sp>
        <p:nvSpPr>
          <p:cNvPr id="27" name="Text 25"/>
          <p:cNvSpPr/>
          <p:nvPr/>
        </p:nvSpPr>
        <p:spPr>
          <a:xfrm>
            <a:off x="822960" y="3566160"/>
            <a:ext cx="1417320" cy="320040"/>
          </a:xfrm>
          <a:prstGeom prst="rect">
            <a:avLst/>
          </a:prstGeom>
          <a:noFill/>
          <a:ln/>
        </p:spPr>
        <p:txBody>
          <a:bodyPr wrap="square" lIns="0" tIns="0" rIns="0" bIns="0" rtlCol="0" anchor="ctr">
            <a:normAutofit/>
          </a:bodyPr>
          <a:lstStyle/>
          <a:p>
            <a:pPr algn="ctr" indent="0" marL="0">
              <a:buNone/>
            </a:pPr>
            <a:r>
              <a:rPr lang="en-US" sz="1050" dirty="0">
                <a:solidFill>
                  <a:srgbClr val="6A777A"/>
                </a:solidFill>
              </a:rPr>
              <a:t>Aplikasi pintar</a:t>
            </a:r>
            <a:endParaRPr lang="en-US" sz="1050" dirty="0"/>
          </a:p>
        </p:txBody>
      </p:sp>
      <p:sp>
        <p:nvSpPr>
          <p:cNvPr id="28" name="Shape 26"/>
          <p:cNvSpPr/>
          <p:nvPr/>
        </p:nvSpPr>
        <p:spPr>
          <a:xfrm>
            <a:off x="4727448" y="3154680"/>
            <a:ext cx="402336" cy="0"/>
          </a:xfrm>
          <a:prstGeom prst="line">
            <a:avLst/>
          </a:prstGeom>
          <a:noFill/>
          <a:ln w="20320">
            <a:solidFill>
              <a:srgbClr val="9FB0AE"/>
            </a:solidFill>
            <a:prstDash val="solid"/>
            <a:tailEnd type="triangle"/>
          </a:ln>
        </p:spPr>
      </p:sp>
      <p:sp>
        <p:nvSpPr>
          <p:cNvPr id="29" name="Shape 27"/>
          <p:cNvSpPr/>
          <p:nvPr/>
        </p:nvSpPr>
        <p:spPr>
          <a:xfrm>
            <a:off x="2880360" y="2057400"/>
            <a:ext cx="1856232" cy="2148840"/>
          </a:xfrm>
          <a:prstGeom prst="hexagon">
            <a:avLst/>
          </a:prstGeom>
          <a:solidFill>
            <a:srgbClr val="FFFFFF"/>
          </a:solidFill>
          <a:ln w="15240">
            <a:solidFill>
              <a:srgbClr val="2F72C4"/>
            </a:solidFill>
            <a:prstDash val="solid"/>
          </a:ln>
          <a:effectLst>
            <a:outerShdw sx="100000" sy="100000" kx="0" ky="0" algn="bl" rotWithShape="0" blurRad="25400" dist="50800" dir="2700000">
              <a:srgbClr val="000000">
                <a:alpha val="10000"/>
              </a:srgbClr>
            </a:outerShdw>
          </a:effectLst>
        </p:spPr>
      </p:sp>
      <p:sp>
        <p:nvSpPr>
          <p:cNvPr id="30" name="Text 28"/>
          <p:cNvSpPr/>
          <p:nvPr/>
        </p:nvSpPr>
        <p:spPr>
          <a:xfrm>
            <a:off x="3483864" y="2331720"/>
            <a:ext cx="640080" cy="384048"/>
          </a:xfrm>
          <a:prstGeom prst="rect">
            <a:avLst/>
          </a:prstGeom>
          <a:noFill/>
          <a:ln/>
        </p:spPr>
        <p:txBody>
          <a:bodyPr wrap="square" lIns="0" tIns="0" rIns="0" bIns="0" rtlCol="0" anchor="ctr"/>
          <a:lstStyle/>
          <a:p>
            <a:pPr algn="ctr" indent="0" marL="0">
              <a:buNone/>
            </a:pPr>
            <a:r>
              <a:rPr lang="en-US" sz="1800" b="1" dirty="0">
                <a:solidFill>
                  <a:srgbClr val="2F72C4"/>
                </a:solidFill>
              </a:rPr>
              <a:t>02</a:t>
            </a:r>
            <a:endParaRPr lang="en-US" sz="1800" dirty="0"/>
          </a:p>
        </p:txBody>
      </p:sp>
      <p:sp>
        <p:nvSpPr>
          <p:cNvPr id="31" name="Text 29"/>
          <p:cNvSpPr/>
          <p:nvPr/>
        </p:nvSpPr>
        <p:spPr>
          <a:xfrm>
            <a:off x="3081528" y="2999232"/>
            <a:ext cx="1463040" cy="457200"/>
          </a:xfrm>
          <a:prstGeom prst="rect">
            <a:avLst/>
          </a:prstGeom>
          <a:noFill/>
          <a:ln/>
        </p:spPr>
        <p:txBody>
          <a:bodyPr wrap="square" lIns="0" tIns="0" rIns="0" bIns="0" rtlCol="0" anchor="ctr">
            <a:normAutofit/>
          </a:bodyPr>
          <a:lstStyle/>
          <a:p>
            <a:pPr algn="ctr" indent="0" marL="0">
              <a:buNone/>
            </a:pPr>
            <a:r>
              <a:rPr lang="en-US" sz="1400" b="1" dirty="0">
                <a:solidFill>
                  <a:srgbClr val="182427"/>
                </a:solidFill>
              </a:rPr>
              <a:t>Automasi dokumen</a:t>
            </a:r>
            <a:endParaRPr lang="en-US" sz="1400" dirty="0"/>
          </a:p>
        </p:txBody>
      </p:sp>
      <p:sp>
        <p:nvSpPr>
          <p:cNvPr id="32" name="Text 30"/>
          <p:cNvSpPr/>
          <p:nvPr/>
        </p:nvSpPr>
        <p:spPr>
          <a:xfrm>
            <a:off x="3108960" y="3566160"/>
            <a:ext cx="1417320" cy="320040"/>
          </a:xfrm>
          <a:prstGeom prst="rect">
            <a:avLst/>
          </a:prstGeom>
          <a:noFill/>
          <a:ln/>
        </p:spPr>
        <p:txBody>
          <a:bodyPr wrap="square" lIns="0" tIns="0" rIns="0" bIns="0" rtlCol="0" anchor="ctr">
            <a:normAutofit/>
          </a:bodyPr>
          <a:lstStyle/>
          <a:p>
            <a:pPr algn="ctr" indent="0" marL="0">
              <a:buNone/>
            </a:pPr>
            <a:r>
              <a:rPr lang="en-US" sz="1050" dirty="0">
                <a:solidFill>
                  <a:srgbClr val="6A777A"/>
                </a:solidFill>
              </a:rPr>
              <a:t>Dokumen rasmi</a:t>
            </a:r>
            <a:endParaRPr lang="en-US" sz="1050" dirty="0"/>
          </a:p>
        </p:txBody>
      </p:sp>
      <p:sp>
        <p:nvSpPr>
          <p:cNvPr id="33" name="Shape 31"/>
          <p:cNvSpPr/>
          <p:nvPr/>
        </p:nvSpPr>
        <p:spPr>
          <a:xfrm>
            <a:off x="7013448" y="3154680"/>
            <a:ext cx="402336" cy="0"/>
          </a:xfrm>
          <a:prstGeom prst="line">
            <a:avLst/>
          </a:prstGeom>
          <a:noFill/>
          <a:ln w="20320">
            <a:solidFill>
              <a:srgbClr val="9FB0AE"/>
            </a:solidFill>
            <a:prstDash val="solid"/>
            <a:tailEnd type="triangle"/>
          </a:ln>
        </p:spPr>
      </p:sp>
      <p:sp>
        <p:nvSpPr>
          <p:cNvPr id="34" name="Shape 32"/>
          <p:cNvSpPr/>
          <p:nvPr/>
        </p:nvSpPr>
        <p:spPr>
          <a:xfrm>
            <a:off x="5166360" y="2057400"/>
            <a:ext cx="1856232" cy="2148840"/>
          </a:xfrm>
          <a:prstGeom prst="hexagon">
            <a:avLst/>
          </a:prstGeom>
          <a:solidFill>
            <a:srgbClr val="FFFFFF"/>
          </a:solidFill>
          <a:ln w="15240">
            <a:solidFill>
              <a:srgbClr val="173440"/>
            </a:solidFill>
            <a:prstDash val="solid"/>
          </a:ln>
          <a:effectLst>
            <a:outerShdw sx="100000" sy="100000" kx="0" ky="0" algn="bl" rotWithShape="0" blurRad="25400" dist="50800" dir="2700000">
              <a:srgbClr val="000000">
                <a:alpha val="10000"/>
              </a:srgbClr>
            </a:outerShdw>
          </a:effectLst>
        </p:spPr>
      </p:sp>
      <p:sp>
        <p:nvSpPr>
          <p:cNvPr id="35" name="Text 33"/>
          <p:cNvSpPr/>
          <p:nvPr/>
        </p:nvSpPr>
        <p:spPr>
          <a:xfrm>
            <a:off x="5769864" y="2331720"/>
            <a:ext cx="640080" cy="384048"/>
          </a:xfrm>
          <a:prstGeom prst="rect">
            <a:avLst/>
          </a:prstGeom>
          <a:noFill/>
          <a:ln/>
        </p:spPr>
        <p:txBody>
          <a:bodyPr wrap="square" lIns="0" tIns="0" rIns="0" bIns="0" rtlCol="0" anchor="ctr"/>
          <a:lstStyle/>
          <a:p>
            <a:pPr algn="ctr" indent="0" marL="0">
              <a:buNone/>
            </a:pPr>
            <a:r>
              <a:rPr lang="en-US" sz="1800" b="1" dirty="0">
                <a:solidFill>
                  <a:srgbClr val="173440"/>
                </a:solidFill>
              </a:rPr>
              <a:t>03</a:t>
            </a:r>
            <a:endParaRPr lang="en-US" sz="1800" dirty="0"/>
          </a:p>
        </p:txBody>
      </p:sp>
      <p:sp>
        <p:nvSpPr>
          <p:cNvPr id="36" name="Text 34"/>
          <p:cNvSpPr/>
          <p:nvPr/>
        </p:nvSpPr>
        <p:spPr>
          <a:xfrm>
            <a:off x="5367528" y="2999232"/>
            <a:ext cx="1463040" cy="457200"/>
          </a:xfrm>
          <a:prstGeom prst="rect">
            <a:avLst/>
          </a:prstGeom>
          <a:noFill/>
          <a:ln/>
        </p:spPr>
        <p:txBody>
          <a:bodyPr wrap="square" lIns="0" tIns="0" rIns="0" bIns="0" rtlCol="0" anchor="ctr">
            <a:normAutofit/>
          </a:bodyPr>
          <a:lstStyle/>
          <a:p>
            <a:pPr algn="ctr" indent="0" marL="0">
              <a:buNone/>
            </a:pPr>
            <a:r>
              <a:rPr lang="en-US" sz="1400" b="1" dirty="0">
                <a:solidFill>
                  <a:srgbClr val="182427"/>
                </a:solidFill>
              </a:rPr>
              <a:t>Analisis rekod</a:t>
            </a:r>
            <a:endParaRPr lang="en-US" sz="1400" dirty="0"/>
          </a:p>
        </p:txBody>
      </p:sp>
      <p:sp>
        <p:nvSpPr>
          <p:cNvPr id="37" name="Text 35"/>
          <p:cNvSpPr/>
          <p:nvPr/>
        </p:nvSpPr>
        <p:spPr>
          <a:xfrm>
            <a:off x="5394960" y="3566160"/>
            <a:ext cx="1417320" cy="320040"/>
          </a:xfrm>
          <a:prstGeom prst="rect">
            <a:avLst/>
          </a:prstGeom>
          <a:noFill/>
          <a:ln/>
        </p:spPr>
        <p:txBody>
          <a:bodyPr wrap="square" lIns="0" tIns="0" rIns="0" bIns="0" rtlCol="0" anchor="ctr">
            <a:normAutofit/>
          </a:bodyPr>
          <a:lstStyle/>
          <a:p>
            <a:pPr algn="ctr" indent="0" marL="0">
              <a:buNone/>
            </a:pPr>
            <a:r>
              <a:rPr lang="en-US" sz="1050" dirty="0">
                <a:solidFill>
                  <a:srgbClr val="6A777A"/>
                </a:solidFill>
              </a:rPr>
              <a:t>Data teknikal</a:t>
            </a:r>
            <a:endParaRPr lang="en-US" sz="1050" dirty="0"/>
          </a:p>
        </p:txBody>
      </p:sp>
      <p:sp>
        <p:nvSpPr>
          <p:cNvPr id="38" name="Shape 36"/>
          <p:cNvSpPr/>
          <p:nvPr/>
        </p:nvSpPr>
        <p:spPr>
          <a:xfrm>
            <a:off x="9299448" y="3154680"/>
            <a:ext cx="402336" cy="0"/>
          </a:xfrm>
          <a:prstGeom prst="line">
            <a:avLst/>
          </a:prstGeom>
          <a:noFill/>
          <a:ln w="20320">
            <a:solidFill>
              <a:srgbClr val="9FB0AE"/>
            </a:solidFill>
            <a:prstDash val="solid"/>
            <a:tailEnd type="triangle"/>
          </a:ln>
        </p:spPr>
      </p:sp>
      <p:sp>
        <p:nvSpPr>
          <p:cNvPr id="39" name="Shape 37"/>
          <p:cNvSpPr/>
          <p:nvPr/>
        </p:nvSpPr>
        <p:spPr>
          <a:xfrm>
            <a:off x="7452360" y="2057400"/>
            <a:ext cx="1856232" cy="2148840"/>
          </a:xfrm>
          <a:prstGeom prst="hexagon">
            <a:avLst/>
          </a:prstGeom>
          <a:solidFill>
            <a:srgbClr val="FFFFFF"/>
          </a:solidFill>
          <a:ln w="15240">
            <a:solidFill>
              <a:srgbClr val="3F9B72"/>
            </a:solidFill>
            <a:prstDash val="solid"/>
          </a:ln>
          <a:effectLst>
            <a:outerShdw sx="100000" sy="100000" kx="0" ky="0" algn="bl" rotWithShape="0" blurRad="25400" dist="50800" dir="2700000">
              <a:srgbClr val="000000">
                <a:alpha val="10000"/>
              </a:srgbClr>
            </a:outerShdw>
          </a:effectLst>
        </p:spPr>
      </p:sp>
      <p:sp>
        <p:nvSpPr>
          <p:cNvPr id="40" name="Text 38"/>
          <p:cNvSpPr/>
          <p:nvPr/>
        </p:nvSpPr>
        <p:spPr>
          <a:xfrm>
            <a:off x="8055864" y="2331720"/>
            <a:ext cx="640080" cy="384048"/>
          </a:xfrm>
          <a:prstGeom prst="rect">
            <a:avLst/>
          </a:prstGeom>
          <a:noFill/>
          <a:ln/>
        </p:spPr>
        <p:txBody>
          <a:bodyPr wrap="square" lIns="0" tIns="0" rIns="0" bIns="0" rtlCol="0" anchor="ctr"/>
          <a:lstStyle/>
          <a:p>
            <a:pPr algn="ctr" indent="0" marL="0">
              <a:buNone/>
            </a:pPr>
            <a:r>
              <a:rPr lang="en-US" sz="1800" b="1" dirty="0">
                <a:solidFill>
                  <a:srgbClr val="3F9B72"/>
                </a:solidFill>
              </a:rPr>
              <a:t>04</a:t>
            </a:r>
            <a:endParaRPr lang="en-US" sz="1800" dirty="0"/>
          </a:p>
        </p:txBody>
      </p:sp>
      <p:sp>
        <p:nvSpPr>
          <p:cNvPr id="41" name="Text 39"/>
          <p:cNvSpPr/>
          <p:nvPr/>
        </p:nvSpPr>
        <p:spPr>
          <a:xfrm>
            <a:off x="7653528" y="2999232"/>
            <a:ext cx="1463040" cy="457200"/>
          </a:xfrm>
          <a:prstGeom prst="rect">
            <a:avLst/>
          </a:prstGeom>
          <a:noFill/>
          <a:ln/>
        </p:spPr>
        <p:txBody>
          <a:bodyPr wrap="square" lIns="0" tIns="0" rIns="0" bIns="0" rtlCol="0" anchor="ctr">
            <a:normAutofit/>
          </a:bodyPr>
          <a:lstStyle/>
          <a:p>
            <a:pPr algn="ctr" indent="0" marL="0">
              <a:buNone/>
            </a:pPr>
            <a:r>
              <a:rPr lang="en-US" sz="1400" b="1" dirty="0">
                <a:solidFill>
                  <a:srgbClr val="182427"/>
                </a:solidFill>
              </a:rPr>
              <a:t>Baiki aliran kerja</a:t>
            </a:r>
            <a:endParaRPr lang="en-US" sz="1400" dirty="0"/>
          </a:p>
        </p:txBody>
      </p:sp>
      <p:sp>
        <p:nvSpPr>
          <p:cNvPr id="42" name="Text 40"/>
          <p:cNvSpPr/>
          <p:nvPr/>
        </p:nvSpPr>
        <p:spPr>
          <a:xfrm>
            <a:off x="7680960" y="3566160"/>
            <a:ext cx="1417320" cy="320040"/>
          </a:xfrm>
          <a:prstGeom prst="rect">
            <a:avLst/>
          </a:prstGeom>
          <a:noFill/>
          <a:ln/>
        </p:spPr>
        <p:txBody>
          <a:bodyPr wrap="square" lIns="0" tIns="0" rIns="0" bIns="0" rtlCol="0" anchor="ctr">
            <a:normAutofit/>
          </a:bodyPr>
          <a:lstStyle/>
          <a:p>
            <a:pPr algn="ctr" indent="0" marL="0">
              <a:buNone/>
            </a:pPr>
            <a:r>
              <a:rPr lang="en-US" sz="1050" dirty="0">
                <a:solidFill>
                  <a:srgbClr val="6A777A"/>
                </a:solidFill>
              </a:rPr>
              <a:t>Proses makmal</a:t>
            </a:r>
            <a:endParaRPr lang="en-US" sz="1050" dirty="0"/>
          </a:p>
        </p:txBody>
      </p:sp>
      <p:sp>
        <p:nvSpPr>
          <p:cNvPr id="43" name="Shape 41"/>
          <p:cNvSpPr/>
          <p:nvPr/>
        </p:nvSpPr>
        <p:spPr>
          <a:xfrm>
            <a:off x="9738360" y="2057400"/>
            <a:ext cx="1856232" cy="2148840"/>
          </a:xfrm>
          <a:prstGeom prst="hexagon">
            <a:avLst/>
          </a:prstGeom>
          <a:solidFill>
            <a:srgbClr val="FFFFFF"/>
          </a:solidFill>
          <a:ln w="15240">
            <a:solidFill>
              <a:srgbClr val="D79A32"/>
            </a:solidFill>
            <a:prstDash val="solid"/>
          </a:ln>
          <a:effectLst>
            <a:outerShdw sx="100000" sy="100000" kx="0" ky="0" algn="bl" rotWithShape="0" blurRad="25400" dist="50800" dir="2700000">
              <a:srgbClr val="000000">
                <a:alpha val="10000"/>
              </a:srgbClr>
            </a:outerShdw>
          </a:effectLst>
        </p:spPr>
      </p:sp>
      <p:sp>
        <p:nvSpPr>
          <p:cNvPr id="44" name="Text 42"/>
          <p:cNvSpPr/>
          <p:nvPr/>
        </p:nvSpPr>
        <p:spPr>
          <a:xfrm>
            <a:off x="10341864" y="2331720"/>
            <a:ext cx="640080" cy="384048"/>
          </a:xfrm>
          <a:prstGeom prst="rect">
            <a:avLst/>
          </a:prstGeom>
          <a:noFill/>
          <a:ln/>
        </p:spPr>
        <p:txBody>
          <a:bodyPr wrap="square" lIns="0" tIns="0" rIns="0" bIns="0" rtlCol="0" anchor="ctr"/>
          <a:lstStyle/>
          <a:p>
            <a:pPr algn="ctr" indent="0" marL="0">
              <a:buNone/>
            </a:pPr>
            <a:r>
              <a:rPr lang="en-US" sz="1800" b="1" dirty="0">
                <a:solidFill>
                  <a:srgbClr val="D79A32"/>
                </a:solidFill>
              </a:rPr>
              <a:t>05</a:t>
            </a:r>
            <a:endParaRPr lang="en-US" sz="1800" dirty="0"/>
          </a:p>
        </p:txBody>
      </p:sp>
      <p:sp>
        <p:nvSpPr>
          <p:cNvPr id="45" name="Text 43"/>
          <p:cNvSpPr/>
          <p:nvPr/>
        </p:nvSpPr>
        <p:spPr>
          <a:xfrm>
            <a:off x="9939528" y="2999232"/>
            <a:ext cx="1463040" cy="457200"/>
          </a:xfrm>
          <a:prstGeom prst="rect">
            <a:avLst/>
          </a:prstGeom>
          <a:noFill/>
          <a:ln/>
        </p:spPr>
        <p:txBody>
          <a:bodyPr wrap="square" lIns="0" tIns="0" rIns="0" bIns="0" rtlCol="0" anchor="ctr">
            <a:normAutofit/>
          </a:bodyPr>
          <a:lstStyle/>
          <a:p>
            <a:pPr algn="ctr" indent="0" marL="0">
              <a:buNone/>
            </a:pPr>
            <a:r>
              <a:rPr lang="en-US" sz="1400" b="1" dirty="0">
                <a:solidFill>
                  <a:srgbClr val="182427"/>
                </a:solidFill>
              </a:rPr>
              <a:t>Sedia &amp; bentang</a:t>
            </a:r>
            <a:endParaRPr lang="en-US" sz="1400" dirty="0"/>
          </a:p>
        </p:txBody>
      </p:sp>
      <p:sp>
        <p:nvSpPr>
          <p:cNvPr id="46" name="Text 44"/>
          <p:cNvSpPr/>
          <p:nvPr/>
        </p:nvSpPr>
        <p:spPr>
          <a:xfrm>
            <a:off x="9966960" y="3566160"/>
            <a:ext cx="1417320" cy="320040"/>
          </a:xfrm>
          <a:prstGeom prst="rect">
            <a:avLst/>
          </a:prstGeom>
          <a:noFill/>
          <a:ln/>
        </p:spPr>
        <p:txBody>
          <a:bodyPr wrap="square" lIns="0" tIns="0" rIns="0" bIns="0" rtlCol="0" anchor="ctr">
            <a:normAutofit/>
          </a:bodyPr>
          <a:lstStyle/>
          <a:p>
            <a:pPr algn="ctr" indent="0" marL="0">
              <a:buNone/>
            </a:pPr>
            <a:r>
              <a:rPr lang="en-US" sz="1050" dirty="0">
                <a:solidFill>
                  <a:srgbClr val="6A777A"/>
                </a:solidFill>
              </a:rPr>
              <a:t>Dokumen projek</a:t>
            </a:r>
            <a:endParaRPr lang="en-US" sz="1050" dirty="0"/>
          </a:p>
        </p:txBody>
      </p:sp>
      <p:sp>
        <p:nvSpPr>
          <p:cNvPr id="47" name="Shape 45"/>
          <p:cNvSpPr/>
          <p:nvPr/>
        </p:nvSpPr>
        <p:spPr>
          <a:xfrm>
            <a:off x="594360" y="4983480"/>
            <a:ext cx="10972800" cy="658368"/>
          </a:xfrm>
          <a:prstGeom prst="roundRect">
            <a:avLst>
              <a:gd name="adj" fmla="val 6944"/>
            </a:avLst>
          </a:prstGeom>
          <a:solidFill>
            <a:srgbClr val="173440"/>
          </a:solidFill>
          <a:ln w="12700">
            <a:solidFill>
              <a:srgbClr val="173440"/>
            </a:solidFill>
            <a:prstDash val="solid"/>
          </a:ln>
        </p:spPr>
      </p:sp>
      <p:sp>
        <p:nvSpPr>
          <p:cNvPr id="48" name="Text 46"/>
          <p:cNvSpPr/>
          <p:nvPr/>
        </p:nvSpPr>
        <p:spPr>
          <a:xfrm>
            <a:off x="868680" y="5193792"/>
            <a:ext cx="10424160" cy="228600"/>
          </a:xfrm>
          <a:prstGeom prst="rect">
            <a:avLst/>
          </a:prstGeom>
          <a:noFill/>
          <a:ln/>
        </p:spPr>
        <p:txBody>
          <a:bodyPr wrap="square" lIns="0" tIns="0" rIns="0" bIns="0" rtlCol="0" anchor="ctr"/>
          <a:lstStyle/>
          <a:p>
            <a:pPr algn="ctr" indent="0" marL="0">
              <a:buNone/>
            </a:pPr>
            <a:r>
              <a:rPr lang="en-US" sz="1500" b="1" dirty="0">
                <a:solidFill>
                  <a:srgbClr val="FFFFFF"/>
                </a:solidFill>
              </a:rPr>
              <a:t>Hari ini: pilih masalah yang betul sebelum kita membina penyelesaian.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PEMBUKAAN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04</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Tinjauan pantas</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Angkat tangan jika perkara ini pernah berlaku dalam kerja anda.</a:t>
            </a:r>
            <a:endParaRPr lang="en-US" sz="1250" dirty="0"/>
          </a:p>
        </p:txBody>
      </p:sp>
      <p:sp>
        <p:nvSpPr>
          <p:cNvPr id="23" name="Shape 21"/>
          <p:cNvSpPr/>
          <p:nvPr/>
        </p:nvSpPr>
        <p:spPr>
          <a:xfrm>
            <a:off x="640080" y="1645920"/>
            <a:ext cx="5285232" cy="1481328"/>
          </a:xfrm>
          <a:prstGeom prst="roundRect">
            <a:avLst>
              <a:gd name="adj" fmla="val 3704"/>
            </a:avLst>
          </a:prstGeom>
          <a:solidFill>
            <a:srgbClr val="173C40"/>
          </a:solidFill>
          <a:ln w="12700">
            <a:solidFill>
              <a:srgbClr val="45676D"/>
            </a:solidFill>
            <a:prstDash val="solid"/>
          </a:ln>
        </p:spPr>
      </p:sp>
      <p:sp>
        <p:nvSpPr>
          <p:cNvPr id="24" name="Text 22"/>
          <p:cNvSpPr/>
          <p:nvPr/>
        </p:nvSpPr>
        <p:spPr>
          <a:xfrm>
            <a:off x="841248" y="1874520"/>
            <a:ext cx="566928" cy="347472"/>
          </a:xfrm>
          <a:prstGeom prst="rect">
            <a:avLst/>
          </a:prstGeom>
          <a:noFill/>
          <a:ln/>
        </p:spPr>
        <p:txBody>
          <a:bodyPr wrap="square" lIns="0" tIns="0" rIns="0" bIns="0" rtlCol="0" anchor="ctr"/>
          <a:lstStyle/>
          <a:p>
            <a:pPr indent="0" marL="0">
              <a:buNone/>
            </a:pPr>
            <a:r>
              <a:rPr lang="en-US" sz="1400" b="1" dirty="0">
                <a:solidFill>
                  <a:srgbClr val="CDFF3F"/>
                </a:solidFill>
              </a:rPr>
              <a:t>01</a:t>
            </a:r>
            <a:endParaRPr lang="en-US" sz="1400" dirty="0"/>
          </a:p>
        </p:txBody>
      </p:sp>
      <p:sp>
        <p:nvSpPr>
          <p:cNvPr id="25" name="Text 23"/>
          <p:cNvSpPr/>
          <p:nvPr/>
        </p:nvSpPr>
        <p:spPr>
          <a:xfrm>
            <a:off x="1554480" y="1865376"/>
            <a:ext cx="2194560" cy="347472"/>
          </a:xfrm>
          <a:prstGeom prst="rect">
            <a:avLst/>
          </a:prstGeom>
          <a:noFill/>
          <a:ln/>
        </p:spPr>
        <p:txBody>
          <a:bodyPr wrap="square" lIns="0" tIns="0" rIns="0" bIns="0" rtlCol="0" anchor="ctr"/>
          <a:lstStyle/>
          <a:p>
            <a:pPr indent="0" marL="0">
              <a:buNone/>
            </a:pPr>
            <a:r>
              <a:rPr lang="en-US" sz="1700" b="1" dirty="0">
                <a:solidFill>
                  <a:srgbClr val="FFFFFF"/>
                </a:solidFill>
              </a:rPr>
              <a:t>Masuk semula</a:t>
            </a:r>
            <a:endParaRPr lang="en-US" sz="1700" dirty="0"/>
          </a:p>
        </p:txBody>
      </p:sp>
      <p:sp>
        <p:nvSpPr>
          <p:cNvPr id="26" name="Text 24"/>
          <p:cNvSpPr/>
          <p:nvPr/>
        </p:nvSpPr>
        <p:spPr>
          <a:xfrm>
            <a:off x="1554480" y="2359152"/>
            <a:ext cx="3977640" cy="457200"/>
          </a:xfrm>
          <a:prstGeom prst="rect">
            <a:avLst/>
          </a:prstGeom>
          <a:noFill/>
          <a:ln/>
        </p:spPr>
        <p:txBody>
          <a:bodyPr wrap="square" lIns="0" tIns="0" rIns="0" bIns="0" rtlCol="0" anchor="ctr">
            <a:normAutofit/>
          </a:bodyPr>
          <a:lstStyle/>
          <a:p>
            <a:pPr indent="0" marL="0">
              <a:buNone/>
            </a:pPr>
            <a:r>
              <a:rPr lang="en-US" sz="1200" dirty="0">
                <a:solidFill>
                  <a:srgbClr val="BFD0D2"/>
                </a:solidFill>
              </a:rPr>
              <a:t>Maklumat sama dimasukkan ke lebih daripada satu tempat.</a:t>
            </a:r>
            <a:endParaRPr lang="en-US" sz="1200" dirty="0"/>
          </a:p>
        </p:txBody>
      </p:sp>
      <p:sp>
        <p:nvSpPr>
          <p:cNvPr id="27" name="Shape 25"/>
          <p:cNvSpPr/>
          <p:nvPr/>
        </p:nvSpPr>
        <p:spPr>
          <a:xfrm>
            <a:off x="6291072" y="1645920"/>
            <a:ext cx="5285232" cy="1481328"/>
          </a:xfrm>
          <a:prstGeom prst="roundRect">
            <a:avLst>
              <a:gd name="adj" fmla="val 3704"/>
            </a:avLst>
          </a:prstGeom>
          <a:solidFill>
            <a:srgbClr val="173C40"/>
          </a:solidFill>
          <a:ln w="12700">
            <a:solidFill>
              <a:srgbClr val="45676D"/>
            </a:solidFill>
            <a:prstDash val="solid"/>
          </a:ln>
        </p:spPr>
      </p:sp>
      <p:sp>
        <p:nvSpPr>
          <p:cNvPr id="28" name="Text 26"/>
          <p:cNvSpPr/>
          <p:nvPr/>
        </p:nvSpPr>
        <p:spPr>
          <a:xfrm>
            <a:off x="6492240" y="1874520"/>
            <a:ext cx="566928" cy="347472"/>
          </a:xfrm>
          <a:prstGeom prst="rect">
            <a:avLst/>
          </a:prstGeom>
          <a:noFill/>
          <a:ln/>
        </p:spPr>
        <p:txBody>
          <a:bodyPr wrap="square" lIns="0" tIns="0" rIns="0" bIns="0" rtlCol="0" anchor="ctr"/>
          <a:lstStyle/>
          <a:p>
            <a:pPr indent="0" marL="0">
              <a:buNone/>
            </a:pPr>
            <a:r>
              <a:rPr lang="en-US" sz="1400" b="1" dirty="0">
                <a:solidFill>
                  <a:srgbClr val="CDFF3F"/>
                </a:solidFill>
              </a:rPr>
              <a:t>02</a:t>
            </a:r>
            <a:endParaRPr lang="en-US" sz="1400" dirty="0"/>
          </a:p>
        </p:txBody>
      </p:sp>
      <p:sp>
        <p:nvSpPr>
          <p:cNvPr id="29" name="Text 27"/>
          <p:cNvSpPr/>
          <p:nvPr/>
        </p:nvSpPr>
        <p:spPr>
          <a:xfrm>
            <a:off x="7205472" y="1865376"/>
            <a:ext cx="2194560" cy="347472"/>
          </a:xfrm>
          <a:prstGeom prst="rect">
            <a:avLst/>
          </a:prstGeom>
          <a:noFill/>
          <a:ln/>
        </p:spPr>
        <p:txBody>
          <a:bodyPr wrap="square" lIns="0" tIns="0" rIns="0" bIns="0" rtlCol="0" anchor="ctr"/>
          <a:lstStyle/>
          <a:p>
            <a:pPr indent="0" marL="0">
              <a:buNone/>
            </a:pPr>
            <a:r>
              <a:rPr lang="en-US" sz="1700" b="1" dirty="0">
                <a:solidFill>
                  <a:srgbClr val="FFFFFF"/>
                </a:solidFill>
              </a:rPr>
              <a:t>Cari versi</a:t>
            </a:r>
            <a:endParaRPr lang="en-US" sz="1700" dirty="0"/>
          </a:p>
        </p:txBody>
      </p:sp>
      <p:sp>
        <p:nvSpPr>
          <p:cNvPr id="30" name="Text 28"/>
          <p:cNvSpPr/>
          <p:nvPr/>
        </p:nvSpPr>
        <p:spPr>
          <a:xfrm>
            <a:off x="7205472" y="2359152"/>
            <a:ext cx="3977640" cy="457200"/>
          </a:xfrm>
          <a:prstGeom prst="rect">
            <a:avLst/>
          </a:prstGeom>
          <a:noFill/>
          <a:ln/>
        </p:spPr>
        <p:txBody>
          <a:bodyPr wrap="square" lIns="0" tIns="0" rIns="0" bIns="0" rtlCol="0" anchor="ctr">
            <a:normAutofit/>
          </a:bodyPr>
          <a:lstStyle/>
          <a:p>
            <a:pPr indent="0" marL="0">
              <a:buNone/>
            </a:pPr>
            <a:r>
              <a:rPr lang="en-US" sz="1200" dirty="0">
                <a:solidFill>
                  <a:srgbClr val="BFD0D2"/>
                </a:solidFill>
              </a:rPr>
              <a:t>Lebih lima minit untuk menemukan fail yang betul.</a:t>
            </a:r>
            <a:endParaRPr lang="en-US" sz="1200" dirty="0"/>
          </a:p>
        </p:txBody>
      </p:sp>
      <p:sp>
        <p:nvSpPr>
          <p:cNvPr id="31" name="Shape 29"/>
          <p:cNvSpPr/>
          <p:nvPr/>
        </p:nvSpPr>
        <p:spPr>
          <a:xfrm>
            <a:off x="640080" y="3547872"/>
            <a:ext cx="5285232" cy="1481328"/>
          </a:xfrm>
          <a:prstGeom prst="roundRect">
            <a:avLst>
              <a:gd name="adj" fmla="val 3704"/>
            </a:avLst>
          </a:prstGeom>
          <a:solidFill>
            <a:srgbClr val="173C40"/>
          </a:solidFill>
          <a:ln w="12700">
            <a:solidFill>
              <a:srgbClr val="45676D"/>
            </a:solidFill>
            <a:prstDash val="solid"/>
          </a:ln>
        </p:spPr>
      </p:sp>
      <p:sp>
        <p:nvSpPr>
          <p:cNvPr id="32" name="Text 30"/>
          <p:cNvSpPr/>
          <p:nvPr/>
        </p:nvSpPr>
        <p:spPr>
          <a:xfrm>
            <a:off x="841248" y="3776472"/>
            <a:ext cx="566928" cy="347472"/>
          </a:xfrm>
          <a:prstGeom prst="rect">
            <a:avLst/>
          </a:prstGeom>
          <a:noFill/>
          <a:ln/>
        </p:spPr>
        <p:txBody>
          <a:bodyPr wrap="square" lIns="0" tIns="0" rIns="0" bIns="0" rtlCol="0" anchor="ctr"/>
          <a:lstStyle/>
          <a:p>
            <a:pPr indent="0" marL="0">
              <a:buNone/>
            </a:pPr>
            <a:r>
              <a:rPr lang="en-US" sz="1400" b="1" dirty="0">
                <a:solidFill>
                  <a:srgbClr val="CDFF3F"/>
                </a:solidFill>
              </a:rPr>
              <a:t>03</a:t>
            </a:r>
            <a:endParaRPr lang="en-US" sz="1400" dirty="0"/>
          </a:p>
        </p:txBody>
      </p:sp>
      <p:sp>
        <p:nvSpPr>
          <p:cNvPr id="33" name="Text 31"/>
          <p:cNvSpPr/>
          <p:nvPr/>
        </p:nvSpPr>
        <p:spPr>
          <a:xfrm>
            <a:off x="1554480" y="3767328"/>
            <a:ext cx="2194560" cy="347472"/>
          </a:xfrm>
          <a:prstGeom prst="rect">
            <a:avLst/>
          </a:prstGeom>
          <a:noFill/>
          <a:ln/>
        </p:spPr>
        <p:txBody>
          <a:bodyPr wrap="square" lIns="0" tIns="0" rIns="0" bIns="0" rtlCol="0" anchor="ctr"/>
          <a:lstStyle/>
          <a:p>
            <a:pPr indent="0" marL="0">
              <a:buNone/>
            </a:pPr>
            <a:r>
              <a:rPr lang="en-US" sz="1700" b="1" dirty="0">
                <a:solidFill>
                  <a:srgbClr val="FFFFFF"/>
                </a:solidFill>
              </a:rPr>
              <a:t>Tunggu status</a:t>
            </a:r>
            <a:endParaRPr lang="en-US" sz="1700" dirty="0"/>
          </a:p>
        </p:txBody>
      </p:sp>
      <p:sp>
        <p:nvSpPr>
          <p:cNvPr id="34" name="Text 32"/>
          <p:cNvSpPr/>
          <p:nvPr/>
        </p:nvSpPr>
        <p:spPr>
          <a:xfrm>
            <a:off x="1554480" y="4261104"/>
            <a:ext cx="3977640" cy="457200"/>
          </a:xfrm>
          <a:prstGeom prst="rect">
            <a:avLst/>
          </a:prstGeom>
          <a:noFill/>
          <a:ln/>
        </p:spPr>
        <p:txBody>
          <a:bodyPr wrap="square" lIns="0" tIns="0" rIns="0" bIns="0" rtlCol="0" anchor="ctr">
            <a:normAutofit/>
          </a:bodyPr>
          <a:lstStyle/>
          <a:p>
            <a:pPr indent="0" marL="0">
              <a:buNone/>
            </a:pPr>
            <a:r>
              <a:rPr lang="en-US" sz="1200" dirty="0">
                <a:solidFill>
                  <a:srgbClr val="BFD0D2"/>
                </a:solidFill>
              </a:rPr>
              <a:t>Semakan atau kelulusan tidak kelihatan dengan jelas.</a:t>
            </a:r>
            <a:endParaRPr lang="en-US" sz="1200" dirty="0"/>
          </a:p>
        </p:txBody>
      </p:sp>
      <p:sp>
        <p:nvSpPr>
          <p:cNvPr id="35" name="Shape 33"/>
          <p:cNvSpPr/>
          <p:nvPr/>
        </p:nvSpPr>
        <p:spPr>
          <a:xfrm>
            <a:off x="6291072" y="3547872"/>
            <a:ext cx="5285232" cy="1481328"/>
          </a:xfrm>
          <a:prstGeom prst="roundRect">
            <a:avLst>
              <a:gd name="adj" fmla="val 3704"/>
            </a:avLst>
          </a:prstGeom>
          <a:solidFill>
            <a:srgbClr val="173C40"/>
          </a:solidFill>
          <a:ln w="12700">
            <a:solidFill>
              <a:srgbClr val="45676D"/>
            </a:solidFill>
            <a:prstDash val="solid"/>
          </a:ln>
        </p:spPr>
      </p:sp>
      <p:sp>
        <p:nvSpPr>
          <p:cNvPr id="36" name="Text 34"/>
          <p:cNvSpPr/>
          <p:nvPr/>
        </p:nvSpPr>
        <p:spPr>
          <a:xfrm>
            <a:off x="6492240" y="3776472"/>
            <a:ext cx="566928" cy="347472"/>
          </a:xfrm>
          <a:prstGeom prst="rect">
            <a:avLst/>
          </a:prstGeom>
          <a:noFill/>
          <a:ln/>
        </p:spPr>
        <p:txBody>
          <a:bodyPr wrap="square" lIns="0" tIns="0" rIns="0" bIns="0" rtlCol="0" anchor="ctr"/>
          <a:lstStyle/>
          <a:p>
            <a:pPr indent="0" marL="0">
              <a:buNone/>
            </a:pPr>
            <a:r>
              <a:rPr lang="en-US" sz="1400" b="1" dirty="0">
                <a:solidFill>
                  <a:srgbClr val="CDFF3F"/>
                </a:solidFill>
              </a:rPr>
              <a:t>04</a:t>
            </a:r>
            <a:endParaRPr lang="en-US" sz="1400" dirty="0"/>
          </a:p>
        </p:txBody>
      </p:sp>
      <p:sp>
        <p:nvSpPr>
          <p:cNvPr id="37" name="Text 35"/>
          <p:cNvSpPr/>
          <p:nvPr/>
        </p:nvSpPr>
        <p:spPr>
          <a:xfrm>
            <a:off x="7205472" y="3767328"/>
            <a:ext cx="2194560" cy="347472"/>
          </a:xfrm>
          <a:prstGeom prst="rect">
            <a:avLst/>
          </a:prstGeom>
          <a:noFill/>
          <a:ln/>
        </p:spPr>
        <p:txBody>
          <a:bodyPr wrap="square" lIns="0" tIns="0" rIns="0" bIns="0" rtlCol="0" anchor="ctr"/>
          <a:lstStyle/>
          <a:p>
            <a:pPr indent="0" marL="0">
              <a:buNone/>
            </a:pPr>
            <a:r>
              <a:rPr lang="en-US" sz="1700" b="1" dirty="0">
                <a:solidFill>
                  <a:srgbClr val="FFFFFF"/>
                </a:solidFill>
              </a:rPr>
              <a:t>Bina laporan</a:t>
            </a:r>
            <a:endParaRPr lang="en-US" sz="1700" dirty="0"/>
          </a:p>
        </p:txBody>
      </p:sp>
      <p:sp>
        <p:nvSpPr>
          <p:cNvPr id="38" name="Text 36"/>
          <p:cNvSpPr/>
          <p:nvPr/>
        </p:nvSpPr>
        <p:spPr>
          <a:xfrm>
            <a:off x="7205472" y="4261104"/>
            <a:ext cx="3977640" cy="457200"/>
          </a:xfrm>
          <a:prstGeom prst="rect">
            <a:avLst/>
          </a:prstGeom>
          <a:noFill/>
          <a:ln/>
        </p:spPr>
        <p:txBody>
          <a:bodyPr wrap="square" lIns="0" tIns="0" rIns="0" bIns="0" rtlCol="0" anchor="ctr">
            <a:normAutofit/>
          </a:bodyPr>
          <a:lstStyle/>
          <a:p>
            <a:pPr indent="0" marL="0">
              <a:buNone/>
            </a:pPr>
            <a:r>
              <a:rPr lang="en-US" sz="1200" dirty="0">
                <a:solidFill>
                  <a:srgbClr val="BFD0D2"/>
                </a:solidFill>
              </a:rPr>
              <a:t>Ringkasan disusun daripada beberapa sumber berasingan.</a:t>
            </a:r>
            <a:endParaRPr lang="en-US" sz="1200" dirty="0"/>
          </a:p>
        </p:txBody>
      </p:sp>
      <p:sp>
        <p:nvSpPr>
          <p:cNvPr id="39" name="Text 37"/>
          <p:cNvSpPr/>
          <p:nvPr/>
        </p:nvSpPr>
        <p:spPr>
          <a:xfrm>
            <a:off x="640080" y="5577840"/>
            <a:ext cx="10936224" cy="365760"/>
          </a:xfrm>
          <a:prstGeom prst="rect">
            <a:avLst/>
          </a:prstGeom>
          <a:noFill/>
          <a:ln/>
        </p:spPr>
        <p:txBody>
          <a:bodyPr wrap="square" lIns="0" tIns="0" rIns="0" bIns="0" rtlCol="0" anchor="ctr"/>
          <a:lstStyle/>
          <a:p>
            <a:pPr algn="ctr" indent="0" marL="0">
              <a:buNone/>
            </a:pPr>
            <a:r>
              <a:rPr lang="en-US" sz="1500" b="1" dirty="0">
                <a:solidFill>
                  <a:srgbClr val="CDFF3F"/>
                </a:solidFill>
              </a:rPr>
              <a:t>Setiap “ya” ialah petunjuk peluang — bukan kegagalan individu.</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KONSEP</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05</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Apakah aplikasi pintar?</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Aplikasi tidak perlu menggunakan AI untuk menghasilkan kerja yang lebih pintar.</a:t>
            </a:r>
            <a:endParaRPr lang="en-US" sz="1250" dirty="0"/>
          </a:p>
        </p:txBody>
      </p:sp>
      <p:sp>
        <p:nvSpPr>
          <p:cNvPr id="23" name="Shape 21"/>
          <p:cNvSpPr/>
          <p:nvPr/>
        </p:nvSpPr>
        <p:spPr>
          <a:xfrm>
            <a:off x="713232" y="1600200"/>
            <a:ext cx="10771632" cy="1170432"/>
          </a:xfrm>
          <a:prstGeom prst="roundRect">
            <a:avLst>
              <a:gd name="adj" fmla="val 5469"/>
            </a:avLst>
          </a:prstGeom>
          <a:solidFill>
            <a:srgbClr val="173440"/>
          </a:solidFill>
          <a:ln w="12700">
            <a:solidFill>
              <a:srgbClr val="173440"/>
            </a:solidFill>
            <a:prstDash val="solid"/>
          </a:ln>
        </p:spPr>
      </p:sp>
      <p:sp>
        <p:nvSpPr>
          <p:cNvPr id="24" name="Text 22"/>
          <p:cNvSpPr/>
          <p:nvPr/>
        </p:nvSpPr>
        <p:spPr>
          <a:xfrm>
            <a:off x="1024128" y="1847088"/>
            <a:ext cx="10149840" cy="612648"/>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rPr>
              <a:t>Aplikasi pintar menggunakan data, peraturan atau AI untuk membantu manusia mengumpul, menyusun, menyemak, melaksanakan dan memantau kerja dengan lebih konsisten.</a:t>
            </a:r>
            <a:endParaRPr lang="en-US" sz="1800" dirty="0"/>
          </a:p>
        </p:txBody>
      </p:sp>
      <p:sp>
        <p:nvSpPr>
          <p:cNvPr id="25" name="Shape 23"/>
          <p:cNvSpPr/>
          <p:nvPr/>
        </p:nvSpPr>
        <p:spPr>
          <a:xfrm>
            <a:off x="713232" y="3310128"/>
            <a:ext cx="2487168" cy="1417320"/>
          </a:xfrm>
          <a:prstGeom prst="roundRect">
            <a:avLst>
              <a:gd name="adj" fmla="val 3871"/>
            </a:avLst>
          </a:prstGeom>
          <a:solidFill>
            <a:srgbClr val="FFFFFF"/>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26" name="Text 24"/>
          <p:cNvSpPr/>
          <p:nvPr/>
        </p:nvSpPr>
        <p:spPr>
          <a:xfrm>
            <a:off x="896112" y="3575304"/>
            <a:ext cx="2121408" cy="274320"/>
          </a:xfrm>
          <a:prstGeom prst="rect">
            <a:avLst/>
          </a:prstGeom>
          <a:noFill/>
          <a:ln/>
        </p:spPr>
        <p:txBody>
          <a:bodyPr wrap="square" lIns="0" tIns="0" rIns="0" bIns="0" rtlCol="0" anchor="ctr"/>
          <a:lstStyle/>
          <a:p>
            <a:pPr algn="ctr" indent="0" marL="0">
              <a:buNone/>
            </a:pPr>
            <a:r>
              <a:rPr lang="en-US" sz="1300" b="1" dirty="0">
                <a:solidFill>
                  <a:srgbClr val="00A99D"/>
                </a:solidFill>
              </a:rPr>
              <a:t>DATA</a:t>
            </a:r>
            <a:endParaRPr lang="en-US" sz="1300" dirty="0"/>
          </a:p>
        </p:txBody>
      </p:sp>
      <p:sp>
        <p:nvSpPr>
          <p:cNvPr id="27" name="Text 25"/>
          <p:cNvSpPr/>
          <p:nvPr/>
        </p:nvSpPr>
        <p:spPr>
          <a:xfrm>
            <a:off x="932688" y="3995928"/>
            <a:ext cx="2048256" cy="438912"/>
          </a:xfrm>
          <a:prstGeom prst="rect">
            <a:avLst/>
          </a:prstGeom>
          <a:noFill/>
          <a:ln/>
        </p:spPr>
        <p:txBody>
          <a:bodyPr wrap="square" lIns="0" tIns="0" rIns="0" bIns="0" rtlCol="0" anchor="ctr">
            <a:normAutofit/>
          </a:bodyPr>
          <a:lstStyle/>
          <a:p>
            <a:pPr algn="ctr" indent="0" marL="0">
              <a:buNone/>
            </a:pPr>
            <a:r>
              <a:rPr lang="en-US" sz="1120" dirty="0">
                <a:solidFill>
                  <a:srgbClr val="6A777A"/>
                </a:solidFill>
              </a:rPr>
              <a:t>Maklumat yang boleh digunakan semula</a:t>
            </a:r>
            <a:endParaRPr lang="en-US" sz="1120" dirty="0"/>
          </a:p>
        </p:txBody>
      </p:sp>
      <p:sp>
        <p:nvSpPr>
          <p:cNvPr id="28" name="Shape 26"/>
          <p:cNvSpPr/>
          <p:nvPr/>
        </p:nvSpPr>
        <p:spPr>
          <a:xfrm>
            <a:off x="3474720" y="3310128"/>
            <a:ext cx="2487168" cy="1417320"/>
          </a:xfrm>
          <a:prstGeom prst="roundRect">
            <a:avLst>
              <a:gd name="adj" fmla="val 3871"/>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29" name="Text 27"/>
          <p:cNvSpPr/>
          <p:nvPr/>
        </p:nvSpPr>
        <p:spPr>
          <a:xfrm>
            <a:off x="3657600" y="3575304"/>
            <a:ext cx="2121408" cy="274320"/>
          </a:xfrm>
          <a:prstGeom prst="rect">
            <a:avLst/>
          </a:prstGeom>
          <a:noFill/>
          <a:ln/>
        </p:spPr>
        <p:txBody>
          <a:bodyPr wrap="square" lIns="0" tIns="0" rIns="0" bIns="0" rtlCol="0" anchor="ctr"/>
          <a:lstStyle/>
          <a:p>
            <a:pPr algn="ctr" indent="0" marL="0">
              <a:buNone/>
            </a:pPr>
            <a:r>
              <a:rPr lang="en-US" sz="1300" b="1" dirty="0">
                <a:solidFill>
                  <a:srgbClr val="2F72C4"/>
                </a:solidFill>
              </a:rPr>
              <a:t>TINDAKAN</a:t>
            </a:r>
            <a:endParaRPr lang="en-US" sz="1300" dirty="0"/>
          </a:p>
        </p:txBody>
      </p:sp>
      <p:sp>
        <p:nvSpPr>
          <p:cNvPr id="30" name="Text 28"/>
          <p:cNvSpPr/>
          <p:nvPr/>
        </p:nvSpPr>
        <p:spPr>
          <a:xfrm>
            <a:off x="3694176" y="3995928"/>
            <a:ext cx="2048256" cy="438912"/>
          </a:xfrm>
          <a:prstGeom prst="rect">
            <a:avLst/>
          </a:prstGeom>
          <a:noFill/>
          <a:ln/>
        </p:spPr>
        <p:txBody>
          <a:bodyPr wrap="square" lIns="0" tIns="0" rIns="0" bIns="0" rtlCol="0" anchor="ctr">
            <a:normAutofit/>
          </a:bodyPr>
          <a:lstStyle/>
          <a:p>
            <a:pPr algn="ctr" indent="0" marL="0">
              <a:buNone/>
            </a:pPr>
            <a:r>
              <a:rPr lang="en-US" sz="1120" dirty="0">
                <a:solidFill>
                  <a:srgbClr val="6A777A"/>
                </a:solidFill>
              </a:rPr>
              <a:t>Langkah yang dicetus atau dipercepat</a:t>
            </a:r>
            <a:endParaRPr lang="en-US" sz="1120" dirty="0"/>
          </a:p>
        </p:txBody>
      </p:sp>
      <p:sp>
        <p:nvSpPr>
          <p:cNvPr id="31" name="Shape 29"/>
          <p:cNvSpPr/>
          <p:nvPr/>
        </p:nvSpPr>
        <p:spPr>
          <a:xfrm>
            <a:off x="6236208" y="3310128"/>
            <a:ext cx="2487168" cy="1417320"/>
          </a:xfrm>
          <a:prstGeom prst="roundRect">
            <a:avLst>
              <a:gd name="adj" fmla="val 3871"/>
            </a:avLst>
          </a:prstGeom>
          <a:solidFill>
            <a:srgbClr val="FFFFFF"/>
          </a:solidFill>
          <a:ln w="11430">
            <a:solidFill>
              <a:srgbClr val="D79A32"/>
            </a:solidFill>
            <a:prstDash val="solid"/>
          </a:ln>
          <a:effectLst>
            <a:outerShdw sx="100000" sy="100000" kx="0" ky="0" algn="bl" rotWithShape="0" blurRad="25400" dist="50800" dir="2700000">
              <a:srgbClr val="000000">
                <a:alpha val="10000"/>
              </a:srgbClr>
            </a:outerShdw>
          </a:effectLst>
        </p:spPr>
      </p:sp>
      <p:sp>
        <p:nvSpPr>
          <p:cNvPr id="32" name="Text 30"/>
          <p:cNvSpPr/>
          <p:nvPr/>
        </p:nvSpPr>
        <p:spPr>
          <a:xfrm>
            <a:off x="6419088" y="3575304"/>
            <a:ext cx="2121408" cy="274320"/>
          </a:xfrm>
          <a:prstGeom prst="rect">
            <a:avLst/>
          </a:prstGeom>
          <a:noFill/>
          <a:ln/>
        </p:spPr>
        <p:txBody>
          <a:bodyPr wrap="square" lIns="0" tIns="0" rIns="0" bIns="0" rtlCol="0" anchor="ctr"/>
          <a:lstStyle/>
          <a:p>
            <a:pPr algn="ctr" indent="0" marL="0">
              <a:buNone/>
            </a:pPr>
            <a:r>
              <a:rPr lang="en-US" sz="1300" b="1" dirty="0">
                <a:solidFill>
                  <a:srgbClr val="D79A32"/>
                </a:solidFill>
              </a:rPr>
              <a:t>KEPUTUSAN</a:t>
            </a:r>
            <a:endParaRPr lang="en-US" sz="1300" dirty="0"/>
          </a:p>
        </p:txBody>
      </p:sp>
      <p:sp>
        <p:nvSpPr>
          <p:cNvPr id="33" name="Text 31"/>
          <p:cNvSpPr/>
          <p:nvPr/>
        </p:nvSpPr>
        <p:spPr>
          <a:xfrm>
            <a:off x="6455664" y="3995928"/>
            <a:ext cx="2048256" cy="438912"/>
          </a:xfrm>
          <a:prstGeom prst="rect">
            <a:avLst/>
          </a:prstGeom>
          <a:noFill/>
          <a:ln/>
        </p:spPr>
        <p:txBody>
          <a:bodyPr wrap="square" lIns="0" tIns="0" rIns="0" bIns="0" rtlCol="0" anchor="ctr">
            <a:normAutofit/>
          </a:bodyPr>
          <a:lstStyle/>
          <a:p>
            <a:pPr algn="ctr" indent="0" marL="0">
              <a:buNone/>
            </a:pPr>
            <a:r>
              <a:rPr lang="en-US" sz="1120" dirty="0">
                <a:solidFill>
                  <a:srgbClr val="6A777A"/>
                </a:solidFill>
              </a:rPr>
              <a:t>Maklumat untuk pertimbangan manusia</a:t>
            </a:r>
            <a:endParaRPr lang="en-US" sz="1120" dirty="0"/>
          </a:p>
        </p:txBody>
      </p:sp>
      <p:sp>
        <p:nvSpPr>
          <p:cNvPr id="34" name="Shape 32"/>
          <p:cNvSpPr/>
          <p:nvPr/>
        </p:nvSpPr>
        <p:spPr>
          <a:xfrm>
            <a:off x="8997696" y="3310128"/>
            <a:ext cx="2487168" cy="1417320"/>
          </a:xfrm>
          <a:prstGeom prst="roundRect">
            <a:avLst>
              <a:gd name="adj" fmla="val 3871"/>
            </a:avLst>
          </a:prstGeom>
          <a:solidFill>
            <a:srgbClr val="FFFFFF"/>
          </a:solidFill>
          <a:ln w="11430">
            <a:solidFill>
              <a:srgbClr val="3F9B72"/>
            </a:solidFill>
            <a:prstDash val="solid"/>
          </a:ln>
          <a:effectLst>
            <a:outerShdw sx="100000" sy="100000" kx="0" ky="0" algn="bl" rotWithShape="0" blurRad="25400" dist="50800" dir="2700000">
              <a:srgbClr val="000000">
                <a:alpha val="10000"/>
              </a:srgbClr>
            </a:outerShdw>
          </a:effectLst>
        </p:spPr>
      </p:sp>
      <p:sp>
        <p:nvSpPr>
          <p:cNvPr id="35" name="Text 33"/>
          <p:cNvSpPr/>
          <p:nvPr/>
        </p:nvSpPr>
        <p:spPr>
          <a:xfrm>
            <a:off x="9180576" y="3575304"/>
            <a:ext cx="2121408" cy="274320"/>
          </a:xfrm>
          <a:prstGeom prst="rect">
            <a:avLst/>
          </a:prstGeom>
          <a:noFill/>
          <a:ln/>
        </p:spPr>
        <p:txBody>
          <a:bodyPr wrap="square" lIns="0" tIns="0" rIns="0" bIns="0" rtlCol="0" anchor="ctr"/>
          <a:lstStyle/>
          <a:p>
            <a:pPr algn="ctr" indent="0" marL="0">
              <a:buNone/>
            </a:pPr>
            <a:r>
              <a:rPr lang="en-US" sz="1300" b="1" dirty="0">
                <a:solidFill>
                  <a:srgbClr val="3F9B72"/>
                </a:solidFill>
              </a:rPr>
              <a:t>KAWALAN</a:t>
            </a:r>
            <a:endParaRPr lang="en-US" sz="1300" dirty="0"/>
          </a:p>
        </p:txBody>
      </p:sp>
      <p:sp>
        <p:nvSpPr>
          <p:cNvPr id="36" name="Text 34"/>
          <p:cNvSpPr/>
          <p:nvPr/>
        </p:nvSpPr>
        <p:spPr>
          <a:xfrm>
            <a:off x="9217152" y="3995928"/>
            <a:ext cx="2048256" cy="438912"/>
          </a:xfrm>
          <a:prstGeom prst="rect">
            <a:avLst/>
          </a:prstGeom>
          <a:noFill/>
          <a:ln/>
        </p:spPr>
        <p:txBody>
          <a:bodyPr wrap="square" lIns="0" tIns="0" rIns="0" bIns="0" rtlCol="0" anchor="ctr">
            <a:normAutofit/>
          </a:bodyPr>
          <a:lstStyle/>
          <a:p>
            <a:pPr algn="ctr" indent="0" marL="0">
              <a:buNone/>
            </a:pPr>
            <a:r>
              <a:rPr lang="en-US" sz="1120" dirty="0">
                <a:solidFill>
                  <a:srgbClr val="6A777A"/>
                </a:solidFill>
              </a:rPr>
              <a:t>Akses, semakan dan jejak audit</a:t>
            </a:r>
            <a:endParaRPr lang="en-US" sz="1120" dirty="0"/>
          </a:p>
        </p:txBody>
      </p:sp>
      <p:sp>
        <p:nvSpPr>
          <p:cNvPr id="37" name="Text 35"/>
          <p:cNvSpPr/>
          <p:nvPr/>
        </p:nvSpPr>
        <p:spPr>
          <a:xfrm>
            <a:off x="1280160" y="5358384"/>
            <a:ext cx="9601200" cy="320040"/>
          </a:xfrm>
          <a:prstGeom prst="rect">
            <a:avLst/>
          </a:prstGeom>
          <a:noFill/>
          <a:ln/>
        </p:spPr>
        <p:txBody>
          <a:bodyPr wrap="square" lIns="0" tIns="0" rIns="0" bIns="0" rtlCol="0" anchor="ctr"/>
          <a:lstStyle/>
          <a:p>
            <a:pPr algn="ctr" indent="0" marL="0">
              <a:buNone/>
            </a:pPr>
            <a:r>
              <a:rPr lang="en-US" sz="1500" b="1" dirty="0">
                <a:solidFill>
                  <a:srgbClr val="00A99D"/>
                </a:solidFill>
              </a:rPr>
              <a:t>Nilai datang daripada reka bentuk kerja yang lebih baik — bukan daripada label teknologi.</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KONSEP</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06</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Tiga tahap kematangan kerja</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Digital ialah langkah penting, tetapi belum tentu menghapuskan kerja berulang.</a:t>
            </a:r>
            <a:endParaRPr lang="en-US" sz="1250" dirty="0"/>
          </a:p>
        </p:txBody>
      </p:sp>
      <p:sp>
        <p:nvSpPr>
          <p:cNvPr id="23" name="Shape 21"/>
          <p:cNvSpPr/>
          <p:nvPr/>
        </p:nvSpPr>
        <p:spPr>
          <a:xfrm>
            <a:off x="685800" y="1581912"/>
            <a:ext cx="3401568" cy="566928"/>
          </a:xfrm>
          <a:prstGeom prst="roundRect">
            <a:avLst>
              <a:gd name="adj" fmla="val 8065"/>
            </a:avLst>
          </a:prstGeom>
          <a:solidFill>
            <a:srgbClr val="6A777A"/>
          </a:solidFill>
          <a:ln w="12700">
            <a:solidFill>
              <a:srgbClr val="6A777A"/>
            </a:solidFill>
            <a:prstDash val="solid"/>
          </a:ln>
        </p:spPr>
      </p:sp>
      <p:sp>
        <p:nvSpPr>
          <p:cNvPr id="24" name="Text 22"/>
          <p:cNvSpPr/>
          <p:nvPr/>
        </p:nvSpPr>
        <p:spPr>
          <a:xfrm>
            <a:off x="685800" y="1737360"/>
            <a:ext cx="3401568" cy="237744"/>
          </a:xfrm>
          <a:prstGeom prst="rect">
            <a:avLst/>
          </a:prstGeom>
          <a:noFill/>
          <a:ln/>
        </p:spPr>
        <p:txBody>
          <a:bodyPr wrap="square" lIns="0" tIns="0" rIns="0" bIns="0" rtlCol="0" anchor="ctr"/>
          <a:lstStyle/>
          <a:p>
            <a:pPr algn="ctr" indent="0" marL="0">
              <a:buNone/>
            </a:pPr>
            <a:r>
              <a:rPr lang="en-US" sz="1600" b="1" dirty="0">
                <a:solidFill>
                  <a:srgbClr val="FFFFFF"/>
                </a:solidFill>
              </a:rPr>
              <a:t>MANUAL</a:t>
            </a:r>
            <a:endParaRPr lang="en-US" sz="1600" dirty="0"/>
          </a:p>
        </p:txBody>
      </p:sp>
      <p:sp>
        <p:nvSpPr>
          <p:cNvPr id="25" name="Shape 23"/>
          <p:cNvSpPr/>
          <p:nvPr/>
        </p:nvSpPr>
        <p:spPr>
          <a:xfrm>
            <a:off x="685800" y="2331720"/>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26" name="Text 24"/>
          <p:cNvSpPr/>
          <p:nvPr/>
        </p:nvSpPr>
        <p:spPr>
          <a:xfrm>
            <a:off x="822960" y="2487168"/>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Tulis dan pindah</a:t>
            </a:r>
            <a:endParaRPr lang="en-US" sz="1300" dirty="0"/>
          </a:p>
        </p:txBody>
      </p:sp>
      <p:sp>
        <p:nvSpPr>
          <p:cNvPr id="27" name="Shape 25"/>
          <p:cNvSpPr/>
          <p:nvPr/>
        </p:nvSpPr>
        <p:spPr>
          <a:xfrm>
            <a:off x="685800" y="3044952"/>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28" name="Text 26"/>
          <p:cNvSpPr/>
          <p:nvPr/>
        </p:nvSpPr>
        <p:spPr>
          <a:xfrm>
            <a:off x="822960" y="3200400"/>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Cari secara manual</a:t>
            </a:r>
            <a:endParaRPr lang="en-US" sz="1300" dirty="0"/>
          </a:p>
        </p:txBody>
      </p:sp>
      <p:sp>
        <p:nvSpPr>
          <p:cNvPr id="29" name="Shape 27"/>
          <p:cNvSpPr/>
          <p:nvPr/>
        </p:nvSpPr>
        <p:spPr>
          <a:xfrm>
            <a:off x="685800" y="3758184"/>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30" name="Text 28"/>
          <p:cNvSpPr/>
          <p:nvPr/>
        </p:nvSpPr>
        <p:spPr>
          <a:xfrm>
            <a:off x="822960" y="3913632"/>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Semak di akhir</a:t>
            </a:r>
            <a:endParaRPr lang="en-US" sz="1300" dirty="0"/>
          </a:p>
        </p:txBody>
      </p:sp>
      <p:sp>
        <p:nvSpPr>
          <p:cNvPr id="31" name="Shape 29"/>
          <p:cNvSpPr/>
          <p:nvPr/>
        </p:nvSpPr>
        <p:spPr>
          <a:xfrm>
            <a:off x="685800" y="4471416"/>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32" name="Text 30"/>
          <p:cNvSpPr/>
          <p:nvPr/>
        </p:nvSpPr>
        <p:spPr>
          <a:xfrm>
            <a:off x="822960" y="4626864"/>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Ringkasan manual</a:t>
            </a:r>
            <a:endParaRPr lang="en-US" sz="1300" dirty="0"/>
          </a:p>
        </p:txBody>
      </p:sp>
      <p:sp>
        <p:nvSpPr>
          <p:cNvPr id="33" name="Shape 31"/>
          <p:cNvSpPr/>
          <p:nvPr/>
        </p:nvSpPr>
        <p:spPr>
          <a:xfrm>
            <a:off x="4480560" y="1581912"/>
            <a:ext cx="3401568" cy="566928"/>
          </a:xfrm>
          <a:prstGeom prst="roundRect">
            <a:avLst>
              <a:gd name="adj" fmla="val 8065"/>
            </a:avLst>
          </a:prstGeom>
          <a:solidFill>
            <a:srgbClr val="2F72C4"/>
          </a:solidFill>
          <a:ln w="12700">
            <a:solidFill>
              <a:srgbClr val="2F72C4"/>
            </a:solidFill>
            <a:prstDash val="solid"/>
          </a:ln>
        </p:spPr>
      </p:sp>
      <p:sp>
        <p:nvSpPr>
          <p:cNvPr id="34" name="Text 32"/>
          <p:cNvSpPr/>
          <p:nvPr/>
        </p:nvSpPr>
        <p:spPr>
          <a:xfrm>
            <a:off x="4480560" y="1737360"/>
            <a:ext cx="3401568" cy="237744"/>
          </a:xfrm>
          <a:prstGeom prst="rect">
            <a:avLst/>
          </a:prstGeom>
          <a:noFill/>
          <a:ln/>
        </p:spPr>
        <p:txBody>
          <a:bodyPr wrap="square" lIns="0" tIns="0" rIns="0" bIns="0" rtlCol="0" anchor="ctr"/>
          <a:lstStyle/>
          <a:p>
            <a:pPr algn="ctr" indent="0" marL="0">
              <a:buNone/>
            </a:pPr>
            <a:r>
              <a:rPr lang="en-US" sz="1600" b="1" dirty="0">
                <a:solidFill>
                  <a:srgbClr val="FFFFFF"/>
                </a:solidFill>
              </a:rPr>
              <a:t>DIGITAL</a:t>
            </a:r>
            <a:endParaRPr lang="en-US" sz="1600" dirty="0"/>
          </a:p>
        </p:txBody>
      </p:sp>
      <p:sp>
        <p:nvSpPr>
          <p:cNvPr id="35" name="Shape 33"/>
          <p:cNvSpPr/>
          <p:nvPr/>
        </p:nvSpPr>
        <p:spPr>
          <a:xfrm>
            <a:off x="4480560" y="2331720"/>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36" name="Text 34"/>
          <p:cNvSpPr/>
          <p:nvPr/>
        </p:nvSpPr>
        <p:spPr>
          <a:xfrm>
            <a:off x="4617720" y="2487168"/>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Isi pada skrin</a:t>
            </a:r>
            <a:endParaRPr lang="en-US" sz="1300" dirty="0"/>
          </a:p>
        </p:txBody>
      </p:sp>
      <p:sp>
        <p:nvSpPr>
          <p:cNvPr id="37" name="Shape 35"/>
          <p:cNvSpPr/>
          <p:nvPr/>
        </p:nvSpPr>
        <p:spPr>
          <a:xfrm>
            <a:off x="4480560" y="3044952"/>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38" name="Text 36"/>
          <p:cNvSpPr/>
          <p:nvPr/>
        </p:nvSpPr>
        <p:spPr>
          <a:xfrm>
            <a:off x="4617720" y="3200400"/>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Fail elektronik</a:t>
            </a:r>
            <a:endParaRPr lang="en-US" sz="1300" dirty="0"/>
          </a:p>
        </p:txBody>
      </p:sp>
      <p:sp>
        <p:nvSpPr>
          <p:cNvPr id="39" name="Shape 37"/>
          <p:cNvSpPr/>
          <p:nvPr/>
        </p:nvSpPr>
        <p:spPr>
          <a:xfrm>
            <a:off x="4480560" y="3758184"/>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40" name="Text 38"/>
          <p:cNvSpPr/>
          <p:nvPr/>
        </p:nvSpPr>
        <p:spPr>
          <a:xfrm>
            <a:off x="4617720" y="3913632"/>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Semak senarai</a:t>
            </a:r>
            <a:endParaRPr lang="en-US" sz="1300" dirty="0"/>
          </a:p>
        </p:txBody>
      </p:sp>
      <p:sp>
        <p:nvSpPr>
          <p:cNvPr id="41" name="Shape 39"/>
          <p:cNvSpPr/>
          <p:nvPr/>
        </p:nvSpPr>
        <p:spPr>
          <a:xfrm>
            <a:off x="4480560" y="4471416"/>
            <a:ext cx="3401568" cy="548640"/>
          </a:xfrm>
          <a:prstGeom prst="roundRect">
            <a:avLst>
              <a:gd name="adj" fmla="val 10000"/>
            </a:avLst>
          </a:prstGeom>
          <a:solidFill>
            <a:srgbClr val="FFFFFF"/>
          </a:solidFill>
          <a:ln w="11430">
            <a:solidFill>
              <a:srgbClr val="D0DAD8"/>
            </a:solidFill>
            <a:prstDash val="solid"/>
          </a:ln>
          <a:effectLst>
            <a:outerShdw sx="100000" sy="100000" kx="0" ky="0" algn="bl" rotWithShape="0" blurRad="25400" dist="50800" dir="2700000">
              <a:srgbClr val="000000">
                <a:alpha val="10000"/>
              </a:srgbClr>
            </a:outerShdw>
          </a:effectLst>
        </p:spPr>
      </p:sp>
      <p:sp>
        <p:nvSpPr>
          <p:cNvPr id="42" name="Text 40"/>
          <p:cNvSpPr/>
          <p:nvPr/>
        </p:nvSpPr>
        <p:spPr>
          <a:xfrm>
            <a:off x="4617720" y="4626864"/>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Laporan berasingan</a:t>
            </a:r>
            <a:endParaRPr lang="en-US" sz="1300" dirty="0"/>
          </a:p>
        </p:txBody>
      </p:sp>
      <p:sp>
        <p:nvSpPr>
          <p:cNvPr id="43" name="Shape 41"/>
          <p:cNvSpPr/>
          <p:nvPr/>
        </p:nvSpPr>
        <p:spPr>
          <a:xfrm>
            <a:off x="8275320" y="1581912"/>
            <a:ext cx="3401568" cy="566928"/>
          </a:xfrm>
          <a:prstGeom prst="roundRect">
            <a:avLst>
              <a:gd name="adj" fmla="val 8065"/>
            </a:avLst>
          </a:prstGeom>
          <a:solidFill>
            <a:srgbClr val="00A99D"/>
          </a:solidFill>
          <a:ln w="12700">
            <a:solidFill>
              <a:srgbClr val="00A99D"/>
            </a:solidFill>
            <a:prstDash val="solid"/>
          </a:ln>
        </p:spPr>
      </p:sp>
      <p:sp>
        <p:nvSpPr>
          <p:cNvPr id="44" name="Text 42"/>
          <p:cNvSpPr/>
          <p:nvPr/>
        </p:nvSpPr>
        <p:spPr>
          <a:xfrm>
            <a:off x="8275320" y="1737360"/>
            <a:ext cx="3401568" cy="237744"/>
          </a:xfrm>
          <a:prstGeom prst="rect">
            <a:avLst/>
          </a:prstGeom>
          <a:noFill/>
          <a:ln/>
        </p:spPr>
        <p:txBody>
          <a:bodyPr wrap="square" lIns="0" tIns="0" rIns="0" bIns="0" rtlCol="0" anchor="ctr"/>
          <a:lstStyle/>
          <a:p>
            <a:pPr algn="ctr" indent="0" marL="0">
              <a:buNone/>
            </a:pPr>
            <a:r>
              <a:rPr lang="en-US" sz="1600" b="1" dirty="0">
                <a:solidFill>
                  <a:srgbClr val="FFFFFF"/>
                </a:solidFill>
              </a:rPr>
              <a:t>PINTAR</a:t>
            </a:r>
            <a:endParaRPr lang="en-US" sz="1600" dirty="0"/>
          </a:p>
        </p:txBody>
      </p:sp>
      <p:sp>
        <p:nvSpPr>
          <p:cNvPr id="45" name="Shape 43"/>
          <p:cNvSpPr/>
          <p:nvPr/>
        </p:nvSpPr>
        <p:spPr>
          <a:xfrm>
            <a:off x="8275320" y="2331720"/>
            <a:ext cx="3401568" cy="548640"/>
          </a:xfrm>
          <a:prstGeom prst="roundRect">
            <a:avLst>
              <a:gd name="adj" fmla="val 10000"/>
            </a:avLst>
          </a:prstGeom>
          <a:solidFill>
            <a:srgbClr val="E4F8F2"/>
          </a:solidFill>
          <a:ln w="11430">
            <a:solidFill>
              <a:srgbClr val="7BCFC4"/>
            </a:solidFill>
            <a:prstDash val="solid"/>
          </a:ln>
          <a:effectLst>
            <a:outerShdw sx="100000" sy="100000" kx="0" ky="0" algn="bl" rotWithShape="0" blurRad="25400" dist="50800" dir="2700000">
              <a:srgbClr val="000000">
                <a:alpha val="10000"/>
              </a:srgbClr>
            </a:outerShdw>
          </a:effectLst>
        </p:spPr>
      </p:sp>
      <p:sp>
        <p:nvSpPr>
          <p:cNvPr id="46" name="Text 44"/>
          <p:cNvSpPr/>
          <p:nvPr/>
        </p:nvSpPr>
        <p:spPr>
          <a:xfrm>
            <a:off x="8412480" y="2487168"/>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Kumpul sekali</a:t>
            </a:r>
            <a:endParaRPr lang="en-US" sz="1300" dirty="0"/>
          </a:p>
        </p:txBody>
      </p:sp>
      <p:sp>
        <p:nvSpPr>
          <p:cNvPr id="47" name="Shape 45"/>
          <p:cNvSpPr/>
          <p:nvPr/>
        </p:nvSpPr>
        <p:spPr>
          <a:xfrm>
            <a:off x="8275320" y="3044952"/>
            <a:ext cx="3401568" cy="548640"/>
          </a:xfrm>
          <a:prstGeom prst="roundRect">
            <a:avLst>
              <a:gd name="adj" fmla="val 10000"/>
            </a:avLst>
          </a:prstGeom>
          <a:solidFill>
            <a:srgbClr val="E4F8F2"/>
          </a:solidFill>
          <a:ln w="11430">
            <a:solidFill>
              <a:srgbClr val="7BCFC4"/>
            </a:solidFill>
            <a:prstDash val="solid"/>
          </a:ln>
          <a:effectLst>
            <a:outerShdw sx="100000" sy="100000" kx="0" ky="0" algn="bl" rotWithShape="0" blurRad="25400" dist="50800" dir="2700000">
              <a:srgbClr val="000000">
                <a:alpha val="10000"/>
              </a:srgbClr>
            </a:outerShdw>
          </a:effectLst>
        </p:spPr>
      </p:sp>
      <p:sp>
        <p:nvSpPr>
          <p:cNvPr id="48" name="Text 46"/>
          <p:cNvSpPr/>
          <p:nvPr/>
        </p:nvSpPr>
        <p:spPr>
          <a:xfrm>
            <a:off x="8412480" y="3200400"/>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Cari dan jejak</a:t>
            </a:r>
            <a:endParaRPr lang="en-US" sz="1300" dirty="0"/>
          </a:p>
        </p:txBody>
      </p:sp>
      <p:sp>
        <p:nvSpPr>
          <p:cNvPr id="49" name="Shape 47"/>
          <p:cNvSpPr/>
          <p:nvPr/>
        </p:nvSpPr>
        <p:spPr>
          <a:xfrm>
            <a:off x="8275320" y="3758184"/>
            <a:ext cx="3401568" cy="548640"/>
          </a:xfrm>
          <a:prstGeom prst="roundRect">
            <a:avLst>
              <a:gd name="adj" fmla="val 10000"/>
            </a:avLst>
          </a:prstGeom>
          <a:solidFill>
            <a:srgbClr val="E4F8F2"/>
          </a:solidFill>
          <a:ln w="11430">
            <a:solidFill>
              <a:srgbClr val="7BCFC4"/>
            </a:solidFill>
            <a:prstDash val="solid"/>
          </a:ln>
          <a:effectLst>
            <a:outerShdw sx="100000" sy="100000" kx="0" ky="0" algn="bl" rotWithShape="0" blurRad="25400" dist="50800" dir="2700000">
              <a:srgbClr val="000000">
                <a:alpha val="10000"/>
              </a:srgbClr>
            </a:outerShdw>
          </a:effectLst>
        </p:spPr>
      </p:sp>
      <p:sp>
        <p:nvSpPr>
          <p:cNvPr id="50" name="Text 48"/>
          <p:cNvSpPr/>
          <p:nvPr/>
        </p:nvSpPr>
        <p:spPr>
          <a:xfrm>
            <a:off x="8412480" y="3913632"/>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Validasi semasa input</a:t>
            </a:r>
            <a:endParaRPr lang="en-US" sz="1300" dirty="0"/>
          </a:p>
        </p:txBody>
      </p:sp>
      <p:sp>
        <p:nvSpPr>
          <p:cNvPr id="51" name="Shape 49"/>
          <p:cNvSpPr/>
          <p:nvPr/>
        </p:nvSpPr>
        <p:spPr>
          <a:xfrm>
            <a:off x="8275320" y="4471416"/>
            <a:ext cx="3401568" cy="548640"/>
          </a:xfrm>
          <a:prstGeom prst="roundRect">
            <a:avLst>
              <a:gd name="adj" fmla="val 10000"/>
            </a:avLst>
          </a:prstGeom>
          <a:solidFill>
            <a:srgbClr val="E4F8F2"/>
          </a:solidFill>
          <a:ln w="11430">
            <a:solidFill>
              <a:srgbClr val="7BCFC4"/>
            </a:solidFill>
            <a:prstDash val="solid"/>
          </a:ln>
          <a:effectLst>
            <a:outerShdw sx="100000" sy="100000" kx="0" ky="0" algn="bl" rotWithShape="0" blurRad="25400" dist="50800" dir="2700000">
              <a:srgbClr val="000000">
                <a:alpha val="10000"/>
              </a:srgbClr>
            </a:outerShdw>
          </a:effectLst>
        </p:spPr>
      </p:sp>
      <p:sp>
        <p:nvSpPr>
          <p:cNvPr id="52" name="Text 50"/>
          <p:cNvSpPr/>
          <p:nvPr/>
        </p:nvSpPr>
        <p:spPr>
          <a:xfrm>
            <a:off x="8412480" y="4626864"/>
            <a:ext cx="3127248" cy="219456"/>
          </a:xfrm>
          <a:prstGeom prst="rect">
            <a:avLst/>
          </a:prstGeom>
          <a:noFill/>
          <a:ln/>
        </p:spPr>
        <p:txBody>
          <a:bodyPr wrap="square" lIns="0" tIns="0" rIns="0" bIns="0" rtlCol="0" anchor="ctr">
            <a:normAutofit/>
          </a:bodyPr>
          <a:lstStyle/>
          <a:p>
            <a:pPr algn="ctr" indent="0" marL="0">
              <a:buNone/>
            </a:pPr>
            <a:r>
              <a:rPr lang="en-US" sz="1300" dirty="0">
                <a:solidFill>
                  <a:srgbClr val="182427"/>
                </a:solidFill>
              </a:rPr>
              <a:t>Status dan metrik tersedia</a:t>
            </a:r>
            <a:endParaRPr lang="en-US" sz="1300" dirty="0"/>
          </a:p>
        </p:txBody>
      </p:sp>
      <p:sp>
        <p:nvSpPr>
          <p:cNvPr id="53" name="Text 51"/>
          <p:cNvSpPr/>
          <p:nvPr/>
        </p:nvSpPr>
        <p:spPr>
          <a:xfrm>
            <a:off x="822960" y="5577840"/>
            <a:ext cx="10515600" cy="347472"/>
          </a:xfrm>
          <a:prstGeom prst="rect">
            <a:avLst/>
          </a:prstGeom>
          <a:noFill/>
          <a:ln/>
        </p:spPr>
        <p:txBody>
          <a:bodyPr wrap="square" lIns="0" tIns="0" rIns="0" bIns="0" rtlCol="0" anchor="ctr"/>
          <a:lstStyle/>
          <a:p>
            <a:pPr algn="ctr" indent="0" marL="0">
              <a:buNone/>
            </a:pPr>
            <a:r>
              <a:rPr lang="en-US" sz="1500" b="1" dirty="0">
                <a:solidFill>
                  <a:srgbClr val="173440"/>
                </a:solidFill>
              </a:rPr>
              <a:t>Soalan: Pada tahap manakah setiap proses MPE berada sekarang?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KONSEP</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07</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Contoh: perjalanan Buku Log Makmal</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Perhatikan bagaimana bilangan sentuhan dan kelewatan berubah.</a:t>
            </a:r>
            <a:endParaRPr lang="en-US" sz="1250" dirty="0"/>
          </a:p>
        </p:txBody>
      </p:sp>
      <p:sp>
        <p:nvSpPr>
          <p:cNvPr id="23" name="Shape 21"/>
          <p:cNvSpPr/>
          <p:nvPr/>
        </p:nvSpPr>
        <p:spPr>
          <a:xfrm>
            <a:off x="640080" y="1746504"/>
            <a:ext cx="1188720" cy="329184"/>
          </a:xfrm>
          <a:prstGeom prst="roundRect">
            <a:avLst>
              <a:gd name="adj" fmla="val 22222"/>
            </a:avLst>
          </a:prstGeom>
          <a:solidFill>
            <a:srgbClr val="6A777A"/>
          </a:solidFill>
          <a:ln w="12700">
            <a:solidFill>
              <a:srgbClr val="6A777A"/>
            </a:solidFill>
            <a:prstDash val="solid"/>
          </a:ln>
        </p:spPr>
      </p:sp>
      <p:sp>
        <p:nvSpPr>
          <p:cNvPr id="24" name="Text 22"/>
          <p:cNvSpPr/>
          <p:nvPr/>
        </p:nvSpPr>
        <p:spPr>
          <a:xfrm>
            <a:off x="640080" y="1764792"/>
            <a:ext cx="1188720" cy="246888"/>
          </a:xfrm>
          <a:prstGeom prst="rect">
            <a:avLst/>
          </a:prstGeom>
          <a:noFill/>
          <a:ln/>
        </p:spPr>
        <p:txBody>
          <a:bodyPr wrap="square" lIns="0" tIns="0" rIns="0" bIns="0" rtlCol="0" anchor="ctr"/>
          <a:lstStyle/>
          <a:p>
            <a:pPr algn="ctr" indent="0" marL="0">
              <a:buNone/>
            </a:pPr>
            <a:r>
              <a:rPr lang="en-US" sz="950" b="1" dirty="0">
                <a:solidFill>
                  <a:srgbClr val="FFFFFF"/>
                </a:solidFill>
              </a:rPr>
              <a:t>MANUAL</a:t>
            </a:r>
            <a:endParaRPr lang="en-US" sz="950" dirty="0"/>
          </a:p>
        </p:txBody>
      </p:sp>
      <p:sp>
        <p:nvSpPr>
          <p:cNvPr id="25" name="Shape 23"/>
          <p:cNvSpPr/>
          <p:nvPr/>
        </p:nvSpPr>
        <p:spPr>
          <a:xfrm>
            <a:off x="2057400" y="1600200"/>
            <a:ext cx="1554480" cy="804672"/>
          </a:xfrm>
          <a:prstGeom prst="roundRect">
            <a:avLst>
              <a:gd name="adj" fmla="val 6818"/>
            </a:avLst>
          </a:prstGeom>
          <a:solidFill>
            <a:srgbClr val="FFFFFF"/>
          </a:solidFill>
          <a:ln w="11430">
            <a:solidFill>
              <a:srgbClr val="6A777A"/>
            </a:solidFill>
            <a:prstDash val="solid"/>
          </a:ln>
          <a:effectLst>
            <a:outerShdw sx="100000" sy="100000" kx="0" ky="0" algn="bl" rotWithShape="0" blurRad="25400" dist="50800" dir="2700000">
              <a:srgbClr val="000000">
                <a:alpha val="10000"/>
              </a:srgbClr>
            </a:outerShdw>
          </a:effectLst>
        </p:spPr>
      </p:sp>
      <p:sp>
        <p:nvSpPr>
          <p:cNvPr id="26" name="Text 24"/>
          <p:cNvSpPr/>
          <p:nvPr/>
        </p:nvSpPr>
        <p:spPr>
          <a:xfrm>
            <a:off x="2148840" y="1856232"/>
            <a:ext cx="1371600"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Catat</a:t>
            </a:r>
            <a:endParaRPr lang="en-US" sz="1150" dirty="0"/>
          </a:p>
        </p:txBody>
      </p:sp>
      <p:sp>
        <p:nvSpPr>
          <p:cNvPr id="27" name="Shape 25"/>
          <p:cNvSpPr/>
          <p:nvPr/>
        </p:nvSpPr>
        <p:spPr>
          <a:xfrm>
            <a:off x="3648456" y="2002536"/>
            <a:ext cx="201168" cy="0"/>
          </a:xfrm>
          <a:prstGeom prst="line">
            <a:avLst/>
          </a:prstGeom>
          <a:noFill/>
          <a:ln w="15240">
            <a:solidFill>
              <a:srgbClr val="6A777A"/>
            </a:solidFill>
            <a:prstDash val="solid"/>
            <a:tailEnd type="triangle"/>
          </a:ln>
        </p:spPr>
      </p:sp>
      <p:sp>
        <p:nvSpPr>
          <p:cNvPr id="28" name="Shape 26"/>
          <p:cNvSpPr/>
          <p:nvPr/>
        </p:nvSpPr>
        <p:spPr>
          <a:xfrm>
            <a:off x="3867912" y="1600200"/>
            <a:ext cx="1554480" cy="804672"/>
          </a:xfrm>
          <a:prstGeom prst="roundRect">
            <a:avLst>
              <a:gd name="adj" fmla="val 6818"/>
            </a:avLst>
          </a:prstGeom>
          <a:solidFill>
            <a:srgbClr val="FFFFFF"/>
          </a:solidFill>
          <a:ln w="11430">
            <a:solidFill>
              <a:srgbClr val="6A777A"/>
            </a:solidFill>
            <a:prstDash val="solid"/>
          </a:ln>
          <a:effectLst>
            <a:outerShdw sx="100000" sy="100000" kx="0" ky="0" algn="bl" rotWithShape="0" blurRad="25400" dist="50800" dir="2700000">
              <a:srgbClr val="000000">
                <a:alpha val="10000"/>
              </a:srgbClr>
            </a:outerShdw>
          </a:effectLst>
        </p:spPr>
      </p:sp>
      <p:sp>
        <p:nvSpPr>
          <p:cNvPr id="29" name="Text 27"/>
          <p:cNvSpPr/>
          <p:nvPr/>
        </p:nvSpPr>
        <p:spPr>
          <a:xfrm>
            <a:off x="3959352" y="1856232"/>
            <a:ext cx="1371600"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Ambil gambar</a:t>
            </a:r>
            <a:endParaRPr lang="en-US" sz="1150" dirty="0"/>
          </a:p>
        </p:txBody>
      </p:sp>
      <p:sp>
        <p:nvSpPr>
          <p:cNvPr id="30" name="Shape 28"/>
          <p:cNvSpPr/>
          <p:nvPr/>
        </p:nvSpPr>
        <p:spPr>
          <a:xfrm>
            <a:off x="5458968" y="2002536"/>
            <a:ext cx="201168" cy="0"/>
          </a:xfrm>
          <a:prstGeom prst="line">
            <a:avLst/>
          </a:prstGeom>
          <a:noFill/>
          <a:ln w="15240">
            <a:solidFill>
              <a:srgbClr val="6A777A"/>
            </a:solidFill>
            <a:prstDash val="solid"/>
            <a:tailEnd type="triangle"/>
          </a:ln>
        </p:spPr>
      </p:sp>
      <p:sp>
        <p:nvSpPr>
          <p:cNvPr id="31" name="Shape 29"/>
          <p:cNvSpPr/>
          <p:nvPr/>
        </p:nvSpPr>
        <p:spPr>
          <a:xfrm>
            <a:off x="5678424" y="1600200"/>
            <a:ext cx="1554480" cy="804672"/>
          </a:xfrm>
          <a:prstGeom prst="roundRect">
            <a:avLst>
              <a:gd name="adj" fmla="val 6818"/>
            </a:avLst>
          </a:prstGeom>
          <a:solidFill>
            <a:srgbClr val="FFFFFF"/>
          </a:solidFill>
          <a:ln w="11430">
            <a:solidFill>
              <a:srgbClr val="6A777A"/>
            </a:solidFill>
            <a:prstDash val="solid"/>
          </a:ln>
          <a:effectLst>
            <a:outerShdw sx="100000" sy="100000" kx="0" ky="0" algn="bl" rotWithShape="0" blurRad="25400" dist="50800" dir="2700000">
              <a:srgbClr val="000000">
                <a:alpha val="10000"/>
              </a:srgbClr>
            </a:outerShdw>
          </a:effectLst>
        </p:spPr>
      </p:sp>
      <p:sp>
        <p:nvSpPr>
          <p:cNvPr id="32" name="Text 30"/>
          <p:cNvSpPr/>
          <p:nvPr/>
        </p:nvSpPr>
        <p:spPr>
          <a:xfrm>
            <a:off x="5769864" y="1856232"/>
            <a:ext cx="1371600"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Simpan</a:t>
            </a:r>
            <a:endParaRPr lang="en-US" sz="1150" dirty="0"/>
          </a:p>
        </p:txBody>
      </p:sp>
      <p:sp>
        <p:nvSpPr>
          <p:cNvPr id="33" name="Shape 31"/>
          <p:cNvSpPr/>
          <p:nvPr/>
        </p:nvSpPr>
        <p:spPr>
          <a:xfrm>
            <a:off x="7269480" y="2002536"/>
            <a:ext cx="201168" cy="0"/>
          </a:xfrm>
          <a:prstGeom prst="line">
            <a:avLst/>
          </a:prstGeom>
          <a:noFill/>
          <a:ln w="15240">
            <a:solidFill>
              <a:srgbClr val="6A777A"/>
            </a:solidFill>
            <a:prstDash val="solid"/>
            <a:tailEnd type="triangle"/>
          </a:ln>
        </p:spPr>
      </p:sp>
      <p:sp>
        <p:nvSpPr>
          <p:cNvPr id="34" name="Shape 32"/>
          <p:cNvSpPr/>
          <p:nvPr/>
        </p:nvSpPr>
        <p:spPr>
          <a:xfrm>
            <a:off x="7488936" y="1600200"/>
            <a:ext cx="1554480" cy="804672"/>
          </a:xfrm>
          <a:prstGeom prst="roundRect">
            <a:avLst>
              <a:gd name="adj" fmla="val 6818"/>
            </a:avLst>
          </a:prstGeom>
          <a:solidFill>
            <a:srgbClr val="FFFFFF"/>
          </a:solidFill>
          <a:ln w="11430">
            <a:solidFill>
              <a:srgbClr val="6A777A"/>
            </a:solidFill>
            <a:prstDash val="solid"/>
          </a:ln>
          <a:effectLst>
            <a:outerShdw sx="100000" sy="100000" kx="0" ky="0" algn="bl" rotWithShape="0" blurRad="25400" dist="50800" dir="2700000">
              <a:srgbClr val="000000">
                <a:alpha val="10000"/>
              </a:srgbClr>
            </a:outerShdw>
          </a:effectLst>
        </p:spPr>
      </p:sp>
      <p:sp>
        <p:nvSpPr>
          <p:cNvPr id="35" name="Text 33"/>
          <p:cNvSpPr/>
          <p:nvPr/>
        </p:nvSpPr>
        <p:spPr>
          <a:xfrm>
            <a:off x="7580376" y="1856232"/>
            <a:ext cx="1371600"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Salin</a:t>
            </a:r>
            <a:endParaRPr lang="en-US" sz="1150" dirty="0"/>
          </a:p>
        </p:txBody>
      </p:sp>
      <p:sp>
        <p:nvSpPr>
          <p:cNvPr id="36" name="Shape 34"/>
          <p:cNvSpPr/>
          <p:nvPr/>
        </p:nvSpPr>
        <p:spPr>
          <a:xfrm>
            <a:off x="9079992" y="2002536"/>
            <a:ext cx="201168" cy="0"/>
          </a:xfrm>
          <a:prstGeom prst="line">
            <a:avLst/>
          </a:prstGeom>
          <a:noFill/>
          <a:ln w="15240">
            <a:solidFill>
              <a:srgbClr val="6A777A"/>
            </a:solidFill>
            <a:prstDash val="solid"/>
            <a:tailEnd type="triangle"/>
          </a:ln>
        </p:spPr>
      </p:sp>
      <p:sp>
        <p:nvSpPr>
          <p:cNvPr id="37" name="Shape 35"/>
          <p:cNvSpPr/>
          <p:nvPr/>
        </p:nvSpPr>
        <p:spPr>
          <a:xfrm>
            <a:off x="9299448" y="1600200"/>
            <a:ext cx="1554480" cy="804672"/>
          </a:xfrm>
          <a:prstGeom prst="roundRect">
            <a:avLst>
              <a:gd name="adj" fmla="val 6818"/>
            </a:avLst>
          </a:prstGeom>
          <a:solidFill>
            <a:srgbClr val="FFFFFF"/>
          </a:solidFill>
          <a:ln w="11430">
            <a:solidFill>
              <a:srgbClr val="6A777A"/>
            </a:solidFill>
            <a:prstDash val="solid"/>
          </a:ln>
          <a:effectLst>
            <a:outerShdw sx="100000" sy="100000" kx="0" ky="0" algn="bl" rotWithShape="0" blurRad="25400" dist="50800" dir="2700000">
              <a:srgbClr val="000000">
                <a:alpha val="10000"/>
              </a:srgbClr>
            </a:outerShdw>
          </a:effectLst>
        </p:spPr>
      </p:sp>
      <p:sp>
        <p:nvSpPr>
          <p:cNvPr id="38" name="Text 36"/>
          <p:cNvSpPr/>
          <p:nvPr/>
        </p:nvSpPr>
        <p:spPr>
          <a:xfrm>
            <a:off x="9390888" y="1856232"/>
            <a:ext cx="1371600"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Ringkaskan</a:t>
            </a:r>
            <a:endParaRPr lang="en-US" sz="1150" dirty="0"/>
          </a:p>
        </p:txBody>
      </p:sp>
      <p:sp>
        <p:nvSpPr>
          <p:cNvPr id="39" name="Shape 37"/>
          <p:cNvSpPr/>
          <p:nvPr/>
        </p:nvSpPr>
        <p:spPr>
          <a:xfrm>
            <a:off x="640080" y="2980944"/>
            <a:ext cx="1188720" cy="329184"/>
          </a:xfrm>
          <a:prstGeom prst="roundRect">
            <a:avLst>
              <a:gd name="adj" fmla="val 22222"/>
            </a:avLst>
          </a:prstGeom>
          <a:solidFill>
            <a:srgbClr val="2F72C4"/>
          </a:solidFill>
          <a:ln w="12700">
            <a:solidFill>
              <a:srgbClr val="2F72C4"/>
            </a:solidFill>
            <a:prstDash val="solid"/>
          </a:ln>
        </p:spPr>
      </p:sp>
      <p:sp>
        <p:nvSpPr>
          <p:cNvPr id="40" name="Text 38"/>
          <p:cNvSpPr/>
          <p:nvPr/>
        </p:nvSpPr>
        <p:spPr>
          <a:xfrm>
            <a:off x="640080" y="2999232"/>
            <a:ext cx="1188720" cy="246888"/>
          </a:xfrm>
          <a:prstGeom prst="rect">
            <a:avLst/>
          </a:prstGeom>
          <a:noFill/>
          <a:ln/>
        </p:spPr>
        <p:txBody>
          <a:bodyPr wrap="square" lIns="0" tIns="0" rIns="0" bIns="0" rtlCol="0" anchor="ctr"/>
          <a:lstStyle/>
          <a:p>
            <a:pPr algn="ctr" indent="0" marL="0">
              <a:buNone/>
            </a:pPr>
            <a:r>
              <a:rPr lang="en-US" sz="950" b="1" dirty="0">
                <a:solidFill>
                  <a:srgbClr val="FFFFFF"/>
                </a:solidFill>
              </a:rPr>
              <a:t>DIGITAL</a:t>
            </a:r>
            <a:endParaRPr lang="en-US" sz="950" dirty="0"/>
          </a:p>
        </p:txBody>
      </p:sp>
      <p:sp>
        <p:nvSpPr>
          <p:cNvPr id="41" name="Shape 39"/>
          <p:cNvSpPr/>
          <p:nvPr/>
        </p:nvSpPr>
        <p:spPr>
          <a:xfrm>
            <a:off x="2057400" y="2834640"/>
            <a:ext cx="2007108" cy="804672"/>
          </a:xfrm>
          <a:prstGeom prst="roundRect">
            <a:avLst>
              <a:gd name="adj" fmla="val 6818"/>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42" name="Text 40"/>
          <p:cNvSpPr/>
          <p:nvPr/>
        </p:nvSpPr>
        <p:spPr>
          <a:xfrm>
            <a:off x="2148840" y="3090672"/>
            <a:ext cx="1824228"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Isi borang</a:t>
            </a:r>
            <a:endParaRPr lang="en-US" sz="1150" dirty="0"/>
          </a:p>
        </p:txBody>
      </p:sp>
      <p:sp>
        <p:nvSpPr>
          <p:cNvPr id="43" name="Shape 41"/>
          <p:cNvSpPr/>
          <p:nvPr/>
        </p:nvSpPr>
        <p:spPr>
          <a:xfrm>
            <a:off x="4101084" y="3236976"/>
            <a:ext cx="201168" cy="0"/>
          </a:xfrm>
          <a:prstGeom prst="line">
            <a:avLst/>
          </a:prstGeom>
          <a:noFill/>
          <a:ln w="15240">
            <a:solidFill>
              <a:srgbClr val="2F72C4"/>
            </a:solidFill>
            <a:prstDash val="solid"/>
            <a:tailEnd type="triangle"/>
          </a:ln>
        </p:spPr>
      </p:sp>
      <p:sp>
        <p:nvSpPr>
          <p:cNvPr id="44" name="Shape 42"/>
          <p:cNvSpPr/>
          <p:nvPr/>
        </p:nvSpPr>
        <p:spPr>
          <a:xfrm>
            <a:off x="4320540" y="2834640"/>
            <a:ext cx="2007108" cy="804672"/>
          </a:xfrm>
          <a:prstGeom prst="roundRect">
            <a:avLst>
              <a:gd name="adj" fmla="val 6818"/>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45" name="Text 43"/>
          <p:cNvSpPr/>
          <p:nvPr/>
        </p:nvSpPr>
        <p:spPr>
          <a:xfrm>
            <a:off x="4411980" y="3090672"/>
            <a:ext cx="1824228"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Simpan fail</a:t>
            </a:r>
            <a:endParaRPr lang="en-US" sz="1150" dirty="0"/>
          </a:p>
        </p:txBody>
      </p:sp>
      <p:sp>
        <p:nvSpPr>
          <p:cNvPr id="46" name="Shape 44"/>
          <p:cNvSpPr/>
          <p:nvPr/>
        </p:nvSpPr>
        <p:spPr>
          <a:xfrm>
            <a:off x="6364224" y="3236976"/>
            <a:ext cx="201168" cy="0"/>
          </a:xfrm>
          <a:prstGeom prst="line">
            <a:avLst/>
          </a:prstGeom>
          <a:noFill/>
          <a:ln w="15240">
            <a:solidFill>
              <a:srgbClr val="2F72C4"/>
            </a:solidFill>
            <a:prstDash val="solid"/>
            <a:tailEnd type="triangle"/>
          </a:ln>
        </p:spPr>
      </p:sp>
      <p:sp>
        <p:nvSpPr>
          <p:cNvPr id="47" name="Shape 45"/>
          <p:cNvSpPr/>
          <p:nvPr/>
        </p:nvSpPr>
        <p:spPr>
          <a:xfrm>
            <a:off x="6583680" y="2834640"/>
            <a:ext cx="2007108" cy="804672"/>
          </a:xfrm>
          <a:prstGeom prst="roundRect">
            <a:avLst>
              <a:gd name="adj" fmla="val 6818"/>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48" name="Text 46"/>
          <p:cNvSpPr/>
          <p:nvPr/>
        </p:nvSpPr>
        <p:spPr>
          <a:xfrm>
            <a:off x="6675120" y="3090672"/>
            <a:ext cx="1824228"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Semak</a:t>
            </a:r>
            <a:endParaRPr lang="en-US" sz="1150" dirty="0"/>
          </a:p>
        </p:txBody>
      </p:sp>
      <p:sp>
        <p:nvSpPr>
          <p:cNvPr id="49" name="Shape 47"/>
          <p:cNvSpPr/>
          <p:nvPr/>
        </p:nvSpPr>
        <p:spPr>
          <a:xfrm>
            <a:off x="8627364" y="3236976"/>
            <a:ext cx="201168" cy="0"/>
          </a:xfrm>
          <a:prstGeom prst="line">
            <a:avLst/>
          </a:prstGeom>
          <a:noFill/>
          <a:ln w="15240">
            <a:solidFill>
              <a:srgbClr val="2F72C4"/>
            </a:solidFill>
            <a:prstDash val="solid"/>
            <a:tailEnd type="triangle"/>
          </a:ln>
        </p:spPr>
      </p:sp>
      <p:sp>
        <p:nvSpPr>
          <p:cNvPr id="50" name="Shape 48"/>
          <p:cNvSpPr/>
          <p:nvPr/>
        </p:nvSpPr>
        <p:spPr>
          <a:xfrm>
            <a:off x="8846820" y="2834640"/>
            <a:ext cx="2007108" cy="804672"/>
          </a:xfrm>
          <a:prstGeom prst="roundRect">
            <a:avLst>
              <a:gd name="adj" fmla="val 6818"/>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51" name="Text 49"/>
          <p:cNvSpPr/>
          <p:nvPr/>
        </p:nvSpPr>
        <p:spPr>
          <a:xfrm>
            <a:off x="8938260" y="3090672"/>
            <a:ext cx="1824228" cy="228600"/>
          </a:xfrm>
          <a:prstGeom prst="rect">
            <a:avLst/>
          </a:prstGeom>
          <a:noFill/>
          <a:ln/>
        </p:spPr>
        <p:txBody>
          <a:bodyPr wrap="square" lIns="0" tIns="0" rIns="0" bIns="0" rtlCol="0" anchor="ctr">
            <a:normAutofit/>
          </a:bodyPr>
          <a:lstStyle/>
          <a:p>
            <a:pPr algn="ctr" indent="0" marL="0">
              <a:buNone/>
            </a:pPr>
            <a:r>
              <a:rPr lang="en-US" sz="1150" dirty="0">
                <a:solidFill>
                  <a:srgbClr val="182427"/>
                </a:solidFill>
              </a:rPr>
              <a:t>Salin laporan</a:t>
            </a:r>
            <a:endParaRPr lang="en-US" sz="1150" dirty="0"/>
          </a:p>
        </p:txBody>
      </p:sp>
      <p:sp>
        <p:nvSpPr>
          <p:cNvPr id="52" name="Shape 50"/>
          <p:cNvSpPr/>
          <p:nvPr/>
        </p:nvSpPr>
        <p:spPr>
          <a:xfrm>
            <a:off x="640080" y="4215384"/>
            <a:ext cx="1188720" cy="329184"/>
          </a:xfrm>
          <a:prstGeom prst="roundRect">
            <a:avLst>
              <a:gd name="adj" fmla="val 22222"/>
            </a:avLst>
          </a:prstGeom>
          <a:solidFill>
            <a:srgbClr val="00A99D"/>
          </a:solidFill>
          <a:ln w="12700">
            <a:solidFill>
              <a:srgbClr val="00A99D"/>
            </a:solidFill>
            <a:prstDash val="solid"/>
          </a:ln>
        </p:spPr>
      </p:sp>
      <p:sp>
        <p:nvSpPr>
          <p:cNvPr id="53" name="Text 51"/>
          <p:cNvSpPr/>
          <p:nvPr/>
        </p:nvSpPr>
        <p:spPr>
          <a:xfrm>
            <a:off x="640080" y="4233672"/>
            <a:ext cx="1188720" cy="246888"/>
          </a:xfrm>
          <a:prstGeom prst="rect">
            <a:avLst/>
          </a:prstGeom>
          <a:noFill/>
          <a:ln/>
        </p:spPr>
        <p:txBody>
          <a:bodyPr wrap="square" lIns="0" tIns="0" rIns="0" bIns="0" rtlCol="0" anchor="ctr"/>
          <a:lstStyle/>
          <a:p>
            <a:pPr algn="ctr" indent="0" marL="0">
              <a:buNone/>
            </a:pPr>
            <a:r>
              <a:rPr lang="en-US" sz="950" b="1" dirty="0">
                <a:solidFill>
                  <a:srgbClr val="FFFFFF"/>
                </a:solidFill>
              </a:rPr>
              <a:t>PINTAR</a:t>
            </a:r>
            <a:endParaRPr lang="en-US" sz="950" dirty="0"/>
          </a:p>
        </p:txBody>
      </p:sp>
      <p:sp>
        <p:nvSpPr>
          <p:cNvPr id="54" name="Shape 52"/>
          <p:cNvSpPr/>
          <p:nvPr/>
        </p:nvSpPr>
        <p:spPr>
          <a:xfrm>
            <a:off x="2057400" y="4069080"/>
            <a:ext cx="1554480" cy="804672"/>
          </a:xfrm>
          <a:prstGeom prst="roundRect">
            <a:avLst>
              <a:gd name="adj" fmla="val 6818"/>
            </a:avLst>
          </a:prstGeom>
          <a:solidFill>
            <a:srgbClr val="E2F8F3"/>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55" name="Text 53"/>
          <p:cNvSpPr/>
          <p:nvPr/>
        </p:nvSpPr>
        <p:spPr>
          <a:xfrm>
            <a:off x="2148840" y="4325112"/>
            <a:ext cx="1371600" cy="228600"/>
          </a:xfrm>
          <a:prstGeom prst="rect">
            <a:avLst/>
          </a:prstGeom>
          <a:noFill/>
          <a:ln/>
        </p:spPr>
        <p:txBody>
          <a:bodyPr wrap="square" lIns="0" tIns="0" rIns="0" bIns="0" rtlCol="0" anchor="ctr">
            <a:normAutofit/>
          </a:bodyPr>
          <a:lstStyle/>
          <a:p>
            <a:pPr algn="ctr" indent="0" marL="0">
              <a:buNone/>
            </a:pPr>
            <a:r>
              <a:rPr lang="en-US" sz="1150" b="1" dirty="0">
                <a:solidFill>
                  <a:srgbClr val="182427"/>
                </a:solidFill>
              </a:rPr>
              <a:t>Isi di lokasi</a:t>
            </a:r>
            <a:endParaRPr lang="en-US" sz="1150" dirty="0"/>
          </a:p>
        </p:txBody>
      </p:sp>
      <p:sp>
        <p:nvSpPr>
          <p:cNvPr id="56" name="Shape 54"/>
          <p:cNvSpPr/>
          <p:nvPr/>
        </p:nvSpPr>
        <p:spPr>
          <a:xfrm>
            <a:off x="3648456" y="4471416"/>
            <a:ext cx="201168" cy="0"/>
          </a:xfrm>
          <a:prstGeom prst="line">
            <a:avLst/>
          </a:prstGeom>
          <a:noFill/>
          <a:ln w="15240">
            <a:solidFill>
              <a:srgbClr val="00A99D"/>
            </a:solidFill>
            <a:prstDash val="solid"/>
            <a:tailEnd type="triangle"/>
          </a:ln>
        </p:spPr>
      </p:sp>
      <p:sp>
        <p:nvSpPr>
          <p:cNvPr id="57" name="Shape 55"/>
          <p:cNvSpPr/>
          <p:nvPr/>
        </p:nvSpPr>
        <p:spPr>
          <a:xfrm>
            <a:off x="3867912" y="4069080"/>
            <a:ext cx="1554480" cy="804672"/>
          </a:xfrm>
          <a:prstGeom prst="roundRect">
            <a:avLst>
              <a:gd name="adj" fmla="val 6818"/>
            </a:avLst>
          </a:prstGeom>
          <a:solidFill>
            <a:srgbClr val="E2F8F3"/>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58" name="Text 56"/>
          <p:cNvSpPr/>
          <p:nvPr/>
        </p:nvSpPr>
        <p:spPr>
          <a:xfrm>
            <a:off x="3959352" y="4325112"/>
            <a:ext cx="1371600" cy="228600"/>
          </a:xfrm>
          <a:prstGeom prst="rect">
            <a:avLst/>
          </a:prstGeom>
          <a:noFill/>
          <a:ln/>
        </p:spPr>
        <p:txBody>
          <a:bodyPr wrap="square" lIns="0" tIns="0" rIns="0" bIns="0" rtlCol="0" anchor="ctr">
            <a:normAutofit/>
          </a:bodyPr>
          <a:lstStyle/>
          <a:p>
            <a:pPr algn="ctr" indent="0" marL="0">
              <a:buNone/>
            </a:pPr>
            <a:r>
              <a:rPr lang="en-US" sz="1150" b="1" dirty="0">
                <a:solidFill>
                  <a:srgbClr val="182427"/>
                </a:solidFill>
              </a:rPr>
              <a:t>Validasi</a:t>
            </a:r>
            <a:endParaRPr lang="en-US" sz="1150" dirty="0"/>
          </a:p>
        </p:txBody>
      </p:sp>
      <p:sp>
        <p:nvSpPr>
          <p:cNvPr id="59" name="Shape 57"/>
          <p:cNvSpPr/>
          <p:nvPr/>
        </p:nvSpPr>
        <p:spPr>
          <a:xfrm>
            <a:off x="5458968" y="4471416"/>
            <a:ext cx="201168" cy="0"/>
          </a:xfrm>
          <a:prstGeom prst="line">
            <a:avLst/>
          </a:prstGeom>
          <a:noFill/>
          <a:ln w="15240">
            <a:solidFill>
              <a:srgbClr val="00A99D"/>
            </a:solidFill>
            <a:prstDash val="solid"/>
            <a:tailEnd type="triangle"/>
          </a:ln>
        </p:spPr>
      </p:sp>
      <p:sp>
        <p:nvSpPr>
          <p:cNvPr id="60" name="Shape 58"/>
          <p:cNvSpPr/>
          <p:nvPr/>
        </p:nvSpPr>
        <p:spPr>
          <a:xfrm>
            <a:off x="5678424" y="4069080"/>
            <a:ext cx="1554480" cy="804672"/>
          </a:xfrm>
          <a:prstGeom prst="roundRect">
            <a:avLst>
              <a:gd name="adj" fmla="val 6818"/>
            </a:avLst>
          </a:prstGeom>
          <a:solidFill>
            <a:srgbClr val="E2F8F3"/>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61" name="Text 59"/>
          <p:cNvSpPr/>
          <p:nvPr/>
        </p:nvSpPr>
        <p:spPr>
          <a:xfrm>
            <a:off x="5769864" y="4325112"/>
            <a:ext cx="1371600" cy="228600"/>
          </a:xfrm>
          <a:prstGeom prst="rect">
            <a:avLst/>
          </a:prstGeom>
          <a:noFill/>
          <a:ln/>
        </p:spPr>
        <p:txBody>
          <a:bodyPr wrap="square" lIns="0" tIns="0" rIns="0" bIns="0" rtlCol="0" anchor="ctr">
            <a:normAutofit/>
          </a:bodyPr>
          <a:lstStyle/>
          <a:p>
            <a:pPr algn="ctr" indent="0" marL="0">
              <a:buNone/>
            </a:pPr>
            <a:r>
              <a:rPr lang="en-US" sz="1150" b="1" dirty="0">
                <a:solidFill>
                  <a:srgbClr val="182427"/>
                </a:solidFill>
              </a:rPr>
              <a:t>Jana ID</a:t>
            </a:r>
            <a:endParaRPr lang="en-US" sz="1150" dirty="0"/>
          </a:p>
        </p:txBody>
      </p:sp>
      <p:sp>
        <p:nvSpPr>
          <p:cNvPr id="62" name="Shape 60"/>
          <p:cNvSpPr/>
          <p:nvPr/>
        </p:nvSpPr>
        <p:spPr>
          <a:xfrm>
            <a:off x="7269480" y="4471416"/>
            <a:ext cx="201168" cy="0"/>
          </a:xfrm>
          <a:prstGeom prst="line">
            <a:avLst/>
          </a:prstGeom>
          <a:noFill/>
          <a:ln w="15240">
            <a:solidFill>
              <a:srgbClr val="00A99D"/>
            </a:solidFill>
            <a:prstDash val="solid"/>
            <a:tailEnd type="triangle"/>
          </a:ln>
        </p:spPr>
      </p:sp>
      <p:sp>
        <p:nvSpPr>
          <p:cNvPr id="63" name="Shape 61"/>
          <p:cNvSpPr/>
          <p:nvPr/>
        </p:nvSpPr>
        <p:spPr>
          <a:xfrm>
            <a:off x="7488936" y="4069080"/>
            <a:ext cx="1554480" cy="804672"/>
          </a:xfrm>
          <a:prstGeom prst="roundRect">
            <a:avLst>
              <a:gd name="adj" fmla="val 6818"/>
            </a:avLst>
          </a:prstGeom>
          <a:solidFill>
            <a:srgbClr val="E2F8F3"/>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64" name="Text 62"/>
          <p:cNvSpPr/>
          <p:nvPr/>
        </p:nvSpPr>
        <p:spPr>
          <a:xfrm>
            <a:off x="7580376" y="4325112"/>
            <a:ext cx="1371600" cy="228600"/>
          </a:xfrm>
          <a:prstGeom prst="rect">
            <a:avLst/>
          </a:prstGeom>
          <a:noFill/>
          <a:ln/>
        </p:spPr>
        <p:txBody>
          <a:bodyPr wrap="square" lIns="0" tIns="0" rIns="0" bIns="0" rtlCol="0" anchor="ctr">
            <a:normAutofit/>
          </a:bodyPr>
          <a:lstStyle/>
          <a:p>
            <a:pPr algn="ctr" indent="0" marL="0">
              <a:buNone/>
            </a:pPr>
            <a:r>
              <a:rPr lang="en-US" sz="1150" b="1" dirty="0">
                <a:solidFill>
                  <a:srgbClr val="182427"/>
                </a:solidFill>
              </a:rPr>
              <a:t>Paut lampiran</a:t>
            </a:r>
            <a:endParaRPr lang="en-US" sz="1150" dirty="0"/>
          </a:p>
        </p:txBody>
      </p:sp>
      <p:sp>
        <p:nvSpPr>
          <p:cNvPr id="65" name="Shape 63"/>
          <p:cNvSpPr/>
          <p:nvPr/>
        </p:nvSpPr>
        <p:spPr>
          <a:xfrm>
            <a:off x="9079992" y="4471416"/>
            <a:ext cx="201168" cy="0"/>
          </a:xfrm>
          <a:prstGeom prst="line">
            <a:avLst/>
          </a:prstGeom>
          <a:noFill/>
          <a:ln w="15240">
            <a:solidFill>
              <a:srgbClr val="00A99D"/>
            </a:solidFill>
            <a:prstDash val="solid"/>
            <a:tailEnd type="triangle"/>
          </a:ln>
        </p:spPr>
      </p:sp>
      <p:sp>
        <p:nvSpPr>
          <p:cNvPr id="66" name="Shape 64"/>
          <p:cNvSpPr/>
          <p:nvPr/>
        </p:nvSpPr>
        <p:spPr>
          <a:xfrm>
            <a:off x="9299448" y="4069080"/>
            <a:ext cx="1554480" cy="804672"/>
          </a:xfrm>
          <a:prstGeom prst="roundRect">
            <a:avLst>
              <a:gd name="adj" fmla="val 6818"/>
            </a:avLst>
          </a:prstGeom>
          <a:solidFill>
            <a:srgbClr val="E2F8F3"/>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67" name="Text 65"/>
          <p:cNvSpPr/>
          <p:nvPr/>
        </p:nvSpPr>
        <p:spPr>
          <a:xfrm>
            <a:off x="9390888" y="4325112"/>
            <a:ext cx="1371600" cy="228600"/>
          </a:xfrm>
          <a:prstGeom prst="rect">
            <a:avLst/>
          </a:prstGeom>
          <a:noFill/>
          <a:ln/>
        </p:spPr>
        <p:txBody>
          <a:bodyPr wrap="square" lIns="0" tIns="0" rIns="0" bIns="0" rtlCol="0" anchor="ctr">
            <a:normAutofit/>
          </a:bodyPr>
          <a:lstStyle/>
          <a:p>
            <a:pPr algn="ctr" indent="0" marL="0">
              <a:buNone/>
            </a:pPr>
            <a:r>
              <a:rPr lang="en-US" sz="1150" b="1" dirty="0">
                <a:solidFill>
                  <a:srgbClr val="182427"/>
                </a:solidFill>
              </a:rPr>
              <a:t>Pantau</a:t>
            </a:r>
            <a:endParaRPr lang="en-US" sz="1150" dirty="0"/>
          </a:p>
        </p:txBody>
      </p:sp>
      <p:sp>
        <p:nvSpPr>
          <p:cNvPr id="68" name="Shape 66"/>
          <p:cNvSpPr/>
          <p:nvPr/>
        </p:nvSpPr>
        <p:spPr>
          <a:xfrm>
            <a:off x="2057400" y="5303520"/>
            <a:ext cx="9098280" cy="530352"/>
          </a:xfrm>
          <a:prstGeom prst="roundRect">
            <a:avLst>
              <a:gd name="adj" fmla="val 8621"/>
            </a:avLst>
          </a:prstGeom>
          <a:solidFill>
            <a:srgbClr val="173440"/>
          </a:solidFill>
          <a:ln w="12700">
            <a:solidFill>
              <a:srgbClr val="173440"/>
            </a:solidFill>
            <a:prstDash val="solid"/>
          </a:ln>
        </p:spPr>
      </p:sp>
      <p:sp>
        <p:nvSpPr>
          <p:cNvPr id="69" name="Text 67"/>
          <p:cNvSpPr/>
          <p:nvPr/>
        </p:nvSpPr>
        <p:spPr>
          <a:xfrm>
            <a:off x="2286000" y="5468112"/>
            <a:ext cx="8641080" cy="219456"/>
          </a:xfrm>
          <a:prstGeom prst="rect">
            <a:avLst/>
          </a:prstGeom>
          <a:noFill/>
          <a:ln/>
        </p:spPr>
        <p:txBody>
          <a:bodyPr wrap="square" lIns="0" tIns="0" rIns="0" bIns="0" rtlCol="0" anchor="ctr"/>
          <a:lstStyle/>
          <a:p>
            <a:pPr algn="ctr" indent="0" marL="0">
              <a:buNone/>
            </a:pPr>
            <a:r>
              <a:rPr lang="en-US" sz="1350" b="1" dirty="0">
                <a:solidFill>
                  <a:srgbClr val="FFFFFF"/>
                </a:solidFill>
              </a:rPr>
              <a:t>Prinsip: kumpul data di punca dan kurangkan pemindahan yang tidak menambah nilai.</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MASALAH</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08</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Lima kebocoran produktiviti</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Di manakah masa, kualiti atau kebolehkesanan hilang?</a:t>
            </a:r>
            <a:endParaRPr lang="en-US" sz="1250" dirty="0"/>
          </a:p>
        </p:txBody>
      </p:sp>
      <p:sp>
        <p:nvSpPr>
          <p:cNvPr id="23" name="Shape 21"/>
          <p:cNvSpPr/>
          <p:nvPr/>
        </p:nvSpPr>
        <p:spPr>
          <a:xfrm>
            <a:off x="594360" y="1828800"/>
            <a:ext cx="1993392" cy="3218688"/>
          </a:xfrm>
          <a:prstGeom prst="roundRect">
            <a:avLst>
              <a:gd name="adj" fmla="val 2752"/>
            </a:avLst>
          </a:prstGeom>
          <a:solidFill>
            <a:srgbClr val="173B40"/>
          </a:solidFill>
          <a:ln w="12700">
            <a:solidFill>
              <a:srgbClr val="45676D"/>
            </a:solidFill>
            <a:prstDash val="solid"/>
          </a:ln>
        </p:spPr>
      </p:sp>
      <p:sp>
        <p:nvSpPr>
          <p:cNvPr id="24" name="Text 22"/>
          <p:cNvSpPr/>
          <p:nvPr/>
        </p:nvSpPr>
        <p:spPr>
          <a:xfrm>
            <a:off x="758952" y="2057400"/>
            <a:ext cx="502920" cy="347472"/>
          </a:xfrm>
          <a:prstGeom prst="rect">
            <a:avLst/>
          </a:prstGeom>
          <a:noFill/>
          <a:ln/>
        </p:spPr>
        <p:txBody>
          <a:bodyPr wrap="square" lIns="0" tIns="0" rIns="0" bIns="0" rtlCol="0" anchor="ctr"/>
          <a:lstStyle/>
          <a:p>
            <a:pPr indent="0" marL="0">
              <a:buNone/>
            </a:pPr>
            <a:r>
              <a:rPr lang="en-US" sz="1400" b="1" dirty="0">
                <a:solidFill>
                  <a:srgbClr val="00A99D"/>
                </a:solidFill>
              </a:rPr>
              <a:t>01</a:t>
            </a:r>
            <a:endParaRPr lang="en-US" sz="1400" dirty="0"/>
          </a:p>
        </p:txBody>
      </p:sp>
      <p:sp>
        <p:nvSpPr>
          <p:cNvPr id="25" name="Text 23"/>
          <p:cNvSpPr/>
          <p:nvPr/>
        </p:nvSpPr>
        <p:spPr>
          <a:xfrm>
            <a:off x="758952" y="2688336"/>
            <a:ext cx="1664208" cy="777240"/>
          </a:xfrm>
          <a:prstGeom prst="rect">
            <a:avLst/>
          </a:prstGeom>
          <a:noFill/>
          <a:ln/>
        </p:spPr>
        <p:txBody>
          <a:bodyPr wrap="square" lIns="0" tIns="0" rIns="0" bIns="0" rtlCol="0" anchor="ctr">
            <a:normAutofit/>
          </a:bodyPr>
          <a:lstStyle/>
          <a:p>
            <a:pPr indent="0" marL="0">
              <a:buNone/>
            </a:pPr>
            <a:r>
              <a:rPr lang="en-US" sz="1600" b="1" dirty="0">
                <a:solidFill>
                  <a:srgbClr val="FFFFFF"/>
                </a:solidFill>
              </a:rPr>
              <a:t>Masuk data berulang</a:t>
            </a:r>
            <a:endParaRPr lang="en-US" sz="1600" dirty="0"/>
          </a:p>
        </p:txBody>
      </p:sp>
      <p:sp>
        <p:nvSpPr>
          <p:cNvPr id="26" name="Text 24"/>
          <p:cNvSpPr/>
          <p:nvPr/>
        </p:nvSpPr>
        <p:spPr>
          <a:xfrm>
            <a:off x="758952" y="3840480"/>
            <a:ext cx="1664208" cy="841248"/>
          </a:xfrm>
          <a:prstGeom prst="rect">
            <a:avLst/>
          </a:prstGeom>
          <a:noFill/>
          <a:ln/>
        </p:spPr>
        <p:txBody>
          <a:bodyPr wrap="square" lIns="0" tIns="0" rIns="0" bIns="0" rtlCol="0" anchor="ctr">
            <a:normAutofit/>
          </a:bodyPr>
          <a:lstStyle/>
          <a:p>
            <a:pPr indent="0" marL="0">
              <a:buNone/>
            </a:pPr>
            <a:r>
              <a:rPr lang="en-US" sz="1120" dirty="0">
                <a:solidFill>
                  <a:srgbClr val="BFD0D2"/>
                </a:solidFill>
              </a:rPr>
              <a:t>Maklumat sama dipindahkan ke beberapa tempat.</a:t>
            </a:r>
            <a:endParaRPr lang="en-US" sz="1120" dirty="0"/>
          </a:p>
        </p:txBody>
      </p:sp>
      <p:sp>
        <p:nvSpPr>
          <p:cNvPr id="27" name="Shape 25"/>
          <p:cNvSpPr/>
          <p:nvPr/>
        </p:nvSpPr>
        <p:spPr>
          <a:xfrm>
            <a:off x="2880360" y="1828800"/>
            <a:ext cx="1993392" cy="3218688"/>
          </a:xfrm>
          <a:prstGeom prst="roundRect">
            <a:avLst>
              <a:gd name="adj" fmla="val 2752"/>
            </a:avLst>
          </a:prstGeom>
          <a:solidFill>
            <a:srgbClr val="173B40"/>
          </a:solidFill>
          <a:ln w="12700">
            <a:solidFill>
              <a:srgbClr val="45676D"/>
            </a:solidFill>
            <a:prstDash val="solid"/>
          </a:ln>
        </p:spPr>
      </p:sp>
      <p:sp>
        <p:nvSpPr>
          <p:cNvPr id="28" name="Text 26"/>
          <p:cNvSpPr/>
          <p:nvPr/>
        </p:nvSpPr>
        <p:spPr>
          <a:xfrm>
            <a:off x="3044952" y="2057400"/>
            <a:ext cx="502920" cy="347472"/>
          </a:xfrm>
          <a:prstGeom prst="rect">
            <a:avLst/>
          </a:prstGeom>
          <a:noFill/>
          <a:ln/>
        </p:spPr>
        <p:txBody>
          <a:bodyPr wrap="square" lIns="0" tIns="0" rIns="0" bIns="0" rtlCol="0" anchor="ctr"/>
          <a:lstStyle/>
          <a:p>
            <a:pPr indent="0" marL="0">
              <a:buNone/>
            </a:pPr>
            <a:r>
              <a:rPr lang="en-US" sz="1400" b="1" dirty="0">
                <a:solidFill>
                  <a:srgbClr val="00A99D"/>
                </a:solidFill>
              </a:rPr>
              <a:t>02</a:t>
            </a:r>
            <a:endParaRPr lang="en-US" sz="1400" dirty="0"/>
          </a:p>
        </p:txBody>
      </p:sp>
      <p:sp>
        <p:nvSpPr>
          <p:cNvPr id="29" name="Text 27"/>
          <p:cNvSpPr/>
          <p:nvPr/>
        </p:nvSpPr>
        <p:spPr>
          <a:xfrm>
            <a:off x="3044952" y="2688336"/>
            <a:ext cx="1664208" cy="777240"/>
          </a:xfrm>
          <a:prstGeom prst="rect">
            <a:avLst/>
          </a:prstGeom>
          <a:noFill/>
          <a:ln/>
        </p:spPr>
        <p:txBody>
          <a:bodyPr wrap="square" lIns="0" tIns="0" rIns="0" bIns="0" rtlCol="0" anchor="ctr">
            <a:normAutofit/>
          </a:bodyPr>
          <a:lstStyle/>
          <a:p>
            <a:pPr indent="0" marL="0">
              <a:buNone/>
            </a:pPr>
            <a:r>
              <a:rPr lang="en-US" sz="1600" b="1" dirty="0">
                <a:solidFill>
                  <a:srgbClr val="FFFFFF"/>
                </a:solidFill>
              </a:rPr>
              <a:t>Cari fail atau versi</a:t>
            </a:r>
            <a:endParaRPr lang="en-US" sz="1600" dirty="0"/>
          </a:p>
        </p:txBody>
      </p:sp>
      <p:sp>
        <p:nvSpPr>
          <p:cNvPr id="30" name="Text 28"/>
          <p:cNvSpPr/>
          <p:nvPr/>
        </p:nvSpPr>
        <p:spPr>
          <a:xfrm>
            <a:off x="3044952" y="3840480"/>
            <a:ext cx="1664208" cy="841248"/>
          </a:xfrm>
          <a:prstGeom prst="rect">
            <a:avLst/>
          </a:prstGeom>
          <a:noFill/>
          <a:ln/>
        </p:spPr>
        <p:txBody>
          <a:bodyPr wrap="square" lIns="0" tIns="0" rIns="0" bIns="0" rtlCol="0" anchor="ctr">
            <a:normAutofit/>
          </a:bodyPr>
          <a:lstStyle/>
          <a:p>
            <a:pPr indent="0" marL="0">
              <a:buNone/>
            </a:pPr>
            <a:r>
              <a:rPr lang="en-US" sz="1120" dirty="0">
                <a:solidFill>
                  <a:srgbClr val="BFD0D2"/>
                </a:solidFill>
              </a:rPr>
              <a:t>Masa hilang untuk menemukan rujukan yang betul.</a:t>
            </a:r>
            <a:endParaRPr lang="en-US" sz="1120" dirty="0"/>
          </a:p>
        </p:txBody>
      </p:sp>
      <p:sp>
        <p:nvSpPr>
          <p:cNvPr id="31" name="Shape 29"/>
          <p:cNvSpPr/>
          <p:nvPr/>
        </p:nvSpPr>
        <p:spPr>
          <a:xfrm>
            <a:off x="5166360" y="1828800"/>
            <a:ext cx="1993392" cy="3218688"/>
          </a:xfrm>
          <a:prstGeom prst="roundRect">
            <a:avLst>
              <a:gd name="adj" fmla="val 2752"/>
            </a:avLst>
          </a:prstGeom>
          <a:solidFill>
            <a:srgbClr val="173B40"/>
          </a:solidFill>
          <a:ln w="12700">
            <a:solidFill>
              <a:srgbClr val="45676D"/>
            </a:solidFill>
            <a:prstDash val="solid"/>
          </a:ln>
        </p:spPr>
      </p:sp>
      <p:sp>
        <p:nvSpPr>
          <p:cNvPr id="32" name="Text 30"/>
          <p:cNvSpPr/>
          <p:nvPr/>
        </p:nvSpPr>
        <p:spPr>
          <a:xfrm>
            <a:off x="5330952" y="2057400"/>
            <a:ext cx="502920" cy="347472"/>
          </a:xfrm>
          <a:prstGeom prst="rect">
            <a:avLst/>
          </a:prstGeom>
          <a:noFill/>
          <a:ln/>
        </p:spPr>
        <p:txBody>
          <a:bodyPr wrap="square" lIns="0" tIns="0" rIns="0" bIns="0" rtlCol="0" anchor="ctr"/>
          <a:lstStyle/>
          <a:p>
            <a:pPr indent="0" marL="0">
              <a:buNone/>
            </a:pPr>
            <a:r>
              <a:rPr lang="en-US" sz="1400" b="1" dirty="0">
                <a:solidFill>
                  <a:srgbClr val="00A99D"/>
                </a:solidFill>
              </a:rPr>
              <a:t>03</a:t>
            </a:r>
            <a:endParaRPr lang="en-US" sz="1400" dirty="0"/>
          </a:p>
        </p:txBody>
      </p:sp>
      <p:sp>
        <p:nvSpPr>
          <p:cNvPr id="33" name="Text 31"/>
          <p:cNvSpPr/>
          <p:nvPr/>
        </p:nvSpPr>
        <p:spPr>
          <a:xfrm>
            <a:off x="5330952" y="2688336"/>
            <a:ext cx="1664208" cy="777240"/>
          </a:xfrm>
          <a:prstGeom prst="rect">
            <a:avLst/>
          </a:prstGeom>
          <a:noFill/>
          <a:ln/>
        </p:spPr>
        <p:txBody>
          <a:bodyPr wrap="square" lIns="0" tIns="0" rIns="0" bIns="0" rtlCol="0" anchor="ctr">
            <a:normAutofit/>
          </a:bodyPr>
          <a:lstStyle/>
          <a:p>
            <a:pPr indent="0" marL="0">
              <a:buNone/>
            </a:pPr>
            <a:r>
              <a:rPr lang="en-US" sz="1600" b="1" dirty="0">
                <a:solidFill>
                  <a:srgbClr val="FFFFFF"/>
                </a:solidFill>
              </a:rPr>
              <a:t>Tunggu semakan</a:t>
            </a:r>
            <a:endParaRPr lang="en-US" sz="1600" dirty="0"/>
          </a:p>
        </p:txBody>
      </p:sp>
      <p:sp>
        <p:nvSpPr>
          <p:cNvPr id="34" name="Text 32"/>
          <p:cNvSpPr/>
          <p:nvPr/>
        </p:nvSpPr>
        <p:spPr>
          <a:xfrm>
            <a:off x="5330952" y="3840480"/>
            <a:ext cx="1664208" cy="841248"/>
          </a:xfrm>
          <a:prstGeom prst="rect">
            <a:avLst/>
          </a:prstGeom>
          <a:noFill/>
          <a:ln/>
        </p:spPr>
        <p:txBody>
          <a:bodyPr wrap="square" lIns="0" tIns="0" rIns="0" bIns="0" rtlCol="0" anchor="ctr">
            <a:normAutofit/>
          </a:bodyPr>
          <a:lstStyle/>
          <a:p>
            <a:pPr indent="0" marL="0">
              <a:buNone/>
            </a:pPr>
            <a:r>
              <a:rPr lang="en-US" sz="1120" dirty="0">
                <a:solidFill>
                  <a:srgbClr val="BFD0D2"/>
                </a:solidFill>
              </a:rPr>
              <a:t>Proses terhenti tanpa status yang jelas.</a:t>
            </a:r>
            <a:endParaRPr lang="en-US" sz="1120" dirty="0"/>
          </a:p>
        </p:txBody>
      </p:sp>
      <p:sp>
        <p:nvSpPr>
          <p:cNvPr id="35" name="Shape 33"/>
          <p:cNvSpPr/>
          <p:nvPr/>
        </p:nvSpPr>
        <p:spPr>
          <a:xfrm>
            <a:off x="7452360" y="1828800"/>
            <a:ext cx="1993392" cy="3218688"/>
          </a:xfrm>
          <a:prstGeom prst="roundRect">
            <a:avLst>
              <a:gd name="adj" fmla="val 2752"/>
            </a:avLst>
          </a:prstGeom>
          <a:solidFill>
            <a:srgbClr val="173B40"/>
          </a:solidFill>
          <a:ln w="12700">
            <a:solidFill>
              <a:srgbClr val="45676D"/>
            </a:solidFill>
            <a:prstDash val="solid"/>
          </a:ln>
        </p:spPr>
      </p:sp>
      <p:sp>
        <p:nvSpPr>
          <p:cNvPr id="36" name="Text 34"/>
          <p:cNvSpPr/>
          <p:nvPr/>
        </p:nvSpPr>
        <p:spPr>
          <a:xfrm>
            <a:off x="7616952" y="2057400"/>
            <a:ext cx="502920" cy="347472"/>
          </a:xfrm>
          <a:prstGeom prst="rect">
            <a:avLst/>
          </a:prstGeom>
          <a:noFill/>
          <a:ln/>
        </p:spPr>
        <p:txBody>
          <a:bodyPr wrap="square" lIns="0" tIns="0" rIns="0" bIns="0" rtlCol="0" anchor="ctr"/>
          <a:lstStyle/>
          <a:p>
            <a:pPr indent="0" marL="0">
              <a:buNone/>
            </a:pPr>
            <a:r>
              <a:rPr lang="en-US" sz="1400" b="1" dirty="0">
                <a:solidFill>
                  <a:srgbClr val="00A99D"/>
                </a:solidFill>
              </a:rPr>
              <a:t>04</a:t>
            </a:r>
            <a:endParaRPr lang="en-US" sz="1400" dirty="0"/>
          </a:p>
        </p:txBody>
      </p:sp>
      <p:sp>
        <p:nvSpPr>
          <p:cNvPr id="37" name="Text 35"/>
          <p:cNvSpPr/>
          <p:nvPr/>
        </p:nvSpPr>
        <p:spPr>
          <a:xfrm>
            <a:off x="7616952" y="2688336"/>
            <a:ext cx="1664208" cy="777240"/>
          </a:xfrm>
          <a:prstGeom prst="rect">
            <a:avLst/>
          </a:prstGeom>
          <a:noFill/>
          <a:ln/>
        </p:spPr>
        <p:txBody>
          <a:bodyPr wrap="square" lIns="0" tIns="0" rIns="0" bIns="0" rtlCol="0" anchor="ctr">
            <a:normAutofit/>
          </a:bodyPr>
          <a:lstStyle/>
          <a:p>
            <a:pPr indent="0" marL="0">
              <a:buNone/>
            </a:pPr>
            <a:r>
              <a:rPr lang="en-US" sz="1600" b="1" dirty="0">
                <a:solidFill>
                  <a:srgbClr val="FFFFFF"/>
                </a:solidFill>
              </a:rPr>
              <a:t>Kira dan format berulang</a:t>
            </a:r>
            <a:endParaRPr lang="en-US" sz="1600" dirty="0"/>
          </a:p>
        </p:txBody>
      </p:sp>
      <p:sp>
        <p:nvSpPr>
          <p:cNvPr id="38" name="Text 36"/>
          <p:cNvSpPr/>
          <p:nvPr/>
        </p:nvSpPr>
        <p:spPr>
          <a:xfrm>
            <a:off x="7616952" y="3840480"/>
            <a:ext cx="1664208" cy="841248"/>
          </a:xfrm>
          <a:prstGeom prst="rect">
            <a:avLst/>
          </a:prstGeom>
          <a:noFill/>
          <a:ln/>
        </p:spPr>
        <p:txBody>
          <a:bodyPr wrap="square" lIns="0" tIns="0" rIns="0" bIns="0" rtlCol="0" anchor="ctr">
            <a:normAutofit/>
          </a:bodyPr>
          <a:lstStyle/>
          <a:p>
            <a:pPr indent="0" marL="0">
              <a:buNone/>
            </a:pPr>
            <a:r>
              <a:rPr lang="en-US" sz="1120" dirty="0">
                <a:solidFill>
                  <a:srgbClr val="BFD0D2"/>
                </a:solidFill>
              </a:rPr>
              <a:t>Laporan dibina semula daripada sumber berasingan.</a:t>
            </a:r>
            <a:endParaRPr lang="en-US" sz="1120" dirty="0"/>
          </a:p>
        </p:txBody>
      </p:sp>
      <p:sp>
        <p:nvSpPr>
          <p:cNvPr id="39" name="Shape 37"/>
          <p:cNvSpPr/>
          <p:nvPr/>
        </p:nvSpPr>
        <p:spPr>
          <a:xfrm>
            <a:off x="9738360" y="1828800"/>
            <a:ext cx="1993392" cy="3218688"/>
          </a:xfrm>
          <a:prstGeom prst="roundRect">
            <a:avLst>
              <a:gd name="adj" fmla="val 2752"/>
            </a:avLst>
          </a:prstGeom>
          <a:solidFill>
            <a:srgbClr val="173B40"/>
          </a:solidFill>
          <a:ln w="25400">
            <a:solidFill>
              <a:srgbClr val="CDFF3F"/>
            </a:solidFill>
            <a:prstDash val="solid"/>
          </a:ln>
        </p:spPr>
      </p:sp>
      <p:sp>
        <p:nvSpPr>
          <p:cNvPr id="40" name="Text 38"/>
          <p:cNvSpPr/>
          <p:nvPr/>
        </p:nvSpPr>
        <p:spPr>
          <a:xfrm>
            <a:off x="9902952" y="2057400"/>
            <a:ext cx="502920" cy="347472"/>
          </a:xfrm>
          <a:prstGeom prst="rect">
            <a:avLst/>
          </a:prstGeom>
          <a:noFill/>
          <a:ln/>
        </p:spPr>
        <p:txBody>
          <a:bodyPr wrap="square" lIns="0" tIns="0" rIns="0" bIns="0" rtlCol="0" anchor="ctr"/>
          <a:lstStyle/>
          <a:p>
            <a:pPr indent="0" marL="0">
              <a:buNone/>
            </a:pPr>
            <a:r>
              <a:rPr lang="en-US" sz="1400" b="1" dirty="0">
                <a:solidFill>
                  <a:srgbClr val="CDFF3F"/>
                </a:solidFill>
              </a:rPr>
              <a:t>05</a:t>
            </a:r>
            <a:endParaRPr lang="en-US" sz="1400" dirty="0"/>
          </a:p>
        </p:txBody>
      </p:sp>
      <p:sp>
        <p:nvSpPr>
          <p:cNvPr id="41" name="Text 39"/>
          <p:cNvSpPr/>
          <p:nvPr/>
        </p:nvSpPr>
        <p:spPr>
          <a:xfrm>
            <a:off x="9902952" y="2688336"/>
            <a:ext cx="1664208" cy="777240"/>
          </a:xfrm>
          <a:prstGeom prst="rect">
            <a:avLst/>
          </a:prstGeom>
          <a:noFill/>
          <a:ln/>
        </p:spPr>
        <p:txBody>
          <a:bodyPr wrap="square" lIns="0" tIns="0" rIns="0" bIns="0" rtlCol="0" anchor="ctr">
            <a:normAutofit/>
          </a:bodyPr>
          <a:lstStyle/>
          <a:p>
            <a:pPr indent="0" marL="0">
              <a:buNone/>
            </a:pPr>
            <a:r>
              <a:rPr lang="en-US" sz="1600" b="1" dirty="0">
                <a:solidFill>
                  <a:srgbClr val="FFFFFF"/>
                </a:solidFill>
              </a:rPr>
              <a:t>Ralat dikesan terlalu lewat</a:t>
            </a:r>
            <a:endParaRPr lang="en-US" sz="1600" dirty="0"/>
          </a:p>
        </p:txBody>
      </p:sp>
      <p:sp>
        <p:nvSpPr>
          <p:cNvPr id="42" name="Text 40"/>
          <p:cNvSpPr/>
          <p:nvPr/>
        </p:nvSpPr>
        <p:spPr>
          <a:xfrm>
            <a:off x="9902952" y="3840480"/>
            <a:ext cx="1664208" cy="841248"/>
          </a:xfrm>
          <a:prstGeom prst="rect">
            <a:avLst/>
          </a:prstGeom>
          <a:noFill/>
          <a:ln/>
        </p:spPr>
        <p:txBody>
          <a:bodyPr wrap="square" lIns="0" tIns="0" rIns="0" bIns="0" rtlCol="0" anchor="ctr">
            <a:normAutofit/>
          </a:bodyPr>
          <a:lstStyle/>
          <a:p>
            <a:pPr indent="0" marL="0">
              <a:buNone/>
            </a:pPr>
            <a:r>
              <a:rPr lang="en-US" sz="1120" dirty="0">
                <a:solidFill>
                  <a:srgbClr val="BFD0D2"/>
                </a:solidFill>
              </a:rPr>
              <a:t>Kesilapan hanya ditemui di penghujung proses.</a:t>
            </a:r>
            <a:endParaRPr lang="en-US" sz="1120" dirty="0"/>
          </a:p>
        </p:txBody>
      </p:sp>
      <p:sp>
        <p:nvSpPr>
          <p:cNvPr id="43" name="Text 41"/>
          <p:cNvSpPr/>
          <p:nvPr/>
        </p:nvSpPr>
        <p:spPr>
          <a:xfrm>
            <a:off x="594360" y="5596128"/>
            <a:ext cx="10972800" cy="347472"/>
          </a:xfrm>
          <a:prstGeom prst="rect">
            <a:avLst/>
          </a:prstGeom>
          <a:noFill/>
          <a:ln/>
        </p:spPr>
        <p:txBody>
          <a:bodyPr wrap="square" lIns="0" tIns="0" rIns="0" bIns="0" rtlCol="0" anchor="ctr"/>
          <a:lstStyle/>
          <a:p>
            <a:pPr algn="ctr" indent="0" marL="0">
              <a:buNone/>
            </a:pPr>
            <a:r>
              <a:rPr lang="en-US" sz="1450" b="1" dirty="0">
                <a:solidFill>
                  <a:srgbClr val="CDFF3F"/>
                </a:solidFill>
              </a:rPr>
              <a:t>Produktiviti = masa + kualiti + keselamatan + kebolehkesanan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MASALAH</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09</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Nyatakan masalah, bukan alat</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Masalah yang baik boleh disiasat sebelum teknologi dipilih.</a:t>
            </a:r>
            <a:endParaRPr lang="en-US" sz="1250" dirty="0"/>
          </a:p>
        </p:txBody>
      </p:sp>
      <p:sp>
        <p:nvSpPr>
          <p:cNvPr id="23" name="Shape 21"/>
          <p:cNvSpPr/>
          <p:nvPr/>
        </p:nvSpPr>
        <p:spPr>
          <a:xfrm>
            <a:off x="685800" y="1572768"/>
            <a:ext cx="2834640" cy="1325880"/>
          </a:xfrm>
          <a:prstGeom prst="roundRect">
            <a:avLst>
              <a:gd name="adj" fmla="val 4138"/>
            </a:avLst>
          </a:prstGeom>
          <a:solidFill>
            <a:srgbClr val="FFF3F1"/>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4" name="Shape 22"/>
          <p:cNvSpPr/>
          <p:nvPr/>
        </p:nvSpPr>
        <p:spPr>
          <a:xfrm>
            <a:off x="685800" y="1572768"/>
            <a:ext cx="73152" cy="1325880"/>
          </a:xfrm>
          <a:prstGeom prst="rect">
            <a:avLst/>
          </a:prstGeom>
          <a:solidFill>
            <a:srgbClr val="C95B5B"/>
          </a:solidFill>
          <a:ln w="12700">
            <a:solidFill>
              <a:srgbClr val="C95B5B"/>
            </a:solidFill>
            <a:prstDash val="solid"/>
          </a:ln>
        </p:spPr>
      </p:sp>
      <p:sp>
        <p:nvSpPr>
          <p:cNvPr id="25" name="Text 23"/>
          <p:cNvSpPr/>
          <p:nvPr/>
        </p:nvSpPr>
        <p:spPr>
          <a:xfrm>
            <a:off x="896112" y="1728216"/>
            <a:ext cx="2487168" cy="292608"/>
          </a:xfrm>
          <a:prstGeom prst="rect">
            <a:avLst/>
          </a:prstGeom>
          <a:noFill/>
          <a:ln/>
        </p:spPr>
        <p:txBody>
          <a:bodyPr wrap="square" lIns="0" tIns="0" rIns="0" bIns="0" rtlCol="0" anchor="ctr">
            <a:normAutofit/>
          </a:bodyPr>
          <a:lstStyle/>
          <a:p>
            <a:pPr indent="0" marL="0">
              <a:buNone/>
            </a:pPr>
            <a:r>
              <a:rPr lang="en-US" sz="1500" b="1" dirty="0">
                <a:solidFill>
                  <a:srgbClr val="C95B5B"/>
                </a:solidFill>
              </a:rPr>
              <a:t>KURANG JELAS</a:t>
            </a:r>
            <a:endParaRPr lang="en-US" sz="1500" dirty="0"/>
          </a:p>
        </p:txBody>
      </p:sp>
      <p:sp>
        <p:nvSpPr>
          <p:cNvPr id="26" name="Text 24"/>
          <p:cNvSpPr/>
          <p:nvPr/>
        </p:nvSpPr>
        <p:spPr>
          <a:xfrm>
            <a:off x="896112" y="2103120"/>
            <a:ext cx="2487168" cy="658368"/>
          </a:xfrm>
          <a:prstGeom prst="rect">
            <a:avLst/>
          </a:prstGeom>
          <a:noFill/>
          <a:ln/>
        </p:spPr>
        <p:txBody>
          <a:bodyPr wrap="square" lIns="0" tIns="0" rIns="0" bIns="0" rtlCol="0" anchor="t">
            <a:normAutofit/>
          </a:bodyPr>
          <a:lstStyle/>
          <a:p>
            <a:pPr indent="0" marL="0">
              <a:buNone/>
            </a:pPr>
            <a:r>
              <a:rPr lang="en-US" sz="1600" dirty="0">
                <a:solidFill>
                  <a:srgbClr val="6A777A"/>
                </a:solidFill>
              </a:rPr>
              <a:t>“Kita perlukan aplikasi aset.”</a:t>
            </a:r>
            <a:endParaRPr lang="en-US" sz="1600" dirty="0"/>
          </a:p>
        </p:txBody>
      </p:sp>
      <p:sp>
        <p:nvSpPr>
          <p:cNvPr id="27" name="Shape 25"/>
          <p:cNvSpPr/>
          <p:nvPr/>
        </p:nvSpPr>
        <p:spPr>
          <a:xfrm>
            <a:off x="3858768" y="1874520"/>
            <a:ext cx="658368" cy="658368"/>
          </a:xfrm>
          <a:prstGeom prst="chevron">
            <a:avLst/>
          </a:prstGeom>
          <a:solidFill>
            <a:srgbClr val="C9D6D4"/>
          </a:solidFill>
          <a:ln w="12700">
            <a:solidFill>
              <a:srgbClr val="C9D6D4"/>
            </a:solidFill>
            <a:prstDash val="solid"/>
          </a:ln>
        </p:spPr>
      </p:sp>
      <p:sp>
        <p:nvSpPr>
          <p:cNvPr id="28" name="Shape 26"/>
          <p:cNvSpPr/>
          <p:nvPr/>
        </p:nvSpPr>
        <p:spPr>
          <a:xfrm>
            <a:off x="4800600" y="1572768"/>
            <a:ext cx="6675120" cy="1325880"/>
          </a:xfrm>
          <a:prstGeom prst="roundRect">
            <a:avLst>
              <a:gd name="adj" fmla="val 4138"/>
            </a:avLst>
          </a:prstGeom>
          <a:solidFill>
            <a:srgbClr val="E7FAF6"/>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9" name="Shape 27"/>
          <p:cNvSpPr/>
          <p:nvPr/>
        </p:nvSpPr>
        <p:spPr>
          <a:xfrm>
            <a:off x="4800600" y="1572768"/>
            <a:ext cx="73152" cy="1325880"/>
          </a:xfrm>
          <a:prstGeom prst="rect">
            <a:avLst/>
          </a:prstGeom>
          <a:solidFill>
            <a:srgbClr val="00A99D"/>
          </a:solidFill>
          <a:ln w="12700">
            <a:solidFill>
              <a:srgbClr val="00A99D"/>
            </a:solidFill>
            <a:prstDash val="solid"/>
          </a:ln>
        </p:spPr>
      </p:sp>
      <p:sp>
        <p:nvSpPr>
          <p:cNvPr id="30" name="Text 28"/>
          <p:cNvSpPr/>
          <p:nvPr/>
        </p:nvSpPr>
        <p:spPr>
          <a:xfrm>
            <a:off x="5010912" y="1728216"/>
            <a:ext cx="6327648" cy="292608"/>
          </a:xfrm>
          <a:prstGeom prst="rect">
            <a:avLst/>
          </a:prstGeom>
          <a:noFill/>
          <a:ln/>
        </p:spPr>
        <p:txBody>
          <a:bodyPr wrap="square" lIns="0" tIns="0" rIns="0" bIns="0" rtlCol="0" anchor="ctr">
            <a:normAutofit/>
          </a:bodyPr>
          <a:lstStyle/>
          <a:p>
            <a:pPr indent="0" marL="0">
              <a:buNone/>
            </a:pPr>
            <a:r>
              <a:rPr lang="en-US" sz="1500" b="1" dirty="0">
                <a:solidFill>
                  <a:srgbClr val="00A99D"/>
                </a:solidFill>
              </a:rPr>
              <a:t>LEBIH JELAS</a:t>
            </a:r>
            <a:endParaRPr lang="en-US" sz="1500" dirty="0"/>
          </a:p>
        </p:txBody>
      </p:sp>
      <p:sp>
        <p:nvSpPr>
          <p:cNvPr id="31" name="Text 29"/>
          <p:cNvSpPr/>
          <p:nvPr/>
        </p:nvSpPr>
        <p:spPr>
          <a:xfrm>
            <a:off x="5010912" y="2103120"/>
            <a:ext cx="6327648" cy="658368"/>
          </a:xfrm>
          <a:prstGeom prst="rect">
            <a:avLst/>
          </a:prstGeom>
          <a:noFill/>
          <a:ln/>
        </p:spPr>
        <p:txBody>
          <a:bodyPr wrap="square" lIns="0" tIns="0" rIns="0" bIns="0" rtlCol="0" anchor="t">
            <a:normAutofit/>
          </a:bodyPr>
          <a:lstStyle/>
          <a:p>
            <a:pPr indent="0" marL="0">
              <a:buNone/>
            </a:pPr>
            <a:r>
              <a:rPr lang="en-US" sz="1500" dirty="0">
                <a:solidFill>
                  <a:srgbClr val="6A777A"/>
                </a:solidFill>
              </a:rPr>
              <a:t>“Pegawai tidak dapat melihat lokasi, peminjam dan tarikh pulang aset dalam satu pandangan.”</a:t>
            </a:r>
            <a:endParaRPr lang="en-US" sz="1500" dirty="0"/>
          </a:p>
        </p:txBody>
      </p:sp>
      <p:sp>
        <p:nvSpPr>
          <p:cNvPr id="32" name="Text 30"/>
          <p:cNvSpPr/>
          <p:nvPr/>
        </p:nvSpPr>
        <p:spPr>
          <a:xfrm>
            <a:off x="685800" y="3401568"/>
            <a:ext cx="2926080" cy="365760"/>
          </a:xfrm>
          <a:prstGeom prst="rect">
            <a:avLst/>
          </a:prstGeom>
          <a:noFill/>
          <a:ln/>
        </p:spPr>
        <p:txBody>
          <a:bodyPr wrap="square" lIns="0" tIns="0" rIns="0" bIns="0" rtlCol="0" anchor="ctr"/>
          <a:lstStyle/>
          <a:p>
            <a:pPr indent="0" marL="0">
              <a:buNone/>
            </a:pPr>
            <a:r>
              <a:rPr lang="en-US" sz="1500" b="1" dirty="0">
                <a:solidFill>
                  <a:srgbClr val="173440"/>
                </a:solidFill>
              </a:rPr>
              <a:t>Formula masalah operasi</a:t>
            </a:r>
            <a:endParaRPr lang="en-US" sz="1500" dirty="0"/>
          </a:p>
        </p:txBody>
      </p:sp>
      <p:sp>
        <p:nvSpPr>
          <p:cNvPr id="33" name="Shape 31"/>
          <p:cNvSpPr/>
          <p:nvPr/>
        </p:nvSpPr>
        <p:spPr>
          <a:xfrm>
            <a:off x="685800" y="4069080"/>
            <a:ext cx="1325880" cy="603504"/>
          </a:xfrm>
          <a:prstGeom prst="roundRect">
            <a:avLst>
              <a:gd name="adj" fmla="val 7576"/>
            </a:avLst>
          </a:prstGeom>
          <a:solidFill>
            <a:srgbClr val="173440"/>
          </a:solidFill>
          <a:ln w="12700">
            <a:solidFill>
              <a:srgbClr val="173440"/>
            </a:solidFill>
            <a:prstDash val="solid"/>
          </a:ln>
        </p:spPr>
      </p:sp>
      <p:sp>
        <p:nvSpPr>
          <p:cNvPr id="34" name="Text 32"/>
          <p:cNvSpPr/>
          <p:nvPr/>
        </p:nvSpPr>
        <p:spPr>
          <a:xfrm>
            <a:off x="685800" y="4261104"/>
            <a:ext cx="1325880" cy="210312"/>
          </a:xfrm>
          <a:prstGeom prst="rect">
            <a:avLst/>
          </a:prstGeom>
          <a:noFill/>
          <a:ln/>
        </p:spPr>
        <p:txBody>
          <a:bodyPr wrap="square" lIns="0" tIns="0" rIns="0" bIns="0" rtlCol="0" anchor="ctr"/>
          <a:lstStyle/>
          <a:p>
            <a:pPr algn="ctr" indent="0" marL="0">
              <a:buNone/>
            </a:pPr>
            <a:r>
              <a:rPr lang="en-US" sz="1100" b="1" dirty="0">
                <a:solidFill>
                  <a:srgbClr val="FFFFFF"/>
                </a:solidFill>
              </a:rPr>
              <a:t>PENGGUNA</a:t>
            </a:r>
            <a:endParaRPr lang="en-US" sz="1100" dirty="0"/>
          </a:p>
        </p:txBody>
      </p:sp>
      <p:sp>
        <p:nvSpPr>
          <p:cNvPr id="35" name="Text 33"/>
          <p:cNvSpPr/>
          <p:nvPr/>
        </p:nvSpPr>
        <p:spPr>
          <a:xfrm>
            <a:off x="2176272" y="4242816"/>
            <a:ext cx="1170432" cy="228600"/>
          </a:xfrm>
          <a:prstGeom prst="rect">
            <a:avLst/>
          </a:prstGeom>
          <a:noFill/>
          <a:ln/>
        </p:spPr>
        <p:txBody>
          <a:bodyPr wrap="square" lIns="0" tIns="0" rIns="0" bIns="0" rtlCol="0" anchor="ctr"/>
          <a:lstStyle/>
          <a:p>
            <a:pPr algn="ctr" indent="0" marL="0">
              <a:buNone/>
            </a:pPr>
            <a:r>
              <a:rPr lang="en-US" sz="1200" dirty="0">
                <a:solidFill>
                  <a:srgbClr val="6A777A"/>
                </a:solidFill>
              </a:rPr>
              <a:t>sukar untuk</a:t>
            </a:r>
            <a:endParaRPr lang="en-US" sz="1200" dirty="0"/>
          </a:p>
        </p:txBody>
      </p:sp>
      <p:sp>
        <p:nvSpPr>
          <p:cNvPr id="36" name="Shape 34"/>
          <p:cNvSpPr/>
          <p:nvPr/>
        </p:nvSpPr>
        <p:spPr>
          <a:xfrm>
            <a:off x="3511296" y="4069080"/>
            <a:ext cx="1143000" cy="603504"/>
          </a:xfrm>
          <a:prstGeom prst="roundRect">
            <a:avLst>
              <a:gd name="adj" fmla="val 7576"/>
            </a:avLst>
          </a:prstGeom>
          <a:solidFill>
            <a:srgbClr val="2F72C4"/>
          </a:solidFill>
          <a:ln w="12700">
            <a:solidFill>
              <a:srgbClr val="2F72C4"/>
            </a:solidFill>
            <a:prstDash val="solid"/>
          </a:ln>
        </p:spPr>
      </p:sp>
      <p:sp>
        <p:nvSpPr>
          <p:cNvPr id="37" name="Text 35"/>
          <p:cNvSpPr/>
          <p:nvPr/>
        </p:nvSpPr>
        <p:spPr>
          <a:xfrm>
            <a:off x="3511296" y="4261104"/>
            <a:ext cx="1143000" cy="210312"/>
          </a:xfrm>
          <a:prstGeom prst="rect">
            <a:avLst/>
          </a:prstGeom>
          <a:noFill/>
          <a:ln/>
        </p:spPr>
        <p:txBody>
          <a:bodyPr wrap="square" lIns="0" tIns="0" rIns="0" bIns="0" rtlCol="0" anchor="ctr"/>
          <a:lstStyle/>
          <a:p>
            <a:pPr algn="ctr" indent="0" marL="0">
              <a:buNone/>
            </a:pPr>
            <a:r>
              <a:rPr lang="en-US" sz="1100" b="1" dirty="0">
                <a:solidFill>
                  <a:srgbClr val="FFFFFF"/>
                </a:solidFill>
              </a:rPr>
              <a:t>TUGAS</a:t>
            </a:r>
            <a:endParaRPr lang="en-US" sz="1100" dirty="0"/>
          </a:p>
        </p:txBody>
      </p:sp>
      <p:sp>
        <p:nvSpPr>
          <p:cNvPr id="38" name="Text 36"/>
          <p:cNvSpPr/>
          <p:nvPr/>
        </p:nvSpPr>
        <p:spPr>
          <a:xfrm>
            <a:off x="4818888" y="4242816"/>
            <a:ext cx="841248" cy="228600"/>
          </a:xfrm>
          <a:prstGeom prst="rect">
            <a:avLst/>
          </a:prstGeom>
          <a:noFill/>
          <a:ln/>
        </p:spPr>
        <p:txBody>
          <a:bodyPr wrap="square" lIns="0" tIns="0" rIns="0" bIns="0" rtlCol="0" anchor="ctr"/>
          <a:lstStyle/>
          <a:p>
            <a:pPr algn="ctr" indent="0" marL="0">
              <a:buNone/>
            </a:pPr>
            <a:r>
              <a:rPr lang="en-US" sz="1200" dirty="0">
                <a:solidFill>
                  <a:srgbClr val="6A777A"/>
                </a:solidFill>
              </a:rPr>
              <a:t>kerana</a:t>
            </a:r>
            <a:endParaRPr lang="en-US" sz="1200" dirty="0"/>
          </a:p>
        </p:txBody>
      </p:sp>
      <p:sp>
        <p:nvSpPr>
          <p:cNvPr id="39" name="Shape 37"/>
          <p:cNvSpPr/>
          <p:nvPr/>
        </p:nvSpPr>
        <p:spPr>
          <a:xfrm>
            <a:off x="5824728" y="4069080"/>
            <a:ext cx="1115568" cy="603504"/>
          </a:xfrm>
          <a:prstGeom prst="roundRect">
            <a:avLst>
              <a:gd name="adj" fmla="val 7576"/>
            </a:avLst>
          </a:prstGeom>
          <a:solidFill>
            <a:srgbClr val="D79A32"/>
          </a:solidFill>
          <a:ln w="12700">
            <a:solidFill>
              <a:srgbClr val="D79A32"/>
            </a:solidFill>
            <a:prstDash val="solid"/>
          </a:ln>
        </p:spPr>
      </p:sp>
      <p:sp>
        <p:nvSpPr>
          <p:cNvPr id="40" name="Text 38"/>
          <p:cNvSpPr/>
          <p:nvPr/>
        </p:nvSpPr>
        <p:spPr>
          <a:xfrm>
            <a:off x="5824728" y="4261104"/>
            <a:ext cx="1115568" cy="210312"/>
          </a:xfrm>
          <a:prstGeom prst="rect">
            <a:avLst/>
          </a:prstGeom>
          <a:noFill/>
          <a:ln/>
        </p:spPr>
        <p:txBody>
          <a:bodyPr wrap="square" lIns="0" tIns="0" rIns="0" bIns="0" rtlCol="0" anchor="ctr"/>
          <a:lstStyle/>
          <a:p>
            <a:pPr algn="ctr" indent="0" marL="0">
              <a:buNone/>
            </a:pPr>
            <a:r>
              <a:rPr lang="en-US" sz="1100" b="1" dirty="0">
                <a:solidFill>
                  <a:srgbClr val="FFFFFF"/>
                </a:solidFill>
              </a:rPr>
              <a:t>PUNCA</a:t>
            </a:r>
            <a:endParaRPr lang="en-US" sz="1100" dirty="0"/>
          </a:p>
        </p:txBody>
      </p:sp>
      <p:sp>
        <p:nvSpPr>
          <p:cNvPr id="41" name="Text 39"/>
          <p:cNvSpPr/>
          <p:nvPr/>
        </p:nvSpPr>
        <p:spPr>
          <a:xfrm>
            <a:off x="7104888" y="4242816"/>
            <a:ext cx="1508760" cy="228600"/>
          </a:xfrm>
          <a:prstGeom prst="rect">
            <a:avLst/>
          </a:prstGeom>
          <a:noFill/>
          <a:ln/>
        </p:spPr>
        <p:txBody>
          <a:bodyPr wrap="square" lIns="0" tIns="0" rIns="0" bIns="0" rtlCol="0" anchor="ctr"/>
          <a:lstStyle/>
          <a:p>
            <a:pPr algn="ctr" indent="0" marL="0">
              <a:buNone/>
            </a:pPr>
            <a:r>
              <a:rPr lang="en-US" sz="1200" dirty="0">
                <a:solidFill>
                  <a:srgbClr val="6A777A"/>
                </a:solidFill>
              </a:rPr>
              <a:t>menyebabkan</a:t>
            </a:r>
            <a:endParaRPr lang="en-US" sz="1200" dirty="0"/>
          </a:p>
        </p:txBody>
      </p:sp>
      <p:sp>
        <p:nvSpPr>
          <p:cNvPr id="42" name="Shape 40"/>
          <p:cNvSpPr/>
          <p:nvPr/>
        </p:nvSpPr>
        <p:spPr>
          <a:xfrm>
            <a:off x="8778240" y="4069080"/>
            <a:ext cx="1097280" cy="603504"/>
          </a:xfrm>
          <a:prstGeom prst="roundRect">
            <a:avLst>
              <a:gd name="adj" fmla="val 7576"/>
            </a:avLst>
          </a:prstGeom>
          <a:solidFill>
            <a:srgbClr val="00A99D"/>
          </a:solidFill>
          <a:ln w="12700">
            <a:solidFill>
              <a:srgbClr val="00A99D"/>
            </a:solidFill>
            <a:prstDash val="solid"/>
          </a:ln>
        </p:spPr>
      </p:sp>
      <p:sp>
        <p:nvSpPr>
          <p:cNvPr id="43" name="Text 41"/>
          <p:cNvSpPr/>
          <p:nvPr/>
        </p:nvSpPr>
        <p:spPr>
          <a:xfrm>
            <a:off x="8778240" y="4261104"/>
            <a:ext cx="1097280" cy="210312"/>
          </a:xfrm>
          <a:prstGeom prst="rect">
            <a:avLst/>
          </a:prstGeom>
          <a:noFill/>
          <a:ln/>
        </p:spPr>
        <p:txBody>
          <a:bodyPr wrap="square" lIns="0" tIns="0" rIns="0" bIns="0" rtlCol="0" anchor="ctr"/>
          <a:lstStyle/>
          <a:p>
            <a:pPr algn="ctr" indent="0" marL="0">
              <a:buNone/>
            </a:pPr>
            <a:r>
              <a:rPr lang="en-US" sz="1100" b="1" dirty="0">
                <a:solidFill>
                  <a:srgbClr val="FFFFFF"/>
                </a:solidFill>
              </a:rPr>
              <a:t>KESAN</a:t>
            </a:r>
            <a:endParaRPr lang="en-US" sz="1100" dirty="0"/>
          </a:p>
        </p:txBody>
      </p:sp>
      <p:sp>
        <p:nvSpPr>
          <p:cNvPr id="44" name="Text 42"/>
          <p:cNvSpPr/>
          <p:nvPr/>
        </p:nvSpPr>
        <p:spPr>
          <a:xfrm>
            <a:off x="685800" y="5285232"/>
            <a:ext cx="10789920" cy="347472"/>
          </a:xfrm>
          <a:prstGeom prst="rect">
            <a:avLst/>
          </a:prstGeom>
          <a:noFill/>
          <a:ln/>
        </p:spPr>
        <p:txBody>
          <a:bodyPr wrap="square" lIns="0" tIns="0" rIns="0" bIns="0" rtlCol="0" anchor="ctr"/>
          <a:lstStyle/>
          <a:p>
            <a:pPr algn="ctr" indent="0" marL="0">
              <a:buNone/>
            </a:pPr>
            <a:r>
              <a:rPr lang="en-US" sz="1400" b="1" dirty="0">
                <a:solidFill>
                  <a:srgbClr val="00A99D"/>
                </a:solidFill>
              </a:rPr>
              <a:t>Petunjuk kualiti: pengguna, tugas, punca dan kesan semuanya boleh diperiksa.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AKTIVITI</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10</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Aktiviti 2 minit: satu masalah sebenar</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Satu nota, satu masalah — jangan sebut nama aplikasi.</a:t>
            </a:r>
            <a:endParaRPr lang="en-US" sz="1250" dirty="0"/>
          </a:p>
        </p:txBody>
      </p:sp>
      <p:sp>
        <p:nvSpPr>
          <p:cNvPr id="23" name="Text 21"/>
          <p:cNvSpPr/>
          <p:nvPr/>
        </p:nvSpPr>
        <p:spPr>
          <a:xfrm>
            <a:off x="713232" y="1627632"/>
            <a:ext cx="2743200" cy="1005840"/>
          </a:xfrm>
          <a:prstGeom prst="rect">
            <a:avLst/>
          </a:prstGeom>
          <a:noFill/>
          <a:ln/>
        </p:spPr>
        <p:txBody>
          <a:bodyPr wrap="square" lIns="0" tIns="0" rIns="0" bIns="0" rtlCol="0" anchor="ctr"/>
          <a:lstStyle/>
          <a:p>
            <a:pPr algn="ctr" indent="0" marL="0">
              <a:buNone/>
            </a:pPr>
            <a:r>
              <a:rPr lang="en-US" sz="4600" b="1" dirty="0">
                <a:solidFill>
                  <a:srgbClr val="CDFF3F"/>
                </a:solidFill>
              </a:rPr>
              <a:t>02:00</a:t>
            </a:r>
            <a:endParaRPr lang="en-US" sz="4600" dirty="0"/>
          </a:p>
        </p:txBody>
      </p:sp>
      <p:sp>
        <p:nvSpPr>
          <p:cNvPr id="24" name="Shape 22"/>
          <p:cNvSpPr/>
          <p:nvPr/>
        </p:nvSpPr>
        <p:spPr>
          <a:xfrm>
            <a:off x="4114800" y="1572768"/>
            <a:ext cx="475488" cy="475488"/>
          </a:xfrm>
          <a:prstGeom prst="ellipse">
            <a:avLst/>
          </a:prstGeom>
          <a:solidFill>
            <a:srgbClr val="00A99D"/>
          </a:solidFill>
          <a:ln w="12700">
            <a:solidFill>
              <a:srgbClr val="00A99D"/>
            </a:solidFill>
            <a:prstDash val="solid"/>
          </a:ln>
        </p:spPr>
      </p:sp>
      <p:sp>
        <p:nvSpPr>
          <p:cNvPr id="25" name="Text 23"/>
          <p:cNvSpPr/>
          <p:nvPr/>
        </p:nvSpPr>
        <p:spPr>
          <a:xfrm>
            <a:off x="4114800" y="1581912"/>
            <a:ext cx="475488" cy="45720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6" name="Text 24"/>
          <p:cNvSpPr/>
          <p:nvPr/>
        </p:nvSpPr>
        <p:spPr>
          <a:xfrm>
            <a:off x="4800600" y="1591056"/>
            <a:ext cx="2423160" cy="320040"/>
          </a:xfrm>
          <a:prstGeom prst="rect">
            <a:avLst/>
          </a:prstGeom>
          <a:noFill/>
          <a:ln/>
        </p:spPr>
        <p:txBody>
          <a:bodyPr wrap="square" lIns="0" tIns="0" rIns="0" bIns="0" rtlCol="0" anchor="ctr"/>
          <a:lstStyle/>
          <a:p>
            <a:pPr indent="0" marL="0">
              <a:buNone/>
            </a:pPr>
            <a:r>
              <a:rPr lang="en-US" sz="1700" b="1" dirty="0">
                <a:solidFill>
                  <a:srgbClr val="FFFFFF"/>
                </a:solidFill>
              </a:rPr>
              <a:t>Tulis masalah</a:t>
            </a:r>
            <a:endParaRPr lang="en-US" sz="1700" dirty="0"/>
          </a:p>
        </p:txBody>
      </p:sp>
      <p:sp>
        <p:nvSpPr>
          <p:cNvPr id="27" name="Text 25"/>
          <p:cNvSpPr/>
          <p:nvPr/>
        </p:nvSpPr>
        <p:spPr>
          <a:xfrm>
            <a:off x="4800600" y="2029968"/>
            <a:ext cx="5394960" cy="384048"/>
          </a:xfrm>
          <a:prstGeom prst="rect">
            <a:avLst/>
          </a:prstGeom>
          <a:noFill/>
          <a:ln/>
        </p:spPr>
        <p:txBody>
          <a:bodyPr wrap="square" lIns="0" tIns="0" rIns="0" bIns="0" rtlCol="0" anchor="ctr"/>
          <a:lstStyle/>
          <a:p>
            <a:pPr indent="0" marL="0">
              <a:buNone/>
            </a:pPr>
            <a:r>
              <a:rPr lang="en-US" sz="1250" dirty="0">
                <a:solidFill>
                  <a:srgbClr val="BFD0D2"/>
                </a:solidFill>
              </a:rPr>
              <a:t>Gunakan pengalaman kerja sebenar.</a:t>
            </a:r>
            <a:endParaRPr lang="en-US" sz="1250" dirty="0"/>
          </a:p>
        </p:txBody>
      </p:sp>
      <p:sp>
        <p:nvSpPr>
          <p:cNvPr id="28" name="Shape 26"/>
          <p:cNvSpPr/>
          <p:nvPr/>
        </p:nvSpPr>
        <p:spPr>
          <a:xfrm>
            <a:off x="4114800" y="2834640"/>
            <a:ext cx="475488" cy="475488"/>
          </a:xfrm>
          <a:prstGeom prst="ellipse">
            <a:avLst/>
          </a:prstGeom>
          <a:solidFill>
            <a:srgbClr val="00A99D"/>
          </a:solidFill>
          <a:ln w="12700">
            <a:solidFill>
              <a:srgbClr val="00A99D"/>
            </a:solidFill>
            <a:prstDash val="solid"/>
          </a:ln>
        </p:spPr>
      </p:sp>
      <p:sp>
        <p:nvSpPr>
          <p:cNvPr id="29" name="Text 27"/>
          <p:cNvSpPr/>
          <p:nvPr/>
        </p:nvSpPr>
        <p:spPr>
          <a:xfrm>
            <a:off x="4114800" y="2843784"/>
            <a:ext cx="475488" cy="45720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30" name="Text 28"/>
          <p:cNvSpPr/>
          <p:nvPr/>
        </p:nvSpPr>
        <p:spPr>
          <a:xfrm>
            <a:off x="4800600" y="2852928"/>
            <a:ext cx="2423160" cy="320040"/>
          </a:xfrm>
          <a:prstGeom prst="rect">
            <a:avLst/>
          </a:prstGeom>
          <a:noFill/>
          <a:ln/>
        </p:spPr>
        <p:txBody>
          <a:bodyPr wrap="square" lIns="0" tIns="0" rIns="0" bIns="0" rtlCol="0" anchor="ctr"/>
          <a:lstStyle/>
          <a:p>
            <a:pPr indent="0" marL="0">
              <a:buNone/>
            </a:pPr>
            <a:r>
              <a:rPr lang="en-US" sz="1700" b="1" dirty="0">
                <a:solidFill>
                  <a:srgbClr val="FFFFFF"/>
                </a:solidFill>
              </a:rPr>
              <a:t>Nyatakan kesan</a:t>
            </a:r>
            <a:endParaRPr lang="en-US" sz="1700" dirty="0"/>
          </a:p>
        </p:txBody>
      </p:sp>
      <p:sp>
        <p:nvSpPr>
          <p:cNvPr id="31" name="Text 29"/>
          <p:cNvSpPr/>
          <p:nvPr/>
        </p:nvSpPr>
        <p:spPr>
          <a:xfrm>
            <a:off x="4800600" y="3291840"/>
            <a:ext cx="5394960" cy="384048"/>
          </a:xfrm>
          <a:prstGeom prst="rect">
            <a:avLst/>
          </a:prstGeom>
          <a:noFill/>
          <a:ln/>
        </p:spPr>
        <p:txBody>
          <a:bodyPr wrap="square" lIns="0" tIns="0" rIns="0" bIns="0" rtlCol="0" anchor="ctr"/>
          <a:lstStyle/>
          <a:p>
            <a:pPr indent="0" marL="0">
              <a:buNone/>
            </a:pPr>
            <a:r>
              <a:rPr lang="en-US" sz="1250" dirty="0">
                <a:solidFill>
                  <a:srgbClr val="BFD0D2"/>
                </a:solidFill>
              </a:rPr>
              <a:t>Masa, kualiti, keselamatan atau audit.</a:t>
            </a:r>
            <a:endParaRPr lang="en-US" sz="1250" dirty="0"/>
          </a:p>
        </p:txBody>
      </p:sp>
      <p:sp>
        <p:nvSpPr>
          <p:cNvPr id="32" name="Shape 30"/>
          <p:cNvSpPr/>
          <p:nvPr/>
        </p:nvSpPr>
        <p:spPr>
          <a:xfrm>
            <a:off x="4114800" y="4096512"/>
            <a:ext cx="475488" cy="475488"/>
          </a:xfrm>
          <a:prstGeom prst="ellipse">
            <a:avLst/>
          </a:prstGeom>
          <a:solidFill>
            <a:srgbClr val="00A99D"/>
          </a:solidFill>
          <a:ln w="12700">
            <a:solidFill>
              <a:srgbClr val="00A99D"/>
            </a:solidFill>
            <a:prstDash val="solid"/>
          </a:ln>
        </p:spPr>
      </p:sp>
      <p:sp>
        <p:nvSpPr>
          <p:cNvPr id="33" name="Text 31"/>
          <p:cNvSpPr/>
          <p:nvPr/>
        </p:nvSpPr>
        <p:spPr>
          <a:xfrm>
            <a:off x="4114800" y="4105656"/>
            <a:ext cx="475488" cy="45720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4" name="Text 32"/>
          <p:cNvSpPr/>
          <p:nvPr/>
        </p:nvSpPr>
        <p:spPr>
          <a:xfrm>
            <a:off x="4800600" y="4114800"/>
            <a:ext cx="2423160" cy="320040"/>
          </a:xfrm>
          <a:prstGeom prst="rect">
            <a:avLst/>
          </a:prstGeom>
          <a:noFill/>
          <a:ln/>
        </p:spPr>
        <p:txBody>
          <a:bodyPr wrap="square" lIns="0" tIns="0" rIns="0" bIns="0" rtlCol="0" anchor="ctr"/>
          <a:lstStyle/>
          <a:p>
            <a:pPr indent="0" marL="0">
              <a:buNone/>
            </a:pPr>
            <a:r>
              <a:rPr lang="en-US" sz="1700" b="1" dirty="0">
                <a:solidFill>
                  <a:srgbClr val="FFFFFF"/>
                </a:solidFill>
              </a:rPr>
              <a:t>Tampal dan kelompok</a:t>
            </a:r>
            <a:endParaRPr lang="en-US" sz="1700" dirty="0"/>
          </a:p>
        </p:txBody>
      </p:sp>
      <p:sp>
        <p:nvSpPr>
          <p:cNvPr id="35" name="Text 33"/>
          <p:cNvSpPr/>
          <p:nvPr/>
        </p:nvSpPr>
        <p:spPr>
          <a:xfrm>
            <a:off x="4800600" y="4553712"/>
            <a:ext cx="5394960" cy="384048"/>
          </a:xfrm>
          <a:prstGeom prst="rect">
            <a:avLst/>
          </a:prstGeom>
          <a:noFill/>
          <a:ln/>
        </p:spPr>
        <p:txBody>
          <a:bodyPr wrap="square" lIns="0" tIns="0" rIns="0" bIns="0" rtlCol="0" anchor="ctr"/>
          <a:lstStyle/>
          <a:p>
            <a:pPr indent="0" marL="0">
              <a:buNone/>
            </a:pPr>
            <a:r>
              <a:rPr lang="en-US" sz="1250" dirty="0">
                <a:solidFill>
                  <a:srgbClr val="BFD0D2"/>
                </a:solidFill>
              </a:rPr>
              <a:t>Letakkan di bawah lima kebocoran.</a:t>
            </a:r>
            <a:endParaRPr lang="en-US" sz="1250" dirty="0"/>
          </a:p>
        </p:txBody>
      </p:sp>
      <p:sp>
        <p:nvSpPr>
          <p:cNvPr id="36" name="Shape 34"/>
          <p:cNvSpPr/>
          <p:nvPr/>
        </p:nvSpPr>
        <p:spPr>
          <a:xfrm>
            <a:off x="713232" y="5102352"/>
            <a:ext cx="10789920" cy="658368"/>
          </a:xfrm>
          <a:prstGeom prst="roundRect">
            <a:avLst>
              <a:gd name="adj" fmla="val 6944"/>
            </a:avLst>
          </a:prstGeom>
          <a:solidFill>
            <a:srgbClr val="173C40"/>
          </a:solidFill>
          <a:ln w="12700">
            <a:solidFill>
              <a:srgbClr val="45676D"/>
            </a:solidFill>
            <a:prstDash val="solid"/>
          </a:ln>
        </p:spPr>
      </p:sp>
      <p:sp>
        <p:nvSpPr>
          <p:cNvPr id="37" name="Text 35"/>
          <p:cNvSpPr/>
          <p:nvPr/>
        </p:nvSpPr>
        <p:spPr>
          <a:xfrm>
            <a:off x="960120" y="5321808"/>
            <a:ext cx="10287000" cy="228600"/>
          </a:xfrm>
          <a:prstGeom prst="rect">
            <a:avLst/>
          </a:prstGeom>
          <a:noFill/>
          <a:ln/>
        </p:spPr>
        <p:txBody>
          <a:bodyPr wrap="square" lIns="0" tIns="0" rIns="0" bIns="0" rtlCol="0" anchor="ctr"/>
          <a:lstStyle/>
          <a:p>
            <a:pPr algn="ctr" indent="0" marL="0">
              <a:buNone/>
            </a:pPr>
            <a:r>
              <a:rPr lang="en-US" sz="1350" b="1" dirty="0">
                <a:solidFill>
                  <a:srgbClr val="CDFF3F"/>
                </a:solidFill>
              </a:rPr>
              <a:t>Contoh baik: “Status pinjaman aset sukar dijejaki selepas aset meninggalkan makmal.”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KEUPAYAAN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11</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Enam keupayaan aplikasi pintar</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Fikirkan fungsi yang diperlukan — bukan jenama alat.</a:t>
            </a:r>
            <a:endParaRPr lang="en-US" sz="1250" dirty="0"/>
          </a:p>
        </p:txBody>
      </p:sp>
      <p:sp>
        <p:nvSpPr>
          <p:cNvPr id="23" name="Shape 21"/>
          <p:cNvSpPr/>
          <p:nvPr/>
        </p:nvSpPr>
        <p:spPr>
          <a:xfrm>
            <a:off x="658368" y="1581912"/>
            <a:ext cx="3401568" cy="1627632"/>
          </a:xfrm>
          <a:prstGeom prst="roundRect">
            <a:avLst>
              <a:gd name="adj" fmla="val 3371"/>
            </a:avLst>
          </a:prstGeom>
          <a:solidFill>
            <a:srgbClr val="FFFFFF"/>
          </a:solidFill>
          <a:ln w="11430">
            <a:solidFill>
              <a:srgbClr val="00A99D"/>
            </a:solidFill>
            <a:prstDash val="solid"/>
          </a:ln>
          <a:effectLst>
            <a:outerShdw sx="100000" sy="100000" kx="0" ky="0" algn="bl" rotWithShape="0" blurRad="25400" dist="50800" dir="2700000">
              <a:srgbClr val="000000">
                <a:alpha val="10000"/>
              </a:srgbClr>
            </a:outerShdw>
          </a:effectLst>
        </p:spPr>
      </p:sp>
      <p:sp>
        <p:nvSpPr>
          <p:cNvPr id="24" name="Shape 22"/>
          <p:cNvSpPr/>
          <p:nvPr/>
        </p:nvSpPr>
        <p:spPr>
          <a:xfrm>
            <a:off x="841248" y="1764792"/>
            <a:ext cx="438912" cy="438912"/>
          </a:xfrm>
          <a:prstGeom prst="ellipse">
            <a:avLst/>
          </a:prstGeom>
          <a:solidFill>
            <a:srgbClr val="00A99D"/>
          </a:solidFill>
          <a:ln w="12700">
            <a:solidFill>
              <a:srgbClr val="00A99D"/>
            </a:solidFill>
            <a:prstDash val="solid"/>
          </a:ln>
        </p:spPr>
      </p:sp>
      <p:sp>
        <p:nvSpPr>
          <p:cNvPr id="25" name="Text 23"/>
          <p:cNvSpPr/>
          <p:nvPr/>
        </p:nvSpPr>
        <p:spPr>
          <a:xfrm>
            <a:off x="841248" y="1773936"/>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01</a:t>
            </a:r>
            <a:endParaRPr lang="en-US" sz="1200" dirty="0"/>
          </a:p>
        </p:txBody>
      </p:sp>
      <p:sp>
        <p:nvSpPr>
          <p:cNvPr id="26" name="Text 24"/>
          <p:cNvSpPr/>
          <p:nvPr/>
        </p:nvSpPr>
        <p:spPr>
          <a:xfrm>
            <a:off x="1444752" y="1783080"/>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Mengumpul</a:t>
            </a:r>
            <a:endParaRPr lang="en-US" sz="1650" dirty="0"/>
          </a:p>
        </p:txBody>
      </p:sp>
      <p:sp>
        <p:nvSpPr>
          <p:cNvPr id="27" name="Text 25"/>
          <p:cNvSpPr/>
          <p:nvPr/>
        </p:nvSpPr>
        <p:spPr>
          <a:xfrm>
            <a:off x="859536" y="2404872"/>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Borang, imej, bacaan dan lampiran</a:t>
            </a:r>
            <a:endParaRPr lang="en-US" sz="1170" dirty="0"/>
          </a:p>
        </p:txBody>
      </p:sp>
      <p:sp>
        <p:nvSpPr>
          <p:cNvPr id="28" name="Shape 26"/>
          <p:cNvSpPr/>
          <p:nvPr/>
        </p:nvSpPr>
        <p:spPr>
          <a:xfrm>
            <a:off x="4453128" y="1581912"/>
            <a:ext cx="3401568" cy="1627632"/>
          </a:xfrm>
          <a:prstGeom prst="roundRect">
            <a:avLst>
              <a:gd name="adj" fmla="val 3371"/>
            </a:avLst>
          </a:prstGeom>
          <a:solidFill>
            <a:srgbClr val="FFFFFF"/>
          </a:solidFill>
          <a:ln w="11430">
            <a:solidFill>
              <a:srgbClr val="2F72C4"/>
            </a:solidFill>
            <a:prstDash val="solid"/>
          </a:ln>
          <a:effectLst>
            <a:outerShdw sx="100000" sy="100000" kx="0" ky="0" algn="bl" rotWithShape="0" blurRad="25400" dist="50800" dir="2700000">
              <a:srgbClr val="000000">
                <a:alpha val="10000"/>
              </a:srgbClr>
            </a:outerShdw>
          </a:effectLst>
        </p:spPr>
      </p:sp>
      <p:sp>
        <p:nvSpPr>
          <p:cNvPr id="29" name="Shape 27"/>
          <p:cNvSpPr/>
          <p:nvPr/>
        </p:nvSpPr>
        <p:spPr>
          <a:xfrm>
            <a:off x="4636008" y="1764792"/>
            <a:ext cx="438912" cy="438912"/>
          </a:xfrm>
          <a:prstGeom prst="ellipse">
            <a:avLst/>
          </a:prstGeom>
          <a:solidFill>
            <a:srgbClr val="2F72C4"/>
          </a:solidFill>
          <a:ln w="12700">
            <a:solidFill>
              <a:srgbClr val="2F72C4"/>
            </a:solidFill>
            <a:prstDash val="solid"/>
          </a:ln>
        </p:spPr>
      </p:sp>
      <p:sp>
        <p:nvSpPr>
          <p:cNvPr id="30" name="Text 28"/>
          <p:cNvSpPr/>
          <p:nvPr/>
        </p:nvSpPr>
        <p:spPr>
          <a:xfrm>
            <a:off x="4636008" y="1773936"/>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02</a:t>
            </a:r>
            <a:endParaRPr lang="en-US" sz="1200" dirty="0"/>
          </a:p>
        </p:txBody>
      </p:sp>
      <p:sp>
        <p:nvSpPr>
          <p:cNvPr id="31" name="Text 29"/>
          <p:cNvSpPr/>
          <p:nvPr/>
        </p:nvSpPr>
        <p:spPr>
          <a:xfrm>
            <a:off x="5239512" y="1783080"/>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Menyusun</a:t>
            </a:r>
            <a:endParaRPr lang="en-US" sz="1650" dirty="0"/>
          </a:p>
        </p:txBody>
      </p:sp>
      <p:sp>
        <p:nvSpPr>
          <p:cNvPr id="32" name="Text 30"/>
          <p:cNvSpPr/>
          <p:nvPr/>
        </p:nvSpPr>
        <p:spPr>
          <a:xfrm>
            <a:off x="4654296" y="2404872"/>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ID, kategori, nama dan carian</a:t>
            </a:r>
            <a:endParaRPr lang="en-US" sz="1170" dirty="0"/>
          </a:p>
        </p:txBody>
      </p:sp>
      <p:sp>
        <p:nvSpPr>
          <p:cNvPr id="33" name="Shape 31"/>
          <p:cNvSpPr/>
          <p:nvPr/>
        </p:nvSpPr>
        <p:spPr>
          <a:xfrm>
            <a:off x="8247888" y="1581912"/>
            <a:ext cx="3401568" cy="1627632"/>
          </a:xfrm>
          <a:prstGeom prst="roundRect">
            <a:avLst>
              <a:gd name="adj" fmla="val 3371"/>
            </a:avLst>
          </a:prstGeom>
          <a:solidFill>
            <a:srgbClr val="FFFFFF"/>
          </a:solidFill>
          <a:ln w="11430">
            <a:solidFill>
              <a:srgbClr val="3F9B72"/>
            </a:solidFill>
            <a:prstDash val="solid"/>
          </a:ln>
          <a:effectLst>
            <a:outerShdw sx="100000" sy="100000" kx="0" ky="0" algn="bl" rotWithShape="0" blurRad="25400" dist="50800" dir="2700000">
              <a:srgbClr val="000000">
                <a:alpha val="10000"/>
              </a:srgbClr>
            </a:outerShdw>
          </a:effectLst>
        </p:spPr>
      </p:sp>
      <p:sp>
        <p:nvSpPr>
          <p:cNvPr id="34" name="Shape 32"/>
          <p:cNvSpPr/>
          <p:nvPr/>
        </p:nvSpPr>
        <p:spPr>
          <a:xfrm>
            <a:off x="8430768" y="1764792"/>
            <a:ext cx="438912" cy="438912"/>
          </a:xfrm>
          <a:prstGeom prst="ellipse">
            <a:avLst/>
          </a:prstGeom>
          <a:solidFill>
            <a:srgbClr val="3F9B72"/>
          </a:solidFill>
          <a:ln w="12700">
            <a:solidFill>
              <a:srgbClr val="3F9B72"/>
            </a:solidFill>
            <a:prstDash val="solid"/>
          </a:ln>
        </p:spPr>
      </p:sp>
      <p:sp>
        <p:nvSpPr>
          <p:cNvPr id="35" name="Text 33"/>
          <p:cNvSpPr/>
          <p:nvPr/>
        </p:nvSpPr>
        <p:spPr>
          <a:xfrm>
            <a:off x="8430768" y="1773936"/>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03</a:t>
            </a:r>
            <a:endParaRPr lang="en-US" sz="1200" dirty="0"/>
          </a:p>
        </p:txBody>
      </p:sp>
      <p:sp>
        <p:nvSpPr>
          <p:cNvPr id="36" name="Text 34"/>
          <p:cNvSpPr/>
          <p:nvPr/>
        </p:nvSpPr>
        <p:spPr>
          <a:xfrm>
            <a:off x="9034272" y="1783080"/>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Menyemak</a:t>
            </a:r>
            <a:endParaRPr lang="en-US" sz="1650" dirty="0"/>
          </a:p>
        </p:txBody>
      </p:sp>
      <p:sp>
        <p:nvSpPr>
          <p:cNvPr id="37" name="Text 35"/>
          <p:cNvSpPr/>
          <p:nvPr/>
        </p:nvSpPr>
        <p:spPr>
          <a:xfrm>
            <a:off x="8449056" y="2404872"/>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Wajib, format, unit dan julat</a:t>
            </a:r>
            <a:endParaRPr lang="en-US" sz="1170" dirty="0"/>
          </a:p>
        </p:txBody>
      </p:sp>
      <p:sp>
        <p:nvSpPr>
          <p:cNvPr id="38" name="Shape 36"/>
          <p:cNvSpPr/>
          <p:nvPr/>
        </p:nvSpPr>
        <p:spPr>
          <a:xfrm>
            <a:off x="658368" y="3666744"/>
            <a:ext cx="3401568" cy="1627632"/>
          </a:xfrm>
          <a:prstGeom prst="roundRect">
            <a:avLst>
              <a:gd name="adj" fmla="val 3371"/>
            </a:avLst>
          </a:prstGeom>
          <a:solidFill>
            <a:srgbClr val="FFFFFF"/>
          </a:solidFill>
          <a:ln w="11430">
            <a:solidFill>
              <a:srgbClr val="D79A32"/>
            </a:solidFill>
            <a:prstDash val="solid"/>
          </a:ln>
          <a:effectLst>
            <a:outerShdw sx="100000" sy="100000" kx="0" ky="0" algn="bl" rotWithShape="0" blurRad="25400" dist="50800" dir="2700000">
              <a:srgbClr val="000000">
                <a:alpha val="10000"/>
              </a:srgbClr>
            </a:outerShdw>
          </a:effectLst>
        </p:spPr>
      </p:sp>
      <p:sp>
        <p:nvSpPr>
          <p:cNvPr id="39" name="Shape 37"/>
          <p:cNvSpPr/>
          <p:nvPr/>
        </p:nvSpPr>
        <p:spPr>
          <a:xfrm>
            <a:off x="841248" y="3849624"/>
            <a:ext cx="438912" cy="438912"/>
          </a:xfrm>
          <a:prstGeom prst="ellipse">
            <a:avLst/>
          </a:prstGeom>
          <a:solidFill>
            <a:srgbClr val="D79A32"/>
          </a:solidFill>
          <a:ln w="12700">
            <a:solidFill>
              <a:srgbClr val="D79A32"/>
            </a:solidFill>
            <a:prstDash val="solid"/>
          </a:ln>
        </p:spPr>
      </p:sp>
      <p:sp>
        <p:nvSpPr>
          <p:cNvPr id="40" name="Text 38"/>
          <p:cNvSpPr/>
          <p:nvPr/>
        </p:nvSpPr>
        <p:spPr>
          <a:xfrm>
            <a:off x="841248" y="3858768"/>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04</a:t>
            </a:r>
            <a:endParaRPr lang="en-US" sz="1200" dirty="0"/>
          </a:p>
        </p:txBody>
      </p:sp>
      <p:sp>
        <p:nvSpPr>
          <p:cNvPr id="41" name="Text 39"/>
          <p:cNvSpPr/>
          <p:nvPr/>
        </p:nvSpPr>
        <p:spPr>
          <a:xfrm>
            <a:off x="1444752" y="3867912"/>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Membantu</a:t>
            </a:r>
            <a:endParaRPr lang="en-US" sz="1650" dirty="0"/>
          </a:p>
        </p:txBody>
      </p:sp>
      <p:sp>
        <p:nvSpPr>
          <p:cNvPr id="42" name="Text 40"/>
          <p:cNvSpPr/>
          <p:nvPr/>
        </p:nvSpPr>
        <p:spPr>
          <a:xfrm>
            <a:off x="859536" y="4489704"/>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Carian, ringkasan, klasifikasi dan draf</a:t>
            </a:r>
            <a:endParaRPr lang="en-US" sz="1170" dirty="0"/>
          </a:p>
        </p:txBody>
      </p:sp>
      <p:sp>
        <p:nvSpPr>
          <p:cNvPr id="43" name="Shape 41"/>
          <p:cNvSpPr/>
          <p:nvPr/>
        </p:nvSpPr>
        <p:spPr>
          <a:xfrm>
            <a:off x="4453128" y="3666744"/>
            <a:ext cx="3401568" cy="1627632"/>
          </a:xfrm>
          <a:prstGeom prst="roundRect">
            <a:avLst>
              <a:gd name="adj" fmla="val 3371"/>
            </a:avLst>
          </a:prstGeom>
          <a:solidFill>
            <a:srgbClr val="FFFFFF"/>
          </a:solidFill>
          <a:ln w="11430">
            <a:solidFill>
              <a:srgbClr val="173440"/>
            </a:solidFill>
            <a:prstDash val="solid"/>
          </a:ln>
          <a:effectLst>
            <a:outerShdw sx="100000" sy="100000" kx="0" ky="0" algn="bl" rotWithShape="0" blurRad="25400" dist="50800" dir="2700000">
              <a:srgbClr val="000000">
                <a:alpha val="10000"/>
              </a:srgbClr>
            </a:outerShdw>
          </a:effectLst>
        </p:spPr>
      </p:sp>
      <p:sp>
        <p:nvSpPr>
          <p:cNvPr id="44" name="Shape 42"/>
          <p:cNvSpPr/>
          <p:nvPr/>
        </p:nvSpPr>
        <p:spPr>
          <a:xfrm>
            <a:off x="4636008" y="3849624"/>
            <a:ext cx="438912" cy="438912"/>
          </a:xfrm>
          <a:prstGeom prst="ellipse">
            <a:avLst/>
          </a:prstGeom>
          <a:solidFill>
            <a:srgbClr val="173440"/>
          </a:solidFill>
          <a:ln w="12700">
            <a:solidFill>
              <a:srgbClr val="173440"/>
            </a:solidFill>
            <a:prstDash val="solid"/>
          </a:ln>
        </p:spPr>
      </p:sp>
      <p:sp>
        <p:nvSpPr>
          <p:cNvPr id="45" name="Text 43"/>
          <p:cNvSpPr/>
          <p:nvPr/>
        </p:nvSpPr>
        <p:spPr>
          <a:xfrm>
            <a:off x="4636008" y="3858768"/>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05</a:t>
            </a:r>
            <a:endParaRPr lang="en-US" sz="1200" dirty="0"/>
          </a:p>
        </p:txBody>
      </p:sp>
      <p:sp>
        <p:nvSpPr>
          <p:cNvPr id="46" name="Text 44"/>
          <p:cNvSpPr/>
          <p:nvPr/>
        </p:nvSpPr>
        <p:spPr>
          <a:xfrm>
            <a:off x="5239512" y="3867912"/>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Mengautomasi</a:t>
            </a:r>
            <a:endParaRPr lang="en-US" sz="1650" dirty="0"/>
          </a:p>
        </p:txBody>
      </p:sp>
      <p:sp>
        <p:nvSpPr>
          <p:cNvPr id="47" name="Text 45"/>
          <p:cNvSpPr/>
          <p:nvPr/>
        </p:nvSpPr>
        <p:spPr>
          <a:xfrm>
            <a:off x="4654296" y="4489704"/>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Notifikasi, status, pengiraan dan dokumen</a:t>
            </a:r>
            <a:endParaRPr lang="en-US" sz="1170" dirty="0"/>
          </a:p>
        </p:txBody>
      </p:sp>
      <p:sp>
        <p:nvSpPr>
          <p:cNvPr id="48" name="Shape 46"/>
          <p:cNvSpPr/>
          <p:nvPr/>
        </p:nvSpPr>
        <p:spPr>
          <a:xfrm>
            <a:off x="8247888" y="3666744"/>
            <a:ext cx="3401568" cy="1627632"/>
          </a:xfrm>
          <a:prstGeom prst="roundRect">
            <a:avLst>
              <a:gd name="adj" fmla="val 3371"/>
            </a:avLst>
          </a:prstGeom>
          <a:solidFill>
            <a:srgbClr val="FFFFFF"/>
          </a:solidFill>
          <a:ln w="11430">
            <a:solidFill>
              <a:srgbClr val="C95B5B"/>
            </a:solidFill>
            <a:prstDash val="solid"/>
          </a:ln>
          <a:effectLst>
            <a:outerShdw sx="100000" sy="100000" kx="0" ky="0" algn="bl" rotWithShape="0" blurRad="25400" dist="50800" dir="2700000">
              <a:srgbClr val="000000">
                <a:alpha val="10000"/>
              </a:srgbClr>
            </a:outerShdw>
          </a:effectLst>
        </p:spPr>
      </p:sp>
      <p:sp>
        <p:nvSpPr>
          <p:cNvPr id="49" name="Shape 47"/>
          <p:cNvSpPr/>
          <p:nvPr/>
        </p:nvSpPr>
        <p:spPr>
          <a:xfrm>
            <a:off x="8430768" y="3849624"/>
            <a:ext cx="438912" cy="438912"/>
          </a:xfrm>
          <a:prstGeom prst="ellipse">
            <a:avLst/>
          </a:prstGeom>
          <a:solidFill>
            <a:srgbClr val="C95B5B"/>
          </a:solidFill>
          <a:ln w="12700">
            <a:solidFill>
              <a:srgbClr val="C95B5B"/>
            </a:solidFill>
            <a:prstDash val="solid"/>
          </a:ln>
        </p:spPr>
      </p:sp>
      <p:sp>
        <p:nvSpPr>
          <p:cNvPr id="50" name="Text 48"/>
          <p:cNvSpPr/>
          <p:nvPr/>
        </p:nvSpPr>
        <p:spPr>
          <a:xfrm>
            <a:off x="8430768" y="3858768"/>
            <a:ext cx="438912" cy="420624"/>
          </a:xfrm>
          <a:prstGeom prst="rect">
            <a:avLst/>
          </a:prstGeom>
          <a:noFill/>
          <a:ln/>
        </p:spPr>
        <p:txBody>
          <a:bodyPr wrap="square" lIns="0" tIns="0" rIns="0" bIns="0" rtlCol="0" anchor="ctr"/>
          <a:lstStyle/>
          <a:p>
            <a:pPr algn="ctr" indent="0" marL="0">
              <a:buNone/>
            </a:pPr>
            <a:r>
              <a:rPr lang="en-US" sz="1200" b="1" dirty="0">
                <a:solidFill>
                  <a:srgbClr val="FFFFFF"/>
                </a:solidFill>
              </a:rPr>
              <a:t>06</a:t>
            </a:r>
            <a:endParaRPr lang="en-US" sz="1200" dirty="0"/>
          </a:p>
        </p:txBody>
      </p:sp>
      <p:sp>
        <p:nvSpPr>
          <p:cNvPr id="51" name="Text 49"/>
          <p:cNvSpPr/>
          <p:nvPr/>
        </p:nvSpPr>
        <p:spPr>
          <a:xfrm>
            <a:off x="9034272" y="3867912"/>
            <a:ext cx="2286000" cy="347472"/>
          </a:xfrm>
          <a:prstGeom prst="rect">
            <a:avLst/>
          </a:prstGeom>
          <a:noFill/>
          <a:ln/>
        </p:spPr>
        <p:txBody>
          <a:bodyPr wrap="square" lIns="0" tIns="0" rIns="0" bIns="0" rtlCol="0" anchor="ctr"/>
          <a:lstStyle/>
          <a:p>
            <a:pPr indent="0" marL="0">
              <a:buNone/>
            </a:pPr>
            <a:r>
              <a:rPr lang="en-US" sz="1650" b="1" dirty="0">
                <a:solidFill>
                  <a:srgbClr val="182427"/>
                </a:solidFill>
              </a:rPr>
              <a:t>Memantau</a:t>
            </a:r>
            <a:endParaRPr lang="en-US" sz="1650" dirty="0"/>
          </a:p>
        </p:txBody>
      </p:sp>
      <p:sp>
        <p:nvSpPr>
          <p:cNvPr id="52" name="Text 50"/>
          <p:cNvSpPr/>
          <p:nvPr/>
        </p:nvSpPr>
        <p:spPr>
          <a:xfrm>
            <a:off x="8449056" y="4489704"/>
            <a:ext cx="2944368" cy="493776"/>
          </a:xfrm>
          <a:prstGeom prst="rect">
            <a:avLst/>
          </a:prstGeom>
          <a:noFill/>
          <a:ln/>
        </p:spPr>
        <p:txBody>
          <a:bodyPr wrap="square" lIns="0" tIns="0" rIns="0" bIns="0" rtlCol="0" anchor="ctr">
            <a:normAutofit/>
          </a:bodyPr>
          <a:lstStyle/>
          <a:p>
            <a:pPr algn="ctr" indent="0" marL="0">
              <a:buNone/>
            </a:pPr>
            <a:r>
              <a:rPr lang="en-US" sz="1170" dirty="0">
                <a:solidFill>
                  <a:srgbClr val="6A777A"/>
                </a:solidFill>
              </a:rPr>
              <a:t>Dashboard, tunggakan, trend dan pengecualian</a:t>
            </a:r>
            <a:endParaRPr lang="en-US" sz="1170" dirty="0"/>
          </a:p>
        </p:txBody>
      </p:sp>
      <p:sp>
        <p:nvSpPr>
          <p:cNvPr id="53" name="Text 51"/>
          <p:cNvSpPr/>
          <p:nvPr/>
        </p:nvSpPr>
        <p:spPr>
          <a:xfrm>
            <a:off x="658368" y="5742432"/>
            <a:ext cx="10881360" cy="292608"/>
          </a:xfrm>
          <a:prstGeom prst="rect">
            <a:avLst/>
          </a:prstGeom>
          <a:noFill/>
          <a:ln/>
        </p:spPr>
        <p:txBody>
          <a:bodyPr wrap="square" lIns="0" tIns="0" rIns="0" bIns="0" rtlCol="0" anchor="ctr"/>
          <a:lstStyle/>
          <a:p>
            <a:pPr algn="ctr" indent="0" marL="0">
              <a:buNone/>
            </a:pPr>
            <a:r>
              <a:rPr lang="en-US" sz="1350" b="1" dirty="0">
                <a:solidFill>
                  <a:srgbClr val="00A99D"/>
                </a:solidFill>
              </a:rPr>
              <a:t>Satu percubaan awal biasanya memerlukan maksimum dua atau tiga keupayaan.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KEUPAYAAN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12</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Padankan keupayaan dengan kerja MPE</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Contoh padanan — peserta boleh mencadangkan gabungan lain dengan justifikasi.</a:t>
            </a:r>
            <a:endParaRPr lang="en-US" sz="1250" dirty="0"/>
          </a:p>
        </p:txBody>
      </p:sp>
      <p:sp>
        <p:nvSpPr>
          <p:cNvPr id="23" name="Shape 21"/>
          <p:cNvSpPr/>
          <p:nvPr/>
        </p:nvSpPr>
        <p:spPr>
          <a:xfrm>
            <a:off x="713232" y="1554480"/>
            <a:ext cx="3977640" cy="621792"/>
          </a:xfrm>
          <a:prstGeom prst="roundRect">
            <a:avLst>
              <a:gd name="adj" fmla="val 8824"/>
            </a:avLst>
          </a:prstGeom>
          <a:solidFill>
            <a:srgbClr val="FFFFFF"/>
          </a:solidFill>
          <a:ln w="11430">
            <a:solidFill>
              <a:srgbClr val="C9D5D3"/>
            </a:solidFill>
            <a:prstDash val="solid"/>
          </a:ln>
          <a:effectLst>
            <a:outerShdw sx="100000" sy="100000" kx="0" ky="0" algn="bl" rotWithShape="0" blurRad="25400" dist="50800" dir="2700000">
              <a:srgbClr val="000000">
                <a:alpha val="10000"/>
              </a:srgbClr>
            </a:outerShdw>
          </a:effectLst>
        </p:spPr>
      </p:sp>
      <p:sp>
        <p:nvSpPr>
          <p:cNvPr id="24" name="Text 22"/>
          <p:cNvSpPr/>
          <p:nvPr/>
        </p:nvSpPr>
        <p:spPr>
          <a:xfrm>
            <a:off x="932688" y="1737360"/>
            <a:ext cx="3538728" cy="219456"/>
          </a:xfrm>
          <a:prstGeom prst="rect">
            <a:avLst/>
          </a:prstGeom>
          <a:noFill/>
          <a:ln/>
        </p:spPr>
        <p:txBody>
          <a:bodyPr wrap="square" lIns="0" tIns="0" rIns="0" bIns="0" rtlCol="0" anchor="ctr">
            <a:normAutofit/>
          </a:bodyPr>
          <a:lstStyle/>
          <a:p>
            <a:pPr indent="0" marL="0">
              <a:buNone/>
            </a:pPr>
            <a:r>
              <a:rPr lang="en-US" sz="1300" dirty="0">
                <a:solidFill>
                  <a:srgbClr val="182427"/>
                </a:solidFill>
              </a:rPr>
              <a:t>Rekod aktiviti di lokasi</a:t>
            </a:r>
            <a:endParaRPr lang="en-US" sz="1300" dirty="0"/>
          </a:p>
        </p:txBody>
      </p:sp>
      <p:sp>
        <p:nvSpPr>
          <p:cNvPr id="25" name="Shape 23"/>
          <p:cNvSpPr/>
          <p:nvPr/>
        </p:nvSpPr>
        <p:spPr>
          <a:xfrm>
            <a:off x="4937760" y="1865376"/>
            <a:ext cx="822960" cy="0"/>
          </a:xfrm>
          <a:prstGeom prst="line">
            <a:avLst/>
          </a:prstGeom>
          <a:noFill/>
          <a:ln w="22860">
            <a:solidFill>
              <a:srgbClr val="00A99D"/>
            </a:solidFill>
            <a:prstDash val="solid"/>
            <a:tailEnd type="triangle"/>
          </a:ln>
        </p:spPr>
      </p:sp>
      <p:sp>
        <p:nvSpPr>
          <p:cNvPr id="26" name="Shape 24"/>
          <p:cNvSpPr/>
          <p:nvPr/>
        </p:nvSpPr>
        <p:spPr>
          <a:xfrm>
            <a:off x="6016752" y="1554480"/>
            <a:ext cx="5394960" cy="621792"/>
          </a:xfrm>
          <a:prstGeom prst="roundRect">
            <a:avLst>
              <a:gd name="adj" fmla="val 7353"/>
            </a:avLst>
          </a:prstGeom>
          <a:solidFill>
            <a:srgbClr val="E4F8F3"/>
          </a:solidFill>
          <a:ln w="12700">
            <a:solidFill>
              <a:srgbClr val="00A99D"/>
            </a:solidFill>
            <a:prstDash val="solid"/>
          </a:ln>
        </p:spPr>
      </p:sp>
      <p:sp>
        <p:nvSpPr>
          <p:cNvPr id="27" name="Text 25"/>
          <p:cNvSpPr/>
          <p:nvPr/>
        </p:nvSpPr>
        <p:spPr>
          <a:xfrm>
            <a:off x="6236208" y="1737360"/>
            <a:ext cx="4956048" cy="219456"/>
          </a:xfrm>
          <a:prstGeom prst="rect">
            <a:avLst/>
          </a:prstGeom>
          <a:noFill/>
          <a:ln/>
        </p:spPr>
        <p:txBody>
          <a:bodyPr wrap="square" lIns="0" tIns="0" rIns="0" bIns="0" rtlCol="0" anchor="ctr">
            <a:normAutofit/>
          </a:bodyPr>
          <a:lstStyle/>
          <a:p>
            <a:pPr indent="0" marL="0">
              <a:buNone/>
            </a:pPr>
            <a:r>
              <a:rPr lang="en-US" sz="1220" b="1" dirty="0">
                <a:solidFill>
                  <a:srgbClr val="173440"/>
                </a:solidFill>
              </a:rPr>
              <a:t>MENGUMPUL + MENYEMAK</a:t>
            </a:r>
            <a:endParaRPr lang="en-US" sz="1220" dirty="0"/>
          </a:p>
        </p:txBody>
      </p:sp>
      <p:sp>
        <p:nvSpPr>
          <p:cNvPr id="28" name="Shape 26"/>
          <p:cNvSpPr/>
          <p:nvPr/>
        </p:nvSpPr>
        <p:spPr>
          <a:xfrm>
            <a:off x="713232" y="2377440"/>
            <a:ext cx="3977640" cy="621792"/>
          </a:xfrm>
          <a:prstGeom prst="roundRect">
            <a:avLst>
              <a:gd name="adj" fmla="val 8824"/>
            </a:avLst>
          </a:prstGeom>
          <a:solidFill>
            <a:srgbClr val="FFFFFF"/>
          </a:solidFill>
          <a:ln w="11430">
            <a:solidFill>
              <a:srgbClr val="C9D5D3"/>
            </a:solidFill>
            <a:prstDash val="solid"/>
          </a:ln>
          <a:effectLst>
            <a:outerShdw sx="100000" sy="100000" kx="0" ky="0" algn="bl" rotWithShape="0" blurRad="25400" dist="50800" dir="2700000">
              <a:srgbClr val="000000">
                <a:alpha val="10000"/>
              </a:srgbClr>
            </a:outerShdw>
          </a:effectLst>
        </p:spPr>
      </p:sp>
      <p:sp>
        <p:nvSpPr>
          <p:cNvPr id="29" name="Text 27"/>
          <p:cNvSpPr/>
          <p:nvPr/>
        </p:nvSpPr>
        <p:spPr>
          <a:xfrm>
            <a:off x="932688" y="2560320"/>
            <a:ext cx="3538728" cy="219456"/>
          </a:xfrm>
          <a:prstGeom prst="rect">
            <a:avLst/>
          </a:prstGeom>
          <a:noFill/>
          <a:ln/>
        </p:spPr>
        <p:txBody>
          <a:bodyPr wrap="square" lIns="0" tIns="0" rIns="0" bIns="0" rtlCol="0" anchor="ctr">
            <a:normAutofit/>
          </a:bodyPr>
          <a:lstStyle/>
          <a:p>
            <a:pPr indent="0" marL="0">
              <a:buNone/>
            </a:pPr>
            <a:r>
              <a:rPr lang="en-US" sz="1300" dirty="0">
                <a:solidFill>
                  <a:srgbClr val="182427"/>
                </a:solidFill>
              </a:rPr>
              <a:t>Cari sijil kalibrasi</a:t>
            </a:r>
            <a:endParaRPr lang="en-US" sz="1300" dirty="0"/>
          </a:p>
        </p:txBody>
      </p:sp>
      <p:sp>
        <p:nvSpPr>
          <p:cNvPr id="30" name="Shape 28"/>
          <p:cNvSpPr/>
          <p:nvPr/>
        </p:nvSpPr>
        <p:spPr>
          <a:xfrm>
            <a:off x="4937760" y="2688336"/>
            <a:ext cx="822960" cy="0"/>
          </a:xfrm>
          <a:prstGeom prst="line">
            <a:avLst/>
          </a:prstGeom>
          <a:noFill/>
          <a:ln w="22860">
            <a:solidFill>
              <a:srgbClr val="00A99D"/>
            </a:solidFill>
            <a:prstDash val="solid"/>
            <a:tailEnd type="triangle"/>
          </a:ln>
        </p:spPr>
      </p:sp>
      <p:sp>
        <p:nvSpPr>
          <p:cNvPr id="31" name="Shape 29"/>
          <p:cNvSpPr/>
          <p:nvPr/>
        </p:nvSpPr>
        <p:spPr>
          <a:xfrm>
            <a:off x="6016752" y="2377440"/>
            <a:ext cx="5394960" cy="621792"/>
          </a:xfrm>
          <a:prstGeom prst="roundRect">
            <a:avLst>
              <a:gd name="adj" fmla="val 7353"/>
            </a:avLst>
          </a:prstGeom>
          <a:solidFill>
            <a:srgbClr val="E4F8F3"/>
          </a:solidFill>
          <a:ln w="12700">
            <a:solidFill>
              <a:srgbClr val="00A99D"/>
            </a:solidFill>
            <a:prstDash val="solid"/>
          </a:ln>
        </p:spPr>
      </p:sp>
      <p:sp>
        <p:nvSpPr>
          <p:cNvPr id="32" name="Text 30"/>
          <p:cNvSpPr/>
          <p:nvPr/>
        </p:nvSpPr>
        <p:spPr>
          <a:xfrm>
            <a:off x="6236208" y="2560320"/>
            <a:ext cx="4956048" cy="219456"/>
          </a:xfrm>
          <a:prstGeom prst="rect">
            <a:avLst/>
          </a:prstGeom>
          <a:noFill/>
          <a:ln/>
        </p:spPr>
        <p:txBody>
          <a:bodyPr wrap="square" lIns="0" tIns="0" rIns="0" bIns="0" rtlCol="0" anchor="ctr">
            <a:normAutofit/>
          </a:bodyPr>
          <a:lstStyle/>
          <a:p>
            <a:pPr indent="0" marL="0">
              <a:buNone/>
            </a:pPr>
            <a:r>
              <a:rPr lang="en-US" sz="1220" b="1" dirty="0">
                <a:solidFill>
                  <a:srgbClr val="173440"/>
                </a:solidFill>
              </a:rPr>
              <a:t>MENYUSUN + MEMANTAU</a:t>
            </a:r>
            <a:endParaRPr lang="en-US" sz="1220" dirty="0"/>
          </a:p>
        </p:txBody>
      </p:sp>
      <p:sp>
        <p:nvSpPr>
          <p:cNvPr id="33" name="Shape 31"/>
          <p:cNvSpPr/>
          <p:nvPr/>
        </p:nvSpPr>
        <p:spPr>
          <a:xfrm>
            <a:off x="713232" y="3200400"/>
            <a:ext cx="3977640" cy="621792"/>
          </a:xfrm>
          <a:prstGeom prst="roundRect">
            <a:avLst>
              <a:gd name="adj" fmla="val 8824"/>
            </a:avLst>
          </a:prstGeom>
          <a:solidFill>
            <a:srgbClr val="FFFFFF"/>
          </a:solidFill>
          <a:ln w="11430">
            <a:solidFill>
              <a:srgbClr val="C9D5D3"/>
            </a:solidFill>
            <a:prstDash val="solid"/>
          </a:ln>
          <a:effectLst>
            <a:outerShdw sx="100000" sy="100000" kx="0" ky="0" algn="bl" rotWithShape="0" blurRad="25400" dist="50800" dir="2700000">
              <a:srgbClr val="000000">
                <a:alpha val="10000"/>
              </a:srgbClr>
            </a:outerShdw>
          </a:effectLst>
        </p:spPr>
      </p:sp>
      <p:sp>
        <p:nvSpPr>
          <p:cNvPr id="34" name="Text 32"/>
          <p:cNvSpPr/>
          <p:nvPr/>
        </p:nvSpPr>
        <p:spPr>
          <a:xfrm>
            <a:off x="932688" y="3383280"/>
            <a:ext cx="3538728" cy="219456"/>
          </a:xfrm>
          <a:prstGeom prst="rect">
            <a:avLst/>
          </a:prstGeom>
          <a:noFill/>
          <a:ln/>
        </p:spPr>
        <p:txBody>
          <a:bodyPr wrap="square" lIns="0" tIns="0" rIns="0" bIns="0" rtlCol="0" anchor="ctr">
            <a:normAutofit/>
          </a:bodyPr>
          <a:lstStyle/>
          <a:p>
            <a:pPr indent="0" marL="0">
              <a:buNone/>
            </a:pPr>
            <a:r>
              <a:rPr lang="en-US" sz="1300" dirty="0">
                <a:solidFill>
                  <a:srgbClr val="182427"/>
                </a:solidFill>
              </a:rPr>
              <a:t>Sediakan draf ringkasan ujian</a:t>
            </a:r>
            <a:endParaRPr lang="en-US" sz="1300" dirty="0"/>
          </a:p>
        </p:txBody>
      </p:sp>
      <p:sp>
        <p:nvSpPr>
          <p:cNvPr id="35" name="Shape 33"/>
          <p:cNvSpPr/>
          <p:nvPr/>
        </p:nvSpPr>
        <p:spPr>
          <a:xfrm>
            <a:off x="4937760" y="3511296"/>
            <a:ext cx="822960" cy="0"/>
          </a:xfrm>
          <a:prstGeom prst="line">
            <a:avLst/>
          </a:prstGeom>
          <a:noFill/>
          <a:ln w="22860">
            <a:solidFill>
              <a:srgbClr val="00A99D"/>
            </a:solidFill>
            <a:prstDash val="solid"/>
            <a:tailEnd type="triangle"/>
          </a:ln>
        </p:spPr>
      </p:sp>
      <p:sp>
        <p:nvSpPr>
          <p:cNvPr id="36" name="Shape 34"/>
          <p:cNvSpPr/>
          <p:nvPr/>
        </p:nvSpPr>
        <p:spPr>
          <a:xfrm>
            <a:off x="6016752" y="3200400"/>
            <a:ext cx="5394960" cy="621792"/>
          </a:xfrm>
          <a:prstGeom prst="roundRect">
            <a:avLst>
              <a:gd name="adj" fmla="val 7353"/>
            </a:avLst>
          </a:prstGeom>
          <a:solidFill>
            <a:srgbClr val="FFF5DE"/>
          </a:solidFill>
          <a:ln w="12700">
            <a:solidFill>
              <a:srgbClr val="D79A32"/>
            </a:solidFill>
            <a:prstDash val="solid"/>
          </a:ln>
        </p:spPr>
      </p:sp>
      <p:sp>
        <p:nvSpPr>
          <p:cNvPr id="37" name="Text 35"/>
          <p:cNvSpPr/>
          <p:nvPr/>
        </p:nvSpPr>
        <p:spPr>
          <a:xfrm>
            <a:off x="6236208" y="3383280"/>
            <a:ext cx="4956048" cy="219456"/>
          </a:xfrm>
          <a:prstGeom prst="rect">
            <a:avLst/>
          </a:prstGeom>
          <a:noFill/>
          <a:ln/>
        </p:spPr>
        <p:txBody>
          <a:bodyPr wrap="square" lIns="0" tIns="0" rIns="0" bIns="0" rtlCol="0" anchor="ctr">
            <a:normAutofit/>
          </a:bodyPr>
          <a:lstStyle/>
          <a:p>
            <a:pPr indent="0" marL="0">
              <a:buNone/>
            </a:pPr>
            <a:r>
              <a:rPr lang="en-US" sz="1220" b="1" dirty="0">
                <a:solidFill>
                  <a:srgbClr val="855D15"/>
                </a:solidFill>
              </a:rPr>
              <a:t>MEMBANTU + MENYEMAK</a:t>
            </a:r>
            <a:endParaRPr lang="en-US" sz="1220" dirty="0"/>
          </a:p>
        </p:txBody>
      </p:sp>
      <p:sp>
        <p:nvSpPr>
          <p:cNvPr id="38" name="Shape 36"/>
          <p:cNvSpPr/>
          <p:nvPr/>
        </p:nvSpPr>
        <p:spPr>
          <a:xfrm>
            <a:off x="713232" y="4023360"/>
            <a:ext cx="3977640" cy="621792"/>
          </a:xfrm>
          <a:prstGeom prst="roundRect">
            <a:avLst>
              <a:gd name="adj" fmla="val 8824"/>
            </a:avLst>
          </a:prstGeom>
          <a:solidFill>
            <a:srgbClr val="FFFFFF"/>
          </a:solidFill>
          <a:ln w="11430">
            <a:solidFill>
              <a:srgbClr val="C9D5D3"/>
            </a:solidFill>
            <a:prstDash val="solid"/>
          </a:ln>
          <a:effectLst>
            <a:outerShdw sx="100000" sy="100000" kx="0" ky="0" algn="bl" rotWithShape="0" blurRad="25400" dist="50800" dir="2700000">
              <a:srgbClr val="000000">
                <a:alpha val="10000"/>
              </a:srgbClr>
            </a:outerShdw>
          </a:effectLst>
        </p:spPr>
      </p:sp>
      <p:sp>
        <p:nvSpPr>
          <p:cNvPr id="39" name="Text 37"/>
          <p:cNvSpPr/>
          <p:nvPr/>
        </p:nvSpPr>
        <p:spPr>
          <a:xfrm>
            <a:off x="932688" y="4206240"/>
            <a:ext cx="3538728" cy="219456"/>
          </a:xfrm>
          <a:prstGeom prst="rect">
            <a:avLst/>
          </a:prstGeom>
          <a:noFill/>
          <a:ln/>
        </p:spPr>
        <p:txBody>
          <a:bodyPr wrap="square" lIns="0" tIns="0" rIns="0" bIns="0" rtlCol="0" anchor="ctr">
            <a:normAutofit/>
          </a:bodyPr>
          <a:lstStyle/>
          <a:p>
            <a:pPr indent="0" marL="0">
              <a:buNone/>
            </a:pPr>
            <a:r>
              <a:rPr lang="en-US" sz="1300" dirty="0">
                <a:solidFill>
                  <a:srgbClr val="182427"/>
                </a:solidFill>
              </a:rPr>
              <a:t>Jejak pinjaman aset</a:t>
            </a:r>
            <a:endParaRPr lang="en-US" sz="1300" dirty="0"/>
          </a:p>
        </p:txBody>
      </p:sp>
      <p:sp>
        <p:nvSpPr>
          <p:cNvPr id="40" name="Shape 38"/>
          <p:cNvSpPr/>
          <p:nvPr/>
        </p:nvSpPr>
        <p:spPr>
          <a:xfrm>
            <a:off x="4937760" y="4334256"/>
            <a:ext cx="822960" cy="0"/>
          </a:xfrm>
          <a:prstGeom prst="line">
            <a:avLst/>
          </a:prstGeom>
          <a:noFill/>
          <a:ln w="22860">
            <a:solidFill>
              <a:srgbClr val="00A99D"/>
            </a:solidFill>
            <a:prstDash val="solid"/>
            <a:tailEnd type="triangle"/>
          </a:ln>
        </p:spPr>
      </p:sp>
      <p:sp>
        <p:nvSpPr>
          <p:cNvPr id="41" name="Shape 39"/>
          <p:cNvSpPr/>
          <p:nvPr/>
        </p:nvSpPr>
        <p:spPr>
          <a:xfrm>
            <a:off x="6016752" y="4023360"/>
            <a:ext cx="5394960" cy="621792"/>
          </a:xfrm>
          <a:prstGeom prst="roundRect">
            <a:avLst>
              <a:gd name="adj" fmla="val 7353"/>
            </a:avLst>
          </a:prstGeom>
          <a:solidFill>
            <a:srgbClr val="E4F8F3"/>
          </a:solidFill>
          <a:ln w="12700">
            <a:solidFill>
              <a:srgbClr val="00A99D"/>
            </a:solidFill>
            <a:prstDash val="solid"/>
          </a:ln>
        </p:spPr>
      </p:sp>
      <p:sp>
        <p:nvSpPr>
          <p:cNvPr id="42" name="Text 40"/>
          <p:cNvSpPr/>
          <p:nvPr/>
        </p:nvSpPr>
        <p:spPr>
          <a:xfrm>
            <a:off x="6236208" y="4206240"/>
            <a:ext cx="4956048" cy="219456"/>
          </a:xfrm>
          <a:prstGeom prst="rect">
            <a:avLst/>
          </a:prstGeom>
          <a:noFill/>
          <a:ln/>
        </p:spPr>
        <p:txBody>
          <a:bodyPr wrap="square" lIns="0" tIns="0" rIns="0" bIns="0" rtlCol="0" anchor="ctr">
            <a:normAutofit/>
          </a:bodyPr>
          <a:lstStyle/>
          <a:p>
            <a:pPr indent="0" marL="0">
              <a:buNone/>
            </a:pPr>
            <a:r>
              <a:rPr lang="en-US" sz="1220" b="1" dirty="0">
                <a:solidFill>
                  <a:srgbClr val="173440"/>
                </a:solidFill>
              </a:rPr>
              <a:t>MENGAUTOMASI + MEMANTAU</a:t>
            </a:r>
            <a:endParaRPr lang="en-US" sz="1220" dirty="0"/>
          </a:p>
        </p:txBody>
      </p:sp>
      <p:sp>
        <p:nvSpPr>
          <p:cNvPr id="43" name="Shape 41"/>
          <p:cNvSpPr/>
          <p:nvPr/>
        </p:nvSpPr>
        <p:spPr>
          <a:xfrm>
            <a:off x="713232" y="4846320"/>
            <a:ext cx="3977640" cy="621792"/>
          </a:xfrm>
          <a:prstGeom prst="roundRect">
            <a:avLst>
              <a:gd name="adj" fmla="val 8824"/>
            </a:avLst>
          </a:prstGeom>
          <a:solidFill>
            <a:srgbClr val="FFFFFF"/>
          </a:solidFill>
          <a:ln w="11430">
            <a:solidFill>
              <a:srgbClr val="C9D5D3"/>
            </a:solidFill>
            <a:prstDash val="solid"/>
          </a:ln>
          <a:effectLst>
            <a:outerShdw sx="100000" sy="100000" kx="0" ky="0" algn="bl" rotWithShape="0" blurRad="25400" dist="50800" dir="2700000">
              <a:srgbClr val="000000">
                <a:alpha val="10000"/>
              </a:srgbClr>
            </a:outerShdw>
          </a:effectLst>
        </p:spPr>
      </p:sp>
      <p:sp>
        <p:nvSpPr>
          <p:cNvPr id="44" name="Text 42"/>
          <p:cNvSpPr/>
          <p:nvPr/>
        </p:nvSpPr>
        <p:spPr>
          <a:xfrm>
            <a:off x="932688" y="5029200"/>
            <a:ext cx="3538728" cy="219456"/>
          </a:xfrm>
          <a:prstGeom prst="rect">
            <a:avLst/>
          </a:prstGeom>
          <a:noFill/>
          <a:ln/>
        </p:spPr>
        <p:txBody>
          <a:bodyPr wrap="square" lIns="0" tIns="0" rIns="0" bIns="0" rtlCol="0" anchor="ctr">
            <a:normAutofit/>
          </a:bodyPr>
          <a:lstStyle/>
          <a:p>
            <a:pPr indent="0" marL="0">
              <a:buNone/>
            </a:pPr>
            <a:r>
              <a:rPr lang="en-US" sz="1300" dirty="0">
                <a:solidFill>
                  <a:srgbClr val="182427"/>
                </a:solidFill>
              </a:rPr>
              <a:t>Pantau keputusan ujian</a:t>
            </a:r>
            <a:endParaRPr lang="en-US" sz="1300" dirty="0"/>
          </a:p>
        </p:txBody>
      </p:sp>
      <p:sp>
        <p:nvSpPr>
          <p:cNvPr id="45" name="Shape 43"/>
          <p:cNvSpPr/>
          <p:nvPr/>
        </p:nvSpPr>
        <p:spPr>
          <a:xfrm>
            <a:off x="4937760" y="5157216"/>
            <a:ext cx="822960" cy="0"/>
          </a:xfrm>
          <a:prstGeom prst="line">
            <a:avLst/>
          </a:prstGeom>
          <a:noFill/>
          <a:ln w="22860">
            <a:solidFill>
              <a:srgbClr val="00A99D"/>
            </a:solidFill>
            <a:prstDash val="solid"/>
            <a:tailEnd type="triangle"/>
          </a:ln>
        </p:spPr>
      </p:sp>
      <p:sp>
        <p:nvSpPr>
          <p:cNvPr id="46" name="Shape 44"/>
          <p:cNvSpPr/>
          <p:nvPr/>
        </p:nvSpPr>
        <p:spPr>
          <a:xfrm>
            <a:off x="6016752" y="4846320"/>
            <a:ext cx="5394960" cy="621792"/>
          </a:xfrm>
          <a:prstGeom prst="roundRect">
            <a:avLst>
              <a:gd name="adj" fmla="val 7353"/>
            </a:avLst>
          </a:prstGeom>
          <a:solidFill>
            <a:srgbClr val="E4F8F3"/>
          </a:solidFill>
          <a:ln w="12700">
            <a:solidFill>
              <a:srgbClr val="00A99D"/>
            </a:solidFill>
            <a:prstDash val="solid"/>
          </a:ln>
        </p:spPr>
      </p:sp>
      <p:sp>
        <p:nvSpPr>
          <p:cNvPr id="47" name="Text 45"/>
          <p:cNvSpPr/>
          <p:nvPr/>
        </p:nvSpPr>
        <p:spPr>
          <a:xfrm>
            <a:off x="6236208" y="5029200"/>
            <a:ext cx="4956048" cy="219456"/>
          </a:xfrm>
          <a:prstGeom prst="rect">
            <a:avLst/>
          </a:prstGeom>
          <a:noFill/>
          <a:ln/>
        </p:spPr>
        <p:txBody>
          <a:bodyPr wrap="square" lIns="0" tIns="0" rIns="0" bIns="0" rtlCol="0" anchor="ctr">
            <a:normAutofit/>
          </a:bodyPr>
          <a:lstStyle/>
          <a:p>
            <a:pPr indent="0" marL="0">
              <a:buNone/>
            </a:pPr>
            <a:r>
              <a:rPr lang="en-US" sz="1220" b="1" dirty="0">
                <a:solidFill>
                  <a:srgbClr val="173440"/>
                </a:solidFill>
              </a:rPr>
              <a:t>MENYEMAK + MEMANTAU</a:t>
            </a:r>
            <a:endParaRPr lang="en-US" sz="1220" dirty="0"/>
          </a:p>
        </p:txBody>
      </p:sp>
      <p:sp>
        <p:nvSpPr>
          <p:cNvPr id="48" name="Text 46"/>
          <p:cNvSpPr/>
          <p:nvPr/>
        </p:nvSpPr>
        <p:spPr>
          <a:xfrm>
            <a:off x="713232" y="5806440"/>
            <a:ext cx="10698480" cy="274320"/>
          </a:xfrm>
          <a:prstGeom prst="rect">
            <a:avLst/>
          </a:prstGeom>
          <a:noFill/>
          <a:ln/>
        </p:spPr>
        <p:txBody>
          <a:bodyPr wrap="square" lIns="0" tIns="0" rIns="0" bIns="0" rtlCol="0" anchor="ctr"/>
          <a:lstStyle/>
          <a:p>
            <a:pPr algn="ctr" indent="0" marL="0">
              <a:buNone/>
            </a:pPr>
            <a:r>
              <a:rPr lang="en-US" sz="1300" b="1" dirty="0">
                <a:solidFill>
                  <a:srgbClr val="00A99D"/>
                </a:solidFill>
              </a:rPr>
              <a:t>Latihan lisan: pilih satu nota masalah dan cadangkan satu atau dua keupayaan.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KEUPAYAAN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13</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Automasi peraturan atau bantuan AI?</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Gunakan kaedah paling mudah dan stabil yang memenuhi keperluan.</a:t>
            </a:r>
            <a:endParaRPr lang="en-US" sz="1250" dirty="0"/>
          </a:p>
        </p:txBody>
      </p:sp>
      <p:sp>
        <p:nvSpPr>
          <p:cNvPr id="23" name="Shape 21"/>
          <p:cNvSpPr/>
          <p:nvPr/>
        </p:nvSpPr>
        <p:spPr>
          <a:xfrm>
            <a:off x="685800" y="1536192"/>
            <a:ext cx="5321808" cy="3566160"/>
          </a:xfrm>
          <a:prstGeom prst="roundRect">
            <a:avLst>
              <a:gd name="adj" fmla="val 1538"/>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4" name="Shape 22"/>
          <p:cNvSpPr/>
          <p:nvPr/>
        </p:nvSpPr>
        <p:spPr>
          <a:xfrm>
            <a:off x="685800" y="1536192"/>
            <a:ext cx="73152" cy="3566160"/>
          </a:xfrm>
          <a:prstGeom prst="rect">
            <a:avLst/>
          </a:prstGeom>
          <a:solidFill>
            <a:srgbClr val="2F72C4"/>
          </a:solidFill>
          <a:ln w="12700">
            <a:solidFill>
              <a:srgbClr val="2F72C4"/>
            </a:solidFill>
            <a:prstDash val="solid"/>
          </a:ln>
        </p:spPr>
      </p:sp>
      <p:sp>
        <p:nvSpPr>
          <p:cNvPr id="25" name="Text 23"/>
          <p:cNvSpPr/>
          <p:nvPr/>
        </p:nvSpPr>
        <p:spPr>
          <a:xfrm>
            <a:off x="896112" y="1691640"/>
            <a:ext cx="4974336" cy="292608"/>
          </a:xfrm>
          <a:prstGeom prst="rect">
            <a:avLst/>
          </a:prstGeom>
          <a:noFill/>
          <a:ln/>
        </p:spPr>
        <p:txBody>
          <a:bodyPr wrap="square" lIns="0" tIns="0" rIns="0" bIns="0" rtlCol="0" anchor="ctr">
            <a:normAutofit/>
          </a:bodyPr>
          <a:lstStyle/>
          <a:p>
            <a:pPr indent="0" marL="0">
              <a:buNone/>
            </a:pPr>
            <a:r>
              <a:rPr lang="en-US" sz="1500" b="1" dirty="0">
                <a:solidFill>
                  <a:srgbClr val="2F72C4"/>
                </a:solidFill>
              </a:rPr>
              <a:t>AUTOMASI BERASASKAN PERATURAN</a:t>
            </a:r>
            <a:endParaRPr lang="en-US" sz="1500" dirty="0"/>
          </a:p>
        </p:txBody>
      </p:sp>
      <p:sp>
        <p:nvSpPr>
          <p:cNvPr id="26" name="Text 24"/>
          <p:cNvSpPr/>
          <p:nvPr/>
        </p:nvSpPr>
        <p:spPr>
          <a:xfrm>
            <a:off x="896112" y="2066544"/>
            <a:ext cx="4974336" cy="2898648"/>
          </a:xfrm>
          <a:prstGeom prst="rect">
            <a:avLst/>
          </a:prstGeom>
          <a:noFill/>
          <a:ln/>
        </p:spPr>
        <p:txBody>
          <a:bodyPr wrap="square" lIns="0" tIns="0" rIns="0" bIns="0" rtlCol="0" anchor="t">
            <a:normAutofit/>
          </a:bodyPr>
          <a:lstStyle/>
          <a:p>
            <a:pPr indent="0" marL="0">
              <a:buNone/>
            </a:pPr>
            <a:r>
              <a:rPr lang="en-US" sz="1350" dirty="0">
                <a:solidFill>
                  <a:srgbClr val="6A777A"/>
                </a:solidFill>
              </a:rPr>
              <a:t>Langkah dan keputusan jelas</a:t>
            </a:r>
            <a:endParaRPr lang="en-US" sz="1350" dirty="0"/>
          </a:p>
          <a:p>
            <a:pPr indent="0" marL="0">
              <a:buNone/>
            </a:pPr>
            <a:endParaRPr lang="en-US" sz="1350" dirty="0"/>
          </a:p>
          <a:p>
            <a:pPr indent="0" marL="0">
              <a:buNone/>
            </a:pPr>
            <a:r>
              <a:rPr lang="en-US" sz="1350" dirty="0">
                <a:solidFill>
                  <a:srgbClr val="6A777A"/>
                </a:solidFill>
              </a:rPr>
              <a:t>Hasil boleh dijangka apabila input, peraturan dan konfigurasi adalah sah</a:t>
            </a:r>
            <a:endParaRPr lang="en-US" sz="1350" dirty="0"/>
          </a:p>
          <a:p>
            <a:pPr indent="0" marL="0">
              <a:buNone/>
            </a:pPr>
            <a:endParaRPr lang="en-US" sz="1350" dirty="0"/>
          </a:p>
          <a:p>
            <a:pPr indent="0" marL="0">
              <a:buNone/>
            </a:pPr>
            <a:r>
              <a:rPr lang="en-US" sz="1350" dirty="0">
                <a:solidFill>
                  <a:srgbClr val="6A777A"/>
                </a:solidFill>
              </a:rPr>
              <a:t>Contoh MPE:</a:t>
            </a:r>
            <a:endParaRPr lang="en-US" sz="1350" dirty="0"/>
          </a:p>
          <a:p>
            <a:pPr indent="0" marL="0">
              <a:buNone/>
            </a:pPr>
            <a:r>
              <a:rPr lang="en-US" sz="1350" dirty="0">
                <a:solidFill>
                  <a:srgbClr val="6A777A"/>
                </a:solidFill>
              </a:rPr>
              <a:t>— Jana ID rekod</a:t>
            </a:r>
            <a:endParaRPr lang="en-US" sz="1350" dirty="0"/>
          </a:p>
          <a:p>
            <a:pPr indent="0" marL="0">
              <a:buNone/>
            </a:pPr>
            <a:r>
              <a:rPr lang="en-US" sz="1350" dirty="0">
                <a:solidFill>
                  <a:srgbClr val="6A777A"/>
                </a:solidFill>
              </a:rPr>
              <a:t>— Kira nilai matematik</a:t>
            </a:r>
            <a:endParaRPr lang="en-US" sz="1350" dirty="0"/>
          </a:p>
          <a:p>
            <a:pPr indent="0" marL="0">
              <a:buNone/>
            </a:pPr>
            <a:r>
              <a:rPr lang="en-US" sz="1350" dirty="0">
                <a:solidFill>
                  <a:srgbClr val="6A777A"/>
                </a:solidFill>
              </a:rPr>
              <a:t>— Format tarikh dan status</a:t>
            </a:r>
            <a:endParaRPr lang="en-US" sz="1350" dirty="0"/>
          </a:p>
        </p:txBody>
      </p:sp>
      <p:sp>
        <p:nvSpPr>
          <p:cNvPr id="27" name="Shape 25"/>
          <p:cNvSpPr/>
          <p:nvPr/>
        </p:nvSpPr>
        <p:spPr>
          <a:xfrm>
            <a:off x="6190488" y="1536192"/>
            <a:ext cx="5321808" cy="3566160"/>
          </a:xfrm>
          <a:prstGeom prst="roundRect">
            <a:avLst>
              <a:gd name="adj" fmla="val 1538"/>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8" name="Shape 26"/>
          <p:cNvSpPr/>
          <p:nvPr/>
        </p:nvSpPr>
        <p:spPr>
          <a:xfrm>
            <a:off x="6190488" y="1536192"/>
            <a:ext cx="73152" cy="3566160"/>
          </a:xfrm>
          <a:prstGeom prst="rect">
            <a:avLst/>
          </a:prstGeom>
          <a:solidFill>
            <a:srgbClr val="00A99D"/>
          </a:solidFill>
          <a:ln w="12700">
            <a:solidFill>
              <a:srgbClr val="00A99D"/>
            </a:solidFill>
            <a:prstDash val="solid"/>
          </a:ln>
        </p:spPr>
      </p:sp>
      <p:sp>
        <p:nvSpPr>
          <p:cNvPr id="29" name="Text 27"/>
          <p:cNvSpPr/>
          <p:nvPr/>
        </p:nvSpPr>
        <p:spPr>
          <a:xfrm>
            <a:off x="6400800" y="1691640"/>
            <a:ext cx="4974336" cy="292608"/>
          </a:xfrm>
          <a:prstGeom prst="rect">
            <a:avLst/>
          </a:prstGeom>
          <a:noFill/>
          <a:ln/>
        </p:spPr>
        <p:txBody>
          <a:bodyPr wrap="square" lIns="0" tIns="0" rIns="0" bIns="0" rtlCol="0" anchor="ctr">
            <a:normAutofit/>
          </a:bodyPr>
          <a:lstStyle/>
          <a:p>
            <a:pPr indent="0" marL="0">
              <a:buNone/>
            </a:pPr>
            <a:r>
              <a:rPr lang="en-US" sz="1500" b="1" dirty="0">
                <a:solidFill>
                  <a:srgbClr val="00A99D"/>
                </a:solidFill>
              </a:rPr>
              <a:t>AI DENGAN SEMAKAN</a:t>
            </a:r>
            <a:endParaRPr lang="en-US" sz="1500" dirty="0"/>
          </a:p>
        </p:txBody>
      </p:sp>
      <p:sp>
        <p:nvSpPr>
          <p:cNvPr id="30" name="Text 28"/>
          <p:cNvSpPr/>
          <p:nvPr/>
        </p:nvSpPr>
        <p:spPr>
          <a:xfrm>
            <a:off x="6400800" y="2066544"/>
            <a:ext cx="4974336" cy="2898648"/>
          </a:xfrm>
          <a:prstGeom prst="rect">
            <a:avLst/>
          </a:prstGeom>
          <a:noFill/>
          <a:ln/>
        </p:spPr>
        <p:txBody>
          <a:bodyPr wrap="square" lIns="0" tIns="0" rIns="0" bIns="0" rtlCol="0" anchor="t">
            <a:normAutofit/>
          </a:bodyPr>
          <a:lstStyle/>
          <a:p>
            <a:pPr indent="0" marL="0">
              <a:buNone/>
            </a:pPr>
            <a:r>
              <a:rPr lang="en-US" sz="1350" dirty="0">
                <a:solidFill>
                  <a:srgbClr val="6A777A"/>
                </a:solidFill>
              </a:rPr>
              <a:t>Bahasa, pola dan variasi tinggi</a:t>
            </a:r>
            <a:endParaRPr lang="en-US" sz="1350" dirty="0"/>
          </a:p>
          <a:p>
            <a:pPr indent="0" marL="0">
              <a:buNone/>
            </a:pPr>
            <a:endParaRPr lang="en-US" sz="1350" dirty="0"/>
          </a:p>
          <a:p>
            <a:pPr indent="0" marL="0">
              <a:buNone/>
            </a:pPr>
            <a:r>
              <a:rPr lang="en-US" sz="1350" dirty="0">
                <a:solidFill>
                  <a:srgbClr val="6A777A"/>
                </a:solidFill>
              </a:rPr>
              <a:t>Hasil ialah cadangan atau draf yang perlu dinilai</a:t>
            </a:r>
            <a:endParaRPr lang="en-US" sz="1350" dirty="0"/>
          </a:p>
          <a:p>
            <a:pPr indent="0" marL="0">
              <a:buNone/>
            </a:pPr>
            <a:endParaRPr lang="en-US" sz="1350" dirty="0"/>
          </a:p>
          <a:p>
            <a:pPr indent="0" marL="0">
              <a:buNone/>
            </a:pPr>
            <a:r>
              <a:rPr lang="en-US" sz="1350" dirty="0">
                <a:solidFill>
                  <a:srgbClr val="6A777A"/>
                </a:solidFill>
              </a:rPr>
              <a:t>Contoh MPE:</a:t>
            </a:r>
            <a:endParaRPr lang="en-US" sz="1350" dirty="0"/>
          </a:p>
          <a:p>
            <a:pPr indent="0" marL="0">
              <a:buNone/>
            </a:pPr>
            <a:r>
              <a:rPr lang="en-US" sz="1350" dirty="0">
                <a:solidFill>
                  <a:srgbClr val="6A777A"/>
                </a:solidFill>
              </a:rPr>
              <a:t>— Ringkaskan catatan ujian</a:t>
            </a:r>
            <a:endParaRPr lang="en-US" sz="1350" dirty="0"/>
          </a:p>
          <a:p>
            <a:pPr indent="0" marL="0">
              <a:buNone/>
            </a:pPr>
            <a:r>
              <a:rPr lang="en-US" sz="1350" dirty="0">
                <a:solidFill>
                  <a:srgbClr val="6A777A"/>
                </a:solidFill>
              </a:rPr>
              <a:t>— Kelaskan komen</a:t>
            </a:r>
            <a:endParaRPr lang="en-US" sz="1350" dirty="0"/>
          </a:p>
          <a:p>
            <a:pPr indent="0" marL="0">
              <a:buNone/>
            </a:pPr>
            <a:r>
              <a:rPr lang="en-US" sz="1350" dirty="0">
                <a:solidFill>
                  <a:srgbClr val="6A777A"/>
                </a:solidFill>
              </a:rPr>
              <a:t>— Cadangkan isu untuk semakan</a:t>
            </a:r>
            <a:endParaRPr lang="en-US" sz="1350" dirty="0"/>
          </a:p>
        </p:txBody>
      </p:sp>
      <p:sp>
        <p:nvSpPr>
          <p:cNvPr id="31" name="Shape 29"/>
          <p:cNvSpPr/>
          <p:nvPr/>
        </p:nvSpPr>
        <p:spPr>
          <a:xfrm>
            <a:off x="1234440" y="5422392"/>
            <a:ext cx="9738360" cy="530352"/>
          </a:xfrm>
          <a:prstGeom prst="roundRect">
            <a:avLst>
              <a:gd name="adj" fmla="val 8621"/>
            </a:avLst>
          </a:prstGeom>
          <a:solidFill>
            <a:srgbClr val="173440"/>
          </a:solidFill>
          <a:ln w="12700">
            <a:solidFill>
              <a:srgbClr val="173440"/>
            </a:solidFill>
            <a:prstDash val="solid"/>
          </a:ln>
        </p:spPr>
      </p:sp>
      <p:sp>
        <p:nvSpPr>
          <p:cNvPr id="32" name="Text 30"/>
          <p:cNvSpPr/>
          <p:nvPr/>
        </p:nvSpPr>
        <p:spPr>
          <a:xfrm>
            <a:off x="1508760" y="5577840"/>
            <a:ext cx="9189720" cy="228600"/>
          </a:xfrm>
          <a:prstGeom prst="rect">
            <a:avLst/>
          </a:prstGeom>
          <a:noFill/>
          <a:ln/>
        </p:spPr>
        <p:txBody>
          <a:bodyPr wrap="square" lIns="0" tIns="0" rIns="0" bIns="0" rtlCol="0" anchor="ctr"/>
          <a:lstStyle/>
          <a:p>
            <a:pPr algn="ctr" indent="0" marL="0">
              <a:buNone/>
            </a:pPr>
            <a:r>
              <a:rPr lang="en-US" sz="1350" b="1" dirty="0">
                <a:solidFill>
                  <a:srgbClr val="FFFFFF"/>
                </a:solidFill>
              </a:rPr>
              <a:t>Jangan gunakan AI bagi tugas berasaskan peraturan jika automasi biasa sudah memadai.</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KEUTAMAAN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14</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Pilih peluang yang berbaloi</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Skor membantu perbincangan; ia bukan kelulusan automatik.</a:t>
            </a:r>
            <a:endParaRPr lang="en-US" sz="1250" dirty="0"/>
          </a:p>
        </p:txBody>
      </p:sp>
      <p:sp>
        <p:nvSpPr>
          <p:cNvPr id="23" name="Shape 21"/>
          <p:cNvSpPr/>
          <p:nvPr/>
        </p:nvSpPr>
        <p:spPr>
          <a:xfrm>
            <a:off x="713232" y="1508760"/>
            <a:ext cx="10771632" cy="950976"/>
          </a:xfrm>
          <a:prstGeom prst="roundRect">
            <a:avLst>
              <a:gd name="adj" fmla="val 5769"/>
            </a:avLst>
          </a:prstGeom>
          <a:solidFill>
            <a:srgbClr val="173440"/>
          </a:solidFill>
          <a:ln w="12700">
            <a:solidFill>
              <a:srgbClr val="173440"/>
            </a:solidFill>
            <a:prstDash val="solid"/>
          </a:ln>
        </p:spPr>
      </p:sp>
      <p:sp>
        <p:nvSpPr>
          <p:cNvPr id="24" name="Text 22"/>
          <p:cNvSpPr/>
          <p:nvPr/>
        </p:nvSpPr>
        <p:spPr>
          <a:xfrm>
            <a:off x="960120" y="1801368"/>
            <a:ext cx="10277856" cy="310896"/>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rPr>
              <a:t>KEUTAMAAN  =  NILAI  +  KEKERAPAN  +  KEBOLEHLAKSANAAN  −  RISIKO</a:t>
            </a:r>
            <a:endParaRPr lang="en-US" sz="2000" dirty="0"/>
          </a:p>
        </p:txBody>
      </p:sp>
      <p:sp>
        <p:nvSpPr>
          <p:cNvPr id="25" name="Text 23"/>
          <p:cNvSpPr/>
          <p:nvPr/>
        </p:nvSpPr>
        <p:spPr>
          <a:xfrm>
            <a:off x="1920240" y="2212848"/>
            <a:ext cx="8321040" cy="164592"/>
          </a:xfrm>
          <a:prstGeom prst="rect">
            <a:avLst/>
          </a:prstGeom>
          <a:noFill/>
          <a:ln/>
        </p:spPr>
        <p:txBody>
          <a:bodyPr wrap="square" lIns="0" tIns="0" rIns="0" bIns="0" rtlCol="0" anchor="ctr"/>
          <a:lstStyle/>
          <a:p>
            <a:pPr algn="ctr" indent="0" marL="0">
              <a:buNone/>
            </a:pPr>
            <a:r>
              <a:rPr lang="en-US" sz="950" dirty="0">
                <a:solidFill>
                  <a:srgbClr val="C7D7D9"/>
                </a:solidFill>
              </a:rPr>
              <a:t>Setiap dimensi diberi skor 1, 3 atau 5 — rujuk rubrik pada kanvas.</a:t>
            </a:r>
            <a:endParaRPr lang="en-US" sz="950" dirty="0"/>
          </a:p>
        </p:txBody>
      </p:sp>
      <p:sp>
        <p:nvSpPr>
          <p:cNvPr id="26" name="Shape 24"/>
          <p:cNvSpPr/>
          <p:nvPr/>
        </p:nvSpPr>
        <p:spPr>
          <a:xfrm>
            <a:off x="713232" y="2788920"/>
            <a:ext cx="2487168" cy="1307592"/>
          </a:xfrm>
          <a:prstGeom prst="roundRect">
            <a:avLst>
              <a:gd name="adj" fmla="val 419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7" name="Shape 25"/>
          <p:cNvSpPr/>
          <p:nvPr/>
        </p:nvSpPr>
        <p:spPr>
          <a:xfrm>
            <a:off x="713232" y="2788920"/>
            <a:ext cx="73152" cy="1307592"/>
          </a:xfrm>
          <a:prstGeom prst="rect">
            <a:avLst/>
          </a:prstGeom>
          <a:solidFill>
            <a:srgbClr val="00A99D"/>
          </a:solidFill>
          <a:ln w="12700">
            <a:solidFill>
              <a:srgbClr val="00A99D"/>
            </a:solidFill>
            <a:prstDash val="solid"/>
          </a:ln>
        </p:spPr>
      </p:sp>
      <p:sp>
        <p:nvSpPr>
          <p:cNvPr id="28" name="Text 26"/>
          <p:cNvSpPr/>
          <p:nvPr/>
        </p:nvSpPr>
        <p:spPr>
          <a:xfrm>
            <a:off x="923544" y="2944368"/>
            <a:ext cx="2139696"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NILAI</a:t>
            </a:r>
            <a:endParaRPr lang="en-US" sz="1250" dirty="0"/>
          </a:p>
        </p:txBody>
      </p:sp>
      <p:sp>
        <p:nvSpPr>
          <p:cNvPr id="29" name="Text 27"/>
          <p:cNvSpPr/>
          <p:nvPr/>
        </p:nvSpPr>
        <p:spPr>
          <a:xfrm>
            <a:off x="923544" y="3319272"/>
            <a:ext cx="2139696" cy="640080"/>
          </a:xfrm>
          <a:prstGeom prst="rect">
            <a:avLst/>
          </a:prstGeom>
          <a:noFill/>
          <a:ln/>
        </p:spPr>
        <p:txBody>
          <a:bodyPr wrap="square" lIns="0" tIns="0" rIns="0" bIns="0" rtlCol="0" anchor="t">
            <a:normAutofit/>
          </a:bodyPr>
          <a:lstStyle/>
          <a:p>
            <a:pPr indent="0" marL="0">
              <a:buNone/>
            </a:pPr>
            <a:r>
              <a:rPr lang="en-US" sz="1080" dirty="0">
                <a:solidFill>
                  <a:srgbClr val="6A777A"/>
                </a:solidFill>
              </a:rPr>
              <a:t>Masa · kualiti · keselamatan · audit</a:t>
            </a:r>
            <a:endParaRPr lang="en-US" sz="1080" dirty="0"/>
          </a:p>
        </p:txBody>
      </p:sp>
      <p:sp>
        <p:nvSpPr>
          <p:cNvPr id="30" name="Shape 28"/>
          <p:cNvSpPr/>
          <p:nvPr/>
        </p:nvSpPr>
        <p:spPr>
          <a:xfrm>
            <a:off x="3474720" y="2788920"/>
            <a:ext cx="2487168" cy="1307592"/>
          </a:xfrm>
          <a:prstGeom prst="roundRect">
            <a:avLst>
              <a:gd name="adj" fmla="val 419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1" name="Shape 29"/>
          <p:cNvSpPr/>
          <p:nvPr/>
        </p:nvSpPr>
        <p:spPr>
          <a:xfrm>
            <a:off x="3474720" y="2788920"/>
            <a:ext cx="73152" cy="1307592"/>
          </a:xfrm>
          <a:prstGeom prst="rect">
            <a:avLst/>
          </a:prstGeom>
          <a:solidFill>
            <a:srgbClr val="2F72C4"/>
          </a:solidFill>
          <a:ln w="12700">
            <a:solidFill>
              <a:srgbClr val="2F72C4"/>
            </a:solidFill>
            <a:prstDash val="solid"/>
          </a:ln>
        </p:spPr>
      </p:sp>
      <p:sp>
        <p:nvSpPr>
          <p:cNvPr id="32" name="Text 30"/>
          <p:cNvSpPr/>
          <p:nvPr/>
        </p:nvSpPr>
        <p:spPr>
          <a:xfrm>
            <a:off x="3685032" y="2944368"/>
            <a:ext cx="2139696"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KEKERAPAN</a:t>
            </a:r>
            <a:endParaRPr lang="en-US" sz="1250" dirty="0"/>
          </a:p>
        </p:txBody>
      </p:sp>
      <p:sp>
        <p:nvSpPr>
          <p:cNvPr id="33" name="Text 31"/>
          <p:cNvSpPr/>
          <p:nvPr/>
        </p:nvSpPr>
        <p:spPr>
          <a:xfrm>
            <a:off x="3685032" y="3319272"/>
            <a:ext cx="2139696" cy="640080"/>
          </a:xfrm>
          <a:prstGeom prst="rect">
            <a:avLst/>
          </a:prstGeom>
          <a:noFill/>
          <a:ln/>
        </p:spPr>
        <p:txBody>
          <a:bodyPr wrap="square" lIns="0" tIns="0" rIns="0" bIns="0" rtlCol="0" anchor="t">
            <a:normAutofit/>
          </a:bodyPr>
          <a:lstStyle/>
          <a:p>
            <a:pPr indent="0" marL="0">
              <a:buNone/>
            </a:pPr>
            <a:r>
              <a:rPr lang="en-US" sz="1080" dirty="0">
                <a:solidFill>
                  <a:srgbClr val="6A777A"/>
                </a:solidFill>
              </a:rPr>
              <a:t>Berapa kerap masalah berlaku?</a:t>
            </a:r>
            <a:endParaRPr lang="en-US" sz="1080" dirty="0"/>
          </a:p>
        </p:txBody>
      </p:sp>
      <p:sp>
        <p:nvSpPr>
          <p:cNvPr id="34" name="Shape 32"/>
          <p:cNvSpPr/>
          <p:nvPr/>
        </p:nvSpPr>
        <p:spPr>
          <a:xfrm>
            <a:off x="6236208" y="2788920"/>
            <a:ext cx="2487168" cy="1307592"/>
          </a:xfrm>
          <a:prstGeom prst="roundRect">
            <a:avLst>
              <a:gd name="adj" fmla="val 419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5" name="Shape 33"/>
          <p:cNvSpPr/>
          <p:nvPr/>
        </p:nvSpPr>
        <p:spPr>
          <a:xfrm>
            <a:off x="6236208" y="2788920"/>
            <a:ext cx="73152" cy="1307592"/>
          </a:xfrm>
          <a:prstGeom prst="rect">
            <a:avLst/>
          </a:prstGeom>
          <a:solidFill>
            <a:srgbClr val="3F9B72"/>
          </a:solidFill>
          <a:ln w="12700">
            <a:solidFill>
              <a:srgbClr val="3F9B72"/>
            </a:solidFill>
            <a:prstDash val="solid"/>
          </a:ln>
        </p:spPr>
      </p:sp>
      <p:sp>
        <p:nvSpPr>
          <p:cNvPr id="36" name="Text 34"/>
          <p:cNvSpPr/>
          <p:nvPr/>
        </p:nvSpPr>
        <p:spPr>
          <a:xfrm>
            <a:off x="6446520" y="2944368"/>
            <a:ext cx="2139696"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KEBOLEHLAKSANAAN</a:t>
            </a:r>
            <a:endParaRPr lang="en-US" sz="1250" dirty="0"/>
          </a:p>
        </p:txBody>
      </p:sp>
      <p:sp>
        <p:nvSpPr>
          <p:cNvPr id="37" name="Text 35"/>
          <p:cNvSpPr/>
          <p:nvPr/>
        </p:nvSpPr>
        <p:spPr>
          <a:xfrm>
            <a:off x="6446520" y="3319272"/>
            <a:ext cx="2139696" cy="640080"/>
          </a:xfrm>
          <a:prstGeom prst="rect">
            <a:avLst/>
          </a:prstGeom>
          <a:noFill/>
          <a:ln/>
        </p:spPr>
        <p:txBody>
          <a:bodyPr wrap="square" lIns="0" tIns="0" rIns="0" bIns="0" rtlCol="0" anchor="t">
            <a:normAutofit/>
          </a:bodyPr>
          <a:lstStyle/>
          <a:p>
            <a:pPr indent="0" marL="0">
              <a:buNone/>
            </a:pPr>
            <a:r>
              <a:rPr lang="en-US" sz="1080" dirty="0">
                <a:solidFill>
                  <a:srgbClr val="6A777A"/>
                </a:solidFill>
              </a:rPr>
              <a:t>Data · alat · pemilik · masa</a:t>
            </a:r>
            <a:endParaRPr lang="en-US" sz="1080" dirty="0"/>
          </a:p>
        </p:txBody>
      </p:sp>
      <p:sp>
        <p:nvSpPr>
          <p:cNvPr id="38" name="Shape 36"/>
          <p:cNvSpPr/>
          <p:nvPr/>
        </p:nvSpPr>
        <p:spPr>
          <a:xfrm>
            <a:off x="8997696" y="2788920"/>
            <a:ext cx="2487168" cy="1307592"/>
          </a:xfrm>
          <a:prstGeom prst="roundRect">
            <a:avLst>
              <a:gd name="adj" fmla="val 419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9" name="Shape 37"/>
          <p:cNvSpPr/>
          <p:nvPr/>
        </p:nvSpPr>
        <p:spPr>
          <a:xfrm>
            <a:off x="8997696" y="2788920"/>
            <a:ext cx="73152" cy="1307592"/>
          </a:xfrm>
          <a:prstGeom prst="rect">
            <a:avLst/>
          </a:prstGeom>
          <a:solidFill>
            <a:srgbClr val="C95B5B"/>
          </a:solidFill>
          <a:ln w="12700">
            <a:solidFill>
              <a:srgbClr val="C95B5B"/>
            </a:solidFill>
            <a:prstDash val="solid"/>
          </a:ln>
        </p:spPr>
      </p:sp>
      <p:sp>
        <p:nvSpPr>
          <p:cNvPr id="40" name="Text 38"/>
          <p:cNvSpPr/>
          <p:nvPr/>
        </p:nvSpPr>
        <p:spPr>
          <a:xfrm>
            <a:off x="9208008" y="2944368"/>
            <a:ext cx="2139696"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RISIKO</a:t>
            </a:r>
            <a:endParaRPr lang="en-US" sz="1250" dirty="0"/>
          </a:p>
        </p:txBody>
      </p:sp>
      <p:sp>
        <p:nvSpPr>
          <p:cNvPr id="41" name="Text 39"/>
          <p:cNvSpPr/>
          <p:nvPr/>
        </p:nvSpPr>
        <p:spPr>
          <a:xfrm>
            <a:off x="9208008" y="3319272"/>
            <a:ext cx="2139696" cy="640080"/>
          </a:xfrm>
          <a:prstGeom prst="rect">
            <a:avLst/>
          </a:prstGeom>
          <a:noFill/>
          <a:ln/>
        </p:spPr>
        <p:txBody>
          <a:bodyPr wrap="square" lIns="0" tIns="0" rIns="0" bIns="0" rtlCol="0" anchor="t">
            <a:normAutofit/>
          </a:bodyPr>
          <a:lstStyle/>
          <a:p>
            <a:pPr indent="0" marL="0">
              <a:buNone/>
            </a:pPr>
            <a:r>
              <a:rPr lang="en-US" sz="1080" dirty="0">
                <a:solidFill>
                  <a:srgbClr val="6A777A"/>
                </a:solidFill>
              </a:rPr>
              <a:t>Sensitiviti · kesilapan · kesan gagal</a:t>
            </a:r>
            <a:endParaRPr lang="en-US" sz="1080" dirty="0"/>
          </a:p>
        </p:txBody>
      </p:sp>
      <p:sp>
        <p:nvSpPr>
          <p:cNvPr id="42" name="Shape 40"/>
          <p:cNvSpPr/>
          <p:nvPr/>
        </p:nvSpPr>
        <p:spPr>
          <a:xfrm>
            <a:off x="713232" y="4599432"/>
            <a:ext cx="3383280" cy="987552"/>
          </a:xfrm>
          <a:prstGeom prst="roundRect">
            <a:avLst>
              <a:gd name="adj" fmla="val 4630"/>
            </a:avLst>
          </a:prstGeom>
          <a:solidFill>
            <a:srgbClr val="C95B5B"/>
          </a:solidFill>
          <a:ln w="12700">
            <a:solidFill>
              <a:srgbClr val="C95B5B"/>
            </a:solidFill>
            <a:prstDash val="solid"/>
          </a:ln>
        </p:spPr>
      </p:sp>
      <p:sp>
        <p:nvSpPr>
          <p:cNvPr id="43" name="Text 41"/>
          <p:cNvSpPr/>
          <p:nvPr/>
        </p:nvSpPr>
        <p:spPr>
          <a:xfrm>
            <a:off x="896112" y="4800600"/>
            <a:ext cx="713232" cy="320040"/>
          </a:xfrm>
          <a:prstGeom prst="rect">
            <a:avLst/>
          </a:prstGeom>
          <a:noFill/>
          <a:ln/>
        </p:spPr>
        <p:txBody>
          <a:bodyPr wrap="square" lIns="0" tIns="0" rIns="0" bIns="0" rtlCol="0" anchor="ctr"/>
          <a:lstStyle/>
          <a:p>
            <a:pPr indent="0" marL="0">
              <a:buNone/>
            </a:pPr>
            <a:r>
              <a:rPr lang="en-US" sz="1700" b="1" dirty="0">
                <a:solidFill>
                  <a:srgbClr val="FFFFFF"/>
                </a:solidFill>
              </a:rPr>
              <a:t>2–5</a:t>
            </a:r>
            <a:endParaRPr lang="en-US" sz="1700" dirty="0"/>
          </a:p>
        </p:txBody>
      </p:sp>
      <p:sp>
        <p:nvSpPr>
          <p:cNvPr id="44" name="Text 42"/>
          <p:cNvSpPr/>
          <p:nvPr/>
        </p:nvSpPr>
        <p:spPr>
          <a:xfrm>
            <a:off x="1764792" y="4754880"/>
            <a:ext cx="2084832" cy="438912"/>
          </a:xfrm>
          <a:prstGeom prst="rect">
            <a:avLst/>
          </a:prstGeom>
          <a:noFill/>
          <a:ln/>
        </p:spPr>
        <p:txBody>
          <a:bodyPr wrap="square" lIns="0" tIns="0" rIns="0" bIns="0" rtlCol="0" anchor="ctr">
            <a:normAutofit/>
          </a:bodyPr>
          <a:lstStyle/>
          <a:p>
            <a:pPr indent="0" marL="0">
              <a:buNone/>
            </a:pPr>
            <a:r>
              <a:rPr lang="en-US" sz="1150" b="1" dirty="0">
                <a:solidFill>
                  <a:srgbClr val="FFFFFF"/>
                </a:solidFill>
              </a:rPr>
              <a:t>Nilai semula skop atau prasyarat</a:t>
            </a:r>
            <a:endParaRPr lang="en-US" sz="1150" dirty="0"/>
          </a:p>
        </p:txBody>
      </p:sp>
      <p:sp>
        <p:nvSpPr>
          <p:cNvPr id="45" name="Shape 43"/>
          <p:cNvSpPr/>
          <p:nvPr/>
        </p:nvSpPr>
        <p:spPr>
          <a:xfrm>
            <a:off x="4389120" y="4599432"/>
            <a:ext cx="3383280" cy="987552"/>
          </a:xfrm>
          <a:prstGeom prst="roundRect">
            <a:avLst>
              <a:gd name="adj" fmla="val 4630"/>
            </a:avLst>
          </a:prstGeom>
          <a:solidFill>
            <a:srgbClr val="D79A32"/>
          </a:solidFill>
          <a:ln w="12700">
            <a:solidFill>
              <a:srgbClr val="D79A32"/>
            </a:solidFill>
            <a:prstDash val="solid"/>
          </a:ln>
        </p:spPr>
      </p:sp>
      <p:sp>
        <p:nvSpPr>
          <p:cNvPr id="46" name="Text 44"/>
          <p:cNvSpPr/>
          <p:nvPr/>
        </p:nvSpPr>
        <p:spPr>
          <a:xfrm>
            <a:off x="4572000" y="4800600"/>
            <a:ext cx="713232" cy="320040"/>
          </a:xfrm>
          <a:prstGeom prst="rect">
            <a:avLst/>
          </a:prstGeom>
          <a:noFill/>
          <a:ln/>
        </p:spPr>
        <p:txBody>
          <a:bodyPr wrap="square" lIns="0" tIns="0" rIns="0" bIns="0" rtlCol="0" anchor="ctr"/>
          <a:lstStyle/>
          <a:p>
            <a:pPr indent="0" marL="0">
              <a:buNone/>
            </a:pPr>
            <a:r>
              <a:rPr lang="en-US" sz="1700" b="1" dirty="0">
                <a:solidFill>
                  <a:srgbClr val="FFFFFF"/>
                </a:solidFill>
              </a:rPr>
              <a:t>6–9</a:t>
            </a:r>
            <a:endParaRPr lang="en-US" sz="1700" dirty="0"/>
          </a:p>
        </p:txBody>
      </p:sp>
      <p:sp>
        <p:nvSpPr>
          <p:cNvPr id="47" name="Text 45"/>
          <p:cNvSpPr/>
          <p:nvPr/>
        </p:nvSpPr>
        <p:spPr>
          <a:xfrm>
            <a:off x="5440680" y="4754880"/>
            <a:ext cx="2084832" cy="438912"/>
          </a:xfrm>
          <a:prstGeom prst="rect">
            <a:avLst/>
          </a:prstGeom>
          <a:noFill/>
          <a:ln/>
        </p:spPr>
        <p:txBody>
          <a:bodyPr wrap="square" lIns="0" tIns="0" rIns="0" bIns="0" rtlCol="0" anchor="ctr">
            <a:normAutofit/>
          </a:bodyPr>
          <a:lstStyle/>
          <a:p>
            <a:pPr indent="0" marL="0">
              <a:buNone/>
            </a:pPr>
            <a:r>
              <a:rPr lang="en-US" sz="1150" b="1" dirty="0">
                <a:solidFill>
                  <a:srgbClr val="FFFFFF"/>
                </a:solidFill>
              </a:rPr>
              <a:t>Perlu penjelasan atau kawalan</a:t>
            </a:r>
            <a:endParaRPr lang="en-US" sz="1150" dirty="0"/>
          </a:p>
        </p:txBody>
      </p:sp>
      <p:sp>
        <p:nvSpPr>
          <p:cNvPr id="48" name="Shape 46"/>
          <p:cNvSpPr/>
          <p:nvPr/>
        </p:nvSpPr>
        <p:spPr>
          <a:xfrm>
            <a:off x="8065008" y="4599432"/>
            <a:ext cx="3383280" cy="987552"/>
          </a:xfrm>
          <a:prstGeom prst="roundRect">
            <a:avLst>
              <a:gd name="adj" fmla="val 4630"/>
            </a:avLst>
          </a:prstGeom>
          <a:solidFill>
            <a:srgbClr val="3F9B72"/>
          </a:solidFill>
          <a:ln w="12700">
            <a:solidFill>
              <a:srgbClr val="3F9B72"/>
            </a:solidFill>
            <a:prstDash val="solid"/>
          </a:ln>
        </p:spPr>
      </p:sp>
      <p:sp>
        <p:nvSpPr>
          <p:cNvPr id="49" name="Text 47"/>
          <p:cNvSpPr/>
          <p:nvPr/>
        </p:nvSpPr>
        <p:spPr>
          <a:xfrm>
            <a:off x="8247888" y="4800600"/>
            <a:ext cx="713232" cy="320040"/>
          </a:xfrm>
          <a:prstGeom prst="rect">
            <a:avLst/>
          </a:prstGeom>
          <a:noFill/>
          <a:ln/>
        </p:spPr>
        <p:txBody>
          <a:bodyPr wrap="square" lIns="0" tIns="0" rIns="0" bIns="0" rtlCol="0" anchor="ctr"/>
          <a:lstStyle/>
          <a:p>
            <a:pPr indent="0" marL="0">
              <a:buNone/>
            </a:pPr>
            <a:r>
              <a:rPr lang="en-US" sz="1700" b="1" dirty="0">
                <a:solidFill>
                  <a:srgbClr val="FFFFFF"/>
                </a:solidFill>
              </a:rPr>
              <a:t>10–14</a:t>
            </a:r>
            <a:endParaRPr lang="en-US" sz="1700" dirty="0"/>
          </a:p>
        </p:txBody>
      </p:sp>
      <p:sp>
        <p:nvSpPr>
          <p:cNvPr id="50" name="Text 48"/>
          <p:cNvSpPr/>
          <p:nvPr/>
        </p:nvSpPr>
        <p:spPr>
          <a:xfrm>
            <a:off x="9116568" y="4754880"/>
            <a:ext cx="2084832" cy="438912"/>
          </a:xfrm>
          <a:prstGeom prst="rect">
            <a:avLst/>
          </a:prstGeom>
          <a:noFill/>
          <a:ln/>
        </p:spPr>
        <p:txBody>
          <a:bodyPr wrap="square" lIns="0" tIns="0" rIns="0" bIns="0" rtlCol="0" anchor="ctr">
            <a:normAutofit/>
          </a:bodyPr>
          <a:lstStyle/>
          <a:p>
            <a:pPr indent="0" marL="0">
              <a:buNone/>
            </a:pPr>
            <a:r>
              <a:rPr lang="en-US" sz="1150" b="1" dirty="0">
                <a:solidFill>
                  <a:srgbClr val="FFFFFF"/>
                </a:solidFill>
              </a:rPr>
              <a:t>Calon percubaan terkawal</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KAWALAN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15</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Manusia kekal dalam kawalan</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Aplikasi membantu kerja rutin; pegawai mengesahkan keputusan penting.</a:t>
            </a:r>
            <a:endParaRPr lang="en-US" sz="1250" dirty="0"/>
          </a:p>
        </p:txBody>
      </p:sp>
      <p:sp>
        <p:nvSpPr>
          <p:cNvPr id="23" name="Shape 21"/>
          <p:cNvSpPr/>
          <p:nvPr/>
        </p:nvSpPr>
        <p:spPr>
          <a:xfrm>
            <a:off x="4005072" y="3218688"/>
            <a:ext cx="365760" cy="0"/>
          </a:xfrm>
          <a:prstGeom prst="line">
            <a:avLst/>
          </a:prstGeom>
          <a:noFill/>
          <a:ln w="25400">
            <a:solidFill>
              <a:srgbClr val="779398"/>
            </a:solidFill>
            <a:prstDash val="solid"/>
            <a:tailEnd type="triangle"/>
          </a:ln>
        </p:spPr>
      </p:sp>
      <p:sp>
        <p:nvSpPr>
          <p:cNvPr id="24" name="Shape 22"/>
          <p:cNvSpPr/>
          <p:nvPr/>
        </p:nvSpPr>
        <p:spPr>
          <a:xfrm>
            <a:off x="640080" y="1828800"/>
            <a:ext cx="3364992" cy="2971800"/>
          </a:xfrm>
          <a:prstGeom prst="roundRect">
            <a:avLst>
              <a:gd name="adj" fmla="val 2462"/>
            </a:avLst>
          </a:prstGeom>
          <a:solidFill>
            <a:srgbClr val="173C40"/>
          </a:solidFill>
          <a:ln w="25400">
            <a:solidFill>
              <a:srgbClr val="00A99D"/>
            </a:solidFill>
            <a:prstDash val="solid"/>
          </a:ln>
        </p:spPr>
      </p:sp>
      <p:sp>
        <p:nvSpPr>
          <p:cNvPr id="25" name="Shape 23"/>
          <p:cNvSpPr/>
          <p:nvPr/>
        </p:nvSpPr>
        <p:spPr>
          <a:xfrm>
            <a:off x="841248" y="2066544"/>
            <a:ext cx="512064" cy="512064"/>
          </a:xfrm>
          <a:prstGeom prst="ellipse">
            <a:avLst/>
          </a:prstGeom>
          <a:solidFill>
            <a:srgbClr val="00A99D"/>
          </a:solidFill>
          <a:ln w="12700">
            <a:solidFill>
              <a:srgbClr val="00A99D"/>
            </a:solidFill>
            <a:prstDash val="solid"/>
          </a:ln>
        </p:spPr>
      </p:sp>
      <p:sp>
        <p:nvSpPr>
          <p:cNvPr id="26" name="Text 24"/>
          <p:cNvSpPr/>
          <p:nvPr/>
        </p:nvSpPr>
        <p:spPr>
          <a:xfrm>
            <a:off x="841248" y="2075688"/>
            <a:ext cx="512064" cy="49377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7" name="Text 25"/>
          <p:cNvSpPr/>
          <p:nvPr/>
        </p:nvSpPr>
        <p:spPr>
          <a:xfrm>
            <a:off x="868680" y="2816352"/>
            <a:ext cx="2907792" cy="402336"/>
          </a:xfrm>
          <a:prstGeom prst="rect">
            <a:avLst/>
          </a:prstGeom>
          <a:noFill/>
          <a:ln/>
        </p:spPr>
        <p:txBody>
          <a:bodyPr wrap="square" lIns="0" tIns="0" rIns="0" bIns="0" rtlCol="0" anchor="ctr">
            <a:normAutofit/>
          </a:bodyPr>
          <a:lstStyle/>
          <a:p>
            <a:pPr algn="ctr" indent="0" marL="0">
              <a:buNone/>
            </a:pPr>
            <a:r>
              <a:rPr lang="en-US" sz="1550" b="1" dirty="0">
                <a:solidFill>
                  <a:srgbClr val="FFFFFF"/>
                </a:solidFill>
              </a:rPr>
              <a:t>APLIKASI MEMBANTU</a:t>
            </a:r>
            <a:endParaRPr lang="en-US" sz="1550" dirty="0"/>
          </a:p>
        </p:txBody>
      </p:sp>
      <p:sp>
        <p:nvSpPr>
          <p:cNvPr id="28" name="Text 26"/>
          <p:cNvSpPr/>
          <p:nvPr/>
        </p:nvSpPr>
        <p:spPr>
          <a:xfrm>
            <a:off x="1051560" y="3547872"/>
            <a:ext cx="2542032" cy="777240"/>
          </a:xfrm>
          <a:prstGeom prst="rect">
            <a:avLst/>
          </a:prstGeom>
          <a:noFill/>
          <a:ln/>
        </p:spPr>
        <p:txBody>
          <a:bodyPr wrap="square" lIns="0" tIns="0" rIns="0" bIns="0" rtlCol="0" anchor="ctr">
            <a:normAutofit/>
          </a:bodyPr>
          <a:lstStyle/>
          <a:p>
            <a:pPr algn="ctr" indent="0" marL="0">
              <a:buNone/>
            </a:pPr>
            <a:r>
              <a:rPr lang="en-US" sz="1250" dirty="0">
                <a:solidFill>
                  <a:srgbClr val="BFD0D2"/>
                </a:solidFill>
              </a:rPr>
              <a:t>Kumpul data</a:t>
            </a:r>
            <a:endParaRPr lang="en-US" sz="1250" dirty="0"/>
          </a:p>
          <a:p>
            <a:pPr algn="ctr" indent="0" marL="0">
              <a:buNone/>
            </a:pPr>
            <a:r>
              <a:rPr lang="en-US" sz="1250" dirty="0">
                <a:solidFill>
                  <a:srgbClr val="BFD0D2"/>
                </a:solidFill>
              </a:rPr>
              <a:t>Semak input</a:t>
            </a:r>
            <a:endParaRPr lang="en-US" sz="1250" dirty="0"/>
          </a:p>
          <a:p>
            <a:pPr algn="ctr" indent="0" marL="0">
              <a:buNone/>
            </a:pPr>
            <a:r>
              <a:rPr lang="en-US" sz="1250" dirty="0">
                <a:solidFill>
                  <a:srgbClr val="BFD0D2"/>
                </a:solidFill>
              </a:rPr>
              <a:t>Susun maklumat</a:t>
            </a:r>
            <a:endParaRPr lang="en-US" sz="1250" dirty="0"/>
          </a:p>
        </p:txBody>
      </p:sp>
      <p:sp>
        <p:nvSpPr>
          <p:cNvPr id="29" name="Shape 27"/>
          <p:cNvSpPr/>
          <p:nvPr/>
        </p:nvSpPr>
        <p:spPr>
          <a:xfrm>
            <a:off x="7891272" y="3218688"/>
            <a:ext cx="365760" cy="0"/>
          </a:xfrm>
          <a:prstGeom prst="line">
            <a:avLst/>
          </a:prstGeom>
          <a:noFill/>
          <a:ln w="25400">
            <a:solidFill>
              <a:srgbClr val="779398"/>
            </a:solidFill>
            <a:prstDash val="solid"/>
            <a:tailEnd type="triangle"/>
          </a:ln>
        </p:spPr>
      </p:sp>
      <p:sp>
        <p:nvSpPr>
          <p:cNvPr id="30" name="Shape 28"/>
          <p:cNvSpPr/>
          <p:nvPr/>
        </p:nvSpPr>
        <p:spPr>
          <a:xfrm>
            <a:off x="4526280" y="1828800"/>
            <a:ext cx="3364992" cy="2971800"/>
          </a:xfrm>
          <a:prstGeom prst="roundRect">
            <a:avLst>
              <a:gd name="adj" fmla="val 2462"/>
            </a:avLst>
          </a:prstGeom>
          <a:solidFill>
            <a:srgbClr val="173C40"/>
          </a:solidFill>
          <a:ln w="25400">
            <a:solidFill>
              <a:srgbClr val="CDFF3F"/>
            </a:solidFill>
            <a:prstDash val="solid"/>
          </a:ln>
        </p:spPr>
      </p:sp>
      <p:sp>
        <p:nvSpPr>
          <p:cNvPr id="31" name="Shape 29"/>
          <p:cNvSpPr/>
          <p:nvPr/>
        </p:nvSpPr>
        <p:spPr>
          <a:xfrm>
            <a:off x="4727448" y="2066544"/>
            <a:ext cx="512064" cy="512064"/>
          </a:xfrm>
          <a:prstGeom prst="ellipse">
            <a:avLst/>
          </a:prstGeom>
          <a:solidFill>
            <a:srgbClr val="CDFF3F"/>
          </a:solidFill>
          <a:ln w="12700">
            <a:solidFill>
              <a:srgbClr val="CDFF3F"/>
            </a:solidFill>
            <a:prstDash val="solid"/>
          </a:ln>
        </p:spPr>
      </p:sp>
      <p:sp>
        <p:nvSpPr>
          <p:cNvPr id="32" name="Text 30"/>
          <p:cNvSpPr/>
          <p:nvPr/>
        </p:nvSpPr>
        <p:spPr>
          <a:xfrm>
            <a:off x="4727448" y="2075688"/>
            <a:ext cx="512064" cy="493776"/>
          </a:xfrm>
          <a:prstGeom prst="rect">
            <a:avLst/>
          </a:prstGeom>
          <a:noFill/>
          <a:ln/>
        </p:spPr>
        <p:txBody>
          <a:bodyPr wrap="square" lIns="0" tIns="0" rIns="0" bIns="0" rtlCol="0" anchor="ctr"/>
          <a:lstStyle/>
          <a:p>
            <a:pPr algn="ctr" indent="0" marL="0">
              <a:buNone/>
            </a:pPr>
            <a:r>
              <a:rPr lang="en-US" sz="1200" b="1" dirty="0">
                <a:solidFill>
                  <a:srgbClr val="173440"/>
                </a:solidFill>
              </a:rPr>
              <a:t>2</a:t>
            </a:r>
            <a:endParaRPr lang="en-US" sz="1200" dirty="0"/>
          </a:p>
        </p:txBody>
      </p:sp>
      <p:sp>
        <p:nvSpPr>
          <p:cNvPr id="33" name="Text 31"/>
          <p:cNvSpPr/>
          <p:nvPr/>
        </p:nvSpPr>
        <p:spPr>
          <a:xfrm>
            <a:off x="4754880" y="2816352"/>
            <a:ext cx="2907792" cy="402336"/>
          </a:xfrm>
          <a:prstGeom prst="rect">
            <a:avLst/>
          </a:prstGeom>
          <a:noFill/>
          <a:ln/>
        </p:spPr>
        <p:txBody>
          <a:bodyPr wrap="square" lIns="0" tIns="0" rIns="0" bIns="0" rtlCol="0" anchor="ctr">
            <a:normAutofit/>
          </a:bodyPr>
          <a:lstStyle/>
          <a:p>
            <a:pPr algn="ctr" indent="0" marL="0">
              <a:buNone/>
            </a:pPr>
            <a:r>
              <a:rPr lang="en-US" sz="1550" b="1" dirty="0">
                <a:solidFill>
                  <a:srgbClr val="FFFFFF"/>
                </a:solidFill>
              </a:rPr>
              <a:t>MANUSIA MENYEMAK</a:t>
            </a:r>
            <a:endParaRPr lang="en-US" sz="1550" dirty="0"/>
          </a:p>
        </p:txBody>
      </p:sp>
      <p:sp>
        <p:nvSpPr>
          <p:cNvPr id="34" name="Text 32"/>
          <p:cNvSpPr/>
          <p:nvPr/>
        </p:nvSpPr>
        <p:spPr>
          <a:xfrm>
            <a:off x="4937760" y="3547872"/>
            <a:ext cx="2542032" cy="777240"/>
          </a:xfrm>
          <a:prstGeom prst="rect">
            <a:avLst/>
          </a:prstGeom>
          <a:noFill/>
          <a:ln/>
        </p:spPr>
        <p:txBody>
          <a:bodyPr wrap="square" lIns="0" tIns="0" rIns="0" bIns="0" rtlCol="0" anchor="ctr">
            <a:normAutofit/>
          </a:bodyPr>
          <a:lstStyle/>
          <a:p>
            <a:pPr algn="ctr" indent="0" marL="0">
              <a:buNone/>
            </a:pPr>
            <a:r>
              <a:rPr lang="en-US" sz="1250" dirty="0">
                <a:solidFill>
                  <a:srgbClr val="BFD0D2"/>
                </a:solidFill>
              </a:rPr>
              <a:t>Nilai output</a:t>
            </a:r>
            <a:endParaRPr lang="en-US" sz="1250" dirty="0"/>
          </a:p>
          <a:p>
            <a:pPr algn="ctr" indent="0" marL="0">
              <a:buNone/>
            </a:pPr>
            <a:r>
              <a:rPr lang="en-US" sz="1250" dirty="0">
                <a:solidFill>
                  <a:srgbClr val="BFD0D2"/>
                </a:solidFill>
              </a:rPr>
              <a:t>Buat keputusan teknikal</a:t>
            </a:r>
            <a:endParaRPr lang="en-US" sz="1250" dirty="0"/>
          </a:p>
          <a:p>
            <a:pPr algn="ctr" indent="0" marL="0">
              <a:buNone/>
            </a:pPr>
            <a:r>
              <a:rPr lang="en-US" sz="1250" dirty="0">
                <a:solidFill>
                  <a:srgbClr val="BFD0D2"/>
                </a:solidFill>
              </a:rPr>
              <a:t>Sahkan ketepatan</a:t>
            </a:r>
            <a:endParaRPr lang="en-US" sz="1250" dirty="0"/>
          </a:p>
        </p:txBody>
      </p:sp>
      <p:sp>
        <p:nvSpPr>
          <p:cNvPr id="35" name="Shape 33"/>
          <p:cNvSpPr/>
          <p:nvPr/>
        </p:nvSpPr>
        <p:spPr>
          <a:xfrm>
            <a:off x="8412480" y="1828800"/>
            <a:ext cx="3364992" cy="2971800"/>
          </a:xfrm>
          <a:prstGeom prst="roundRect">
            <a:avLst>
              <a:gd name="adj" fmla="val 2462"/>
            </a:avLst>
          </a:prstGeom>
          <a:solidFill>
            <a:srgbClr val="173C40"/>
          </a:solidFill>
          <a:ln w="25400">
            <a:solidFill>
              <a:srgbClr val="2F72C4"/>
            </a:solidFill>
            <a:prstDash val="solid"/>
          </a:ln>
        </p:spPr>
      </p:sp>
      <p:sp>
        <p:nvSpPr>
          <p:cNvPr id="36" name="Shape 34"/>
          <p:cNvSpPr/>
          <p:nvPr/>
        </p:nvSpPr>
        <p:spPr>
          <a:xfrm>
            <a:off x="8613648" y="2066544"/>
            <a:ext cx="512064" cy="512064"/>
          </a:xfrm>
          <a:prstGeom prst="ellipse">
            <a:avLst/>
          </a:prstGeom>
          <a:solidFill>
            <a:srgbClr val="2F72C4"/>
          </a:solidFill>
          <a:ln w="12700">
            <a:solidFill>
              <a:srgbClr val="2F72C4"/>
            </a:solidFill>
            <a:prstDash val="solid"/>
          </a:ln>
        </p:spPr>
      </p:sp>
      <p:sp>
        <p:nvSpPr>
          <p:cNvPr id="37" name="Text 35"/>
          <p:cNvSpPr/>
          <p:nvPr/>
        </p:nvSpPr>
        <p:spPr>
          <a:xfrm>
            <a:off x="8613648" y="2075688"/>
            <a:ext cx="512064" cy="49377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8" name="Text 36"/>
          <p:cNvSpPr/>
          <p:nvPr/>
        </p:nvSpPr>
        <p:spPr>
          <a:xfrm>
            <a:off x="8641080" y="2816352"/>
            <a:ext cx="2907792" cy="402336"/>
          </a:xfrm>
          <a:prstGeom prst="rect">
            <a:avLst/>
          </a:prstGeom>
          <a:noFill/>
          <a:ln/>
        </p:spPr>
        <p:txBody>
          <a:bodyPr wrap="square" lIns="0" tIns="0" rIns="0" bIns="0" rtlCol="0" anchor="ctr">
            <a:normAutofit/>
          </a:bodyPr>
          <a:lstStyle/>
          <a:p>
            <a:pPr algn="ctr" indent="0" marL="0">
              <a:buNone/>
            </a:pPr>
            <a:r>
              <a:rPr lang="en-US" sz="1550" b="1" dirty="0">
                <a:solidFill>
                  <a:srgbClr val="FFFFFF"/>
                </a:solidFill>
              </a:rPr>
              <a:t>TINDAKAN DIREKOD</a:t>
            </a:r>
            <a:endParaRPr lang="en-US" sz="1550" dirty="0"/>
          </a:p>
        </p:txBody>
      </p:sp>
      <p:sp>
        <p:nvSpPr>
          <p:cNvPr id="39" name="Text 37"/>
          <p:cNvSpPr/>
          <p:nvPr/>
        </p:nvSpPr>
        <p:spPr>
          <a:xfrm>
            <a:off x="8823960" y="3547872"/>
            <a:ext cx="2542032" cy="777240"/>
          </a:xfrm>
          <a:prstGeom prst="rect">
            <a:avLst/>
          </a:prstGeom>
          <a:noFill/>
          <a:ln/>
        </p:spPr>
        <p:txBody>
          <a:bodyPr wrap="square" lIns="0" tIns="0" rIns="0" bIns="0" rtlCol="0" anchor="ctr">
            <a:normAutofit/>
          </a:bodyPr>
          <a:lstStyle/>
          <a:p>
            <a:pPr algn="ctr" indent="0" marL="0">
              <a:buNone/>
            </a:pPr>
            <a:r>
              <a:rPr lang="en-US" sz="1250" dirty="0">
                <a:solidFill>
                  <a:srgbClr val="BFD0D2"/>
                </a:solidFill>
              </a:rPr>
              <a:t>Rekod kelulusan</a:t>
            </a:r>
            <a:endParaRPr lang="en-US" sz="1250" dirty="0"/>
          </a:p>
          <a:p>
            <a:pPr algn="ctr" indent="0" marL="0">
              <a:buNone/>
            </a:pPr>
            <a:r>
              <a:rPr lang="en-US" sz="1250" dirty="0">
                <a:solidFill>
                  <a:srgbClr val="BFD0D2"/>
                </a:solidFill>
              </a:rPr>
              <a:t>Tarikh dan masa</a:t>
            </a:r>
            <a:endParaRPr lang="en-US" sz="1250" dirty="0"/>
          </a:p>
          <a:p>
            <a:pPr algn="ctr" indent="0" marL="0">
              <a:buNone/>
            </a:pPr>
            <a:r>
              <a:rPr lang="en-US" sz="1250" dirty="0">
                <a:solidFill>
                  <a:srgbClr val="BFD0D2"/>
                </a:solidFill>
              </a:rPr>
              <a:t>Jejak audit</a:t>
            </a:r>
            <a:endParaRPr lang="en-US" sz="1250" dirty="0"/>
          </a:p>
        </p:txBody>
      </p:sp>
      <p:sp>
        <p:nvSpPr>
          <p:cNvPr id="40" name="Text 38"/>
          <p:cNvSpPr/>
          <p:nvPr/>
        </p:nvSpPr>
        <p:spPr>
          <a:xfrm>
            <a:off x="658368" y="5413248"/>
            <a:ext cx="10881360" cy="438912"/>
          </a:xfrm>
          <a:prstGeom prst="rect">
            <a:avLst/>
          </a:prstGeom>
          <a:noFill/>
          <a:ln/>
        </p:spPr>
        <p:txBody>
          <a:bodyPr wrap="square" lIns="0" tIns="0" rIns="0" bIns="0" rtlCol="0" anchor="ctr">
            <a:normAutofit/>
          </a:bodyPr>
          <a:lstStyle/>
          <a:p>
            <a:pPr algn="ctr" indent="0" marL="0">
              <a:buNone/>
            </a:pPr>
            <a:r>
              <a:rPr lang="en-US" sz="1300" b="1" dirty="0">
                <a:solidFill>
                  <a:srgbClr val="CDFF3F"/>
                </a:solidFill>
              </a:rPr>
              <a:t>Tentukan: pemilik proses · akses data · output yang perlu disahkan · cara membetulkan ralat · retensi · sandaran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DEMONSTRASI</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16</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Kajian kes: MPE Hub</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Satu aplikasi web responsif untuk tiga keperluan operasi MPE.</a:t>
            </a:r>
            <a:endParaRPr lang="en-US" sz="1250" dirty="0"/>
          </a:p>
        </p:txBody>
      </p:sp>
      <p:sp>
        <p:nvSpPr>
          <p:cNvPr id="23" name="Shape 21"/>
          <p:cNvSpPr/>
          <p:nvPr/>
        </p:nvSpPr>
        <p:spPr>
          <a:xfrm>
            <a:off x="612648" y="1389888"/>
            <a:ext cx="7662672" cy="4343400"/>
          </a:xfrm>
          <a:prstGeom prst="roundRect">
            <a:avLst>
              <a:gd name="adj" fmla="val 1263"/>
            </a:avLst>
          </a:prstGeom>
          <a:solidFill>
            <a:srgbClr val="FFFFFF"/>
          </a:solidFill>
          <a:ln w="11430">
            <a:solidFill>
              <a:srgbClr val="C7D4D2"/>
            </a:solidFill>
            <a:prstDash val="solid"/>
          </a:ln>
          <a:effectLst>
            <a:outerShdw sx="100000" sy="100000" kx="0" ky="0" algn="bl" rotWithShape="0" blurRad="25400" dist="50800" dir="2700000">
              <a:srgbClr val="000000">
                <a:alpha val="10000"/>
              </a:srgbClr>
            </a:outerShdw>
          </a:effectLst>
        </p:spPr>
      </p:sp>
      <p:pic>
        <p:nvPicPr>
          <p:cNvPr id="24" name="Image 0" descr="Tangkap layar sebenar dashboard MPE Hub">    </p:cNvPr>
          <p:cNvPicPr>
            <a:picLocks noChangeAspect="1"/>
          </p:cNvPicPr>
          <p:nvPr/>
        </p:nvPicPr>
        <p:blipFill>
          <a:blip r:embed="rId1"/>
          <a:stretch>
            <a:fillRect/>
          </a:stretch>
        </p:blipFill>
        <p:spPr>
          <a:xfrm>
            <a:off x="758952" y="1554480"/>
            <a:ext cx="7360920" cy="4041648"/>
          </a:xfrm>
          <a:prstGeom prst="rect">
            <a:avLst/>
          </a:prstGeom>
        </p:spPr>
      </p:pic>
      <p:sp>
        <p:nvSpPr>
          <p:cNvPr id="25" name="Shape 22"/>
          <p:cNvSpPr/>
          <p:nvPr/>
        </p:nvSpPr>
        <p:spPr>
          <a:xfrm>
            <a:off x="8522208" y="1536192"/>
            <a:ext cx="2999232" cy="941832"/>
          </a:xfrm>
          <a:prstGeom prst="roundRect">
            <a:avLst>
              <a:gd name="adj" fmla="val 5825"/>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6" name="Shape 23"/>
          <p:cNvSpPr/>
          <p:nvPr/>
        </p:nvSpPr>
        <p:spPr>
          <a:xfrm>
            <a:off x="8522208" y="1536192"/>
            <a:ext cx="73152" cy="941832"/>
          </a:xfrm>
          <a:prstGeom prst="rect">
            <a:avLst/>
          </a:prstGeom>
          <a:solidFill>
            <a:srgbClr val="00A99D"/>
          </a:solidFill>
          <a:ln w="12700">
            <a:solidFill>
              <a:srgbClr val="00A99D"/>
            </a:solidFill>
            <a:prstDash val="solid"/>
          </a:ln>
        </p:spPr>
      </p:sp>
      <p:sp>
        <p:nvSpPr>
          <p:cNvPr id="27" name="Text 24"/>
          <p:cNvSpPr/>
          <p:nvPr/>
        </p:nvSpPr>
        <p:spPr>
          <a:xfrm>
            <a:off x="8732520" y="1691640"/>
            <a:ext cx="2651760"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BUKU LOG</a:t>
            </a:r>
            <a:endParaRPr lang="en-US" sz="1250" dirty="0"/>
          </a:p>
        </p:txBody>
      </p:sp>
      <p:sp>
        <p:nvSpPr>
          <p:cNvPr id="28" name="Text 25"/>
          <p:cNvSpPr/>
          <p:nvPr/>
        </p:nvSpPr>
        <p:spPr>
          <a:xfrm>
            <a:off x="8732520" y="2066544"/>
            <a:ext cx="2651760" cy="274320"/>
          </a:xfrm>
          <a:prstGeom prst="rect">
            <a:avLst/>
          </a:prstGeom>
          <a:noFill/>
          <a:ln/>
        </p:spPr>
        <p:txBody>
          <a:bodyPr wrap="square" lIns="0" tIns="0" rIns="0" bIns="0" rtlCol="0" anchor="t">
            <a:normAutofit/>
          </a:bodyPr>
          <a:lstStyle/>
          <a:p>
            <a:pPr indent="0" marL="0">
              <a:buNone/>
            </a:pPr>
            <a:r>
              <a:rPr lang="en-US" sz="1020" dirty="0">
                <a:solidFill>
                  <a:srgbClr val="6A777A"/>
                </a:solidFill>
              </a:rPr>
              <a:t>Kehadiran, aktiviti dan lampiran</a:t>
            </a:r>
            <a:endParaRPr lang="en-US" sz="1020" dirty="0"/>
          </a:p>
        </p:txBody>
      </p:sp>
      <p:sp>
        <p:nvSpPr>
          <p:cNvPr id="29" name="Shape 26"/>
          <p:cNvSpPr/>
          <p:nvPr/>
        </p:nvSpPr>
        <p:spPr>
          <a:xfrm>
            <a:off x="8522208" y="2770632"/>
            <a:ext cx="2999232" cy="941832"/>
          </a:xfrm>
          <a:prstGeom prst="roundRect">
            <a:avLst>
              <a:gd name="adj" fmla="val 5825"/>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0" name="Shape 27"/>
          <p:cNvSpPr/>
          <p:nvPr/>
        </p:nvSpPr>
        <p:spPr>
          <a:xfrm>
            <a:off x="8522208" y="2770632"/>
            <a:ext cx="73152" cy="941832"/>
          </a:xfrm>
          <a:prstGeom prst="rect">
            <a:avLst/>
          </a:prstGeom>
          <a:solidFill>
            <a:srgbClr val="2F72C4"/>
          </a:solidFill>
          <a:ln w="12700">
            <a:solidFill>
              <a:srgbClr val="2F72C4"/>
            </a:solidFill>
            <a:prstDash val="solid"/>
          </a:ln>
        </p:spPr>
      </p:sp>
      <p:sp>
        <p:nvSpPr>
          <p:cNvPr id="31" name="Text 28"/>
          <p:cNvSpPr/>
          <p:nvPr/>
        </p:nvSpPr>
        <p:spPr>
          <a:xfrm>
            <a:off x="8732520" y="2926080"/>
            <a:ext cx="2651760"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KEW.PA-9</a:t>
            </a:r>
            <a:endParaRPr lang="en-US" sz="1250" dirty="0"/>
          </a:p>
        </p:txBody>
      </p:sp>
      <p:sp>
        <p:nvSpPr>
          <p:cNvPr id="32" name="Text 29"/>
          <p:cNvSpPr/>
          <p:nvPr/>
        </p:nvSpPr>
        <p:spPr>
          <a:xfrm>
            <a:off x="8732520" y="3300984"/>
            <a:ext cx="2651760" cy="274320"/>
          </a:xfrm>
          <a:prstGeom prst="rect">
            <a:avLst/>
          </a:prstGeom>
          <a:noFill/>
          <a:ln/>
        </p:spPr>
        <p:txBody>
          <a:bodyPr wrap="square" lIns="0" tIns="0" rIns="0" bIns="0" rtlCol="0" anchor="t">
            <a:normAutofit/>
          </a:bodyPr>
          <a:lstStyle/>
          <a:p>
            <a:pPr indent="0" marL="0">
              <a:buNone/>
            </a:pPr>
            <a:r>
              <a:rPr lang="en-US" sz="1020" dirty="0">
                <a:solidFill>
                  <a:srgbClr val="6A777A"/>
                </a:solidFill>
              </a:rPr>
              <a:t>Pergerakan dan pinjaman aset</a:t>
            </a:r>
            <a:endParaRPr lang="en-US" sz="1020" dirty="0"/>
          </a:p>
        </p:txBody>
      </p:sp>
      <p:sp>
        <p:nvSpPr>
          <p:cNvPr id="33" name="Shape 30"/>
          <p:cNvSpPr/>
          <p:nvPr/>
        </p:nvSpPr>
        <p:spPr>
          <a:xfrm>
            <a:off x="8522208" y="4005072"/>
            <a:ext cx="2999232" cy="941832"/>
          </a:xfrm>
          <a:prstGeom prst="roundRect">
            <a:avLst>
              <a:gd name="adj" fmla="val 5825"/>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4" name="Shape 31"/>
          <p:cNvSpPr/>
          <p:nvPr/>
        </p:nvSpPr>
        <p:spPr>
          <a:xfrm>
            <a:off x="8522208" y="4005072"/>
            <a:ext cx="73152" cy="941832"/>
          </a:xfrm>
          <a:prstGeom prst="rect">
            <a:avLst/>
          </a:prstGeom>
          <a:solidFill>
            <a:srgbClr val="3F9B72"/>
          </a:solidFill>
          <a:ln w="12700">
            <a:solidFill>
              <a:srgbClr val="3F9B72"/>
            </a:solidFill>
            <a:prstDash val="solid"/>
          </a:ln>
        </p:spPr>
      </p:sp>
      <p:sp>
        <p:nvSpPr>
          <p:cNvPr id="35" name="Text 32"/>
          <p:cNvSpPr/>
          <p:nvPr/>
        </p:nvSpPr>
        <p:spPr>
          <a:xfrm>
            <a:off x="8732520" y="4160520"/>
            <a:ext cx="2651760" cy="292608"/>
          </a:xfrm>
          <a:prstGeom prst="rect">
            <a:avLst/>
          </a:prstGeom>
          <a:noFill/>
          <a:ln/>
        </p:spPr>
        <p:txBody>
          <a:bodyPr wrap="square" lIns="0" tIns="0" rIns="0" bIns="0" rtlCol="0" anchor="ctr">
            <a:normAutofit/>
          </a:bodyPr>
          <a:lstStyle/>
          <a:p>
            <a:pPr indent="0" marL="0">
              <a:buNone/>
            </a:pPr>
            <a:r>
              <a:rPr lang="en-US" sz="1250" b="1" dirty="0">
                <a:solidFill>
                  <a:srgbClr val="182427"/>
                </a:solidFill>
              </a:rPr>
              <a:t>MCCB</a:t>
            </a:r>
            <a:endParaRPr lang="en-US" sz="1250" dirty="0"/>
          </a:p>
        </p:txBody>
      </p:sp>
      <p:sp>
        <p:nvSpPr>
          <p:cNvPr id="36" name="Text 33"/>
          <p:cNvSpPr/>
          <p:nvPr/>
        </p:nvSpPr>
        <p:spPr>
          <a:xfrm>
            <a:off x="8732520" y="4535424"/>
            <a:ext cx="2651760" cy="274320"/>
          </a:xfrm>
          <a:prstGeom prst="rect">
            <a:avLst/>
          </a:prstGeom>
          <a:noFill/>
          <a:ln/>
        </p:spPr>
        <p:txBody>
          <a:bodyPr wrap="square" lIns="0" tIns="0" rIns="0" bIns="0" rtlCol="0" anchor="t">
            <a:normAutofit/>
          </a:bodyPr>
          <a:lstStyle/>
          <a:p>
            <a:pPr indent="0" marL="0">
              <a:buNone/>
            </a:pPr>
            <a:r>
              <a:rPr lang="en-US" sz="1020" dirty="0">
                <a:solidFill>
                  <a:srgbClr val="6A777A"/>
                </a:solidFill>
              </a:rPr>
              <a:t>Rekod serta keputusan ujian</a:t>
            </a:r>
            <a:endParaRPr lang="en-US" sz="1020" dirty="0"/>
          </a:p>
        </p:txBody>
      </p:sp>
      <p:sp>
        <p:nvSpPr>
          <p:cNvPr id="37" name="Text 34">
            <a:hlinkClick r:id="rId2" tooltip=""/>
          </p:cNvPr>
          <p:cNvSpPr/>
          <p:nvPr/>
        </p:nvSpPr>
        <p:spPr>
          <a:xfrm>
            <a:off x="8522208" y="5376672"/>
            <a:ext cx="1371600" cy="256032"/>
          </a:xfrm>
          <a:prstGeom prst="rect">
            <a:avLst/>
          </a:prstGeom>
          <a:noFill/>
          <a:ln/>
        </p:spPr>
        <p:txBody>
          <a:bodyPr wrap="square" lIns="0" tIns="0" rIns="0" bIns="0" rtlCol="0" anchor="ctr"/>
          <a:lstStyle/>
          <a:p>
            <a:pPr indent="0" marL="0">
              <a:buNone/>
            </a:pPr>
            <a:r>
              <a:rPr lang="en-US" sz="1150" b="1" u="sng" dirty="0">
                <a:solidFill>
                  <a:srgbClr val="00A99D"/>
                </a:solidFill>
                <a:hlinkClick r:id="rId2" invalidUrl="" action="" tgtFrame="" tooltip="" history="1" highlightClick="0" endSnd="0">
                  <a:extLst>
                    <a:ext uri="{A12FA001-AC4F-418D-AE19-62706E023703}">
                      <ahyp:hlinkClr xmlns:ahyp="http://schemas.microsoft.com/office/drawing/2018/hyperlinkcolor" val="tx"/>
                    </a:ext>
                  </a:extLst>
                </a:hlinkClick>
              </a:rPr>
              <a:t>Buka aplikasi</a:t>
            </a:r>
            <a:endParaRPr lang="en-US" sz="1150" dirty="0"/>
          </a:p>
        </p:txBody>
      </p:sp>
      <p:sp>
        <p:nvSpPr>
          <p:cNvPr id="38" name="Text 35">
            <a:hlinkClick r:id="rId3" tooltip=""/>
          </p:cNvPr>
          <p:cNvSpPr/>
          <p:nvPr/>
        </p:nvSpPr>
        <p:spPr>
          <a:xfrm>
            <a:off x="9646920" y="5376672"/>
            <a:ext cx="1865376" cy="256032"/>
          </a:xfrm>
          <a:prstGeom prst="rect">
            <a:avLst/>
          </a:prstGeom>
          <a:noFill/>
          <a:ln/>
        </p:spPr>
        <p:txBody>
          <a:bodyPr wrap="square" lIns="0" tIns="0" rIns="0" bIns="0" rtlCol="0" anchor="ctr">
            <a:normAutofit/>
          </a:bodyPr>
          <a:lstStyle/>
          <a:p>
            <a:pPr indent="0" marL="0">
              <a:buNone/>
            </a:pPr>
            <a:r>
              <a:rPr lang="en-US" sz="920" u="sng" dirty="0">
                <a:solidFill>
                  <a:srgbClr val="6A777A"/>
                </a:solidFill>
                <a:hlinkClick r:id="rId3" invalidUrl="" action="" tgtFrame="" tooltip="" history="1" highlightClick="0" endSnd="0">
                  <a:extLst>
                    <a:ext uri="{A12FA001-AC4F-418D-AE19-62706E023703}">
                      <ahyp:hlinkClr xmlns:ahyp="http://schemas.microsoft.com/office/drawing/2018/hyperlinkcolor" val="tx"/>
                    </a:ext>
                  </a:extLst>
                </a:hlinkClick>
              </a:rPr>
              <a:t>drmurtadha.github.io/mpe-hub</a:t>
            </a:r>
            <a:endParaRPr lang="en-US" sz="9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DEMONSTRASI</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17</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Sebelum dan selepas</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Manfaat ialah hipotesis yang perlu diuji menggunakan ukuran sebenar.</a:t>
            </a:r>
            <a:endParaRPr lang="en-US" sz="1250" dirty="0"/>
          </a:p>
        </p:txBody>
      </p:sp>
      <p:sp>
        <p:nvSpPr>
          <p:cNvPr id="23" name="Text 21"/>
          <p:cNvSpPr/>
          <p:nvPr/>
        </p:nvSpPr>
        <p:spPr>
          <a:xfrm>
            <a:off x="713232" y="1417320"/>
            <a:ext cx="4526280" cy="347472"/>
          </a:xfrm>
          <a:prstGeom prst="rect">
            <a:avLst/>
          </a:prstGeom>
          <a:noFill/>
          <a:ln/>
        </p:spPr>
        <p:txBody>
          <a:bodyPr wrap="square" lIns="0" tIns="0" rIns="0" bIns="0" rtlCol="0" anchor="ctr"/>
          <a:lstStyle/>
          <a:p>
            <a:pPr algn="ctr" indent="0" marL="0">
              <a:buNone/>
            </a:pPr>
            <a:r>
              <a:rPr lang="en-US" sz="1600" b="1" dirty="0">
                <a:solidFill>
                  <a:srgbClr val="6A777A"/>
                </a:solidFill>
              </a:rPr>
              <a:t>SEBELUM</a:t>
            </a:r>
            <a:endParaRPr lang="en-US" sz="1600" dirty="0"/>
          </a:p>
        </p:txBody>
      </p:sp>
      <p:sp>
        <p:nvSpPr>
          <p:cNvPr id="24" name="Text 22"/>
          <p:cNvSpPr/>
          <p:nvPr/>
        </p:nvSpPr>
        <p:spPr>
          <a:xfrm>
            <a:off x="6949440" y="1417320"/>
            <a:ext cx="4526280" cy="347472"/>
          </a:xfrm>
          <a:prstGeom prst="rect">
            <a:avLst/>
          </a:prstGeom>
          <a:noFill/>
          <a:ln/>
        </p:spPr>
        <p:txBody>
          <a:bodyPr wrap="square" lIns="0" tIns="0" rIns="0" bIns="0" rtlCol="0" anchor="ctr"/>
          <a:lstStyle/>
          <a:p>
            <a:pPr algn="ctr" indent="0" marL="0">
              <a:buNone/>
            </a:pPr>
            <a:r>
              <a:rPr lang="en-US" sz="1600" b="1" dirty="0">
                <a:solidFill>
                  <a:srgbClr val="00A99D"/>
                </a:solidFill>
              </a:rPr>
              <a:t>SELEPAS</a:t>
            </a:r>
            <a:endParaRPr lang="en-US" sz="1600" dirty="0"/>
          </a:p>
        </p:txBody>
      </p:sp>
      <p:sp>
        <p:nvSpPr>
          <p:cNvPr id="25" name="Shape 23"/>
          <p:cNvSpPr/>
          <p:nvPr/>
        </p:nvSpPr>
        <p:spPr>
          <a:xfrm>
            <a:off x="713232" y="1901952"/>
            <a:ext cx="4526280" cy="530352"/>
          </a:xfrm>
          <a:prstGeom prst="roundRect">
            <a:avLst>
              <a:gd name="adj" fmla="val 10345"/>
            </a:avLst>
          </a:prstGeom>
          <a:solidFill>
            <a:srgbClr val="F2F3F0"/>
          </a:solidFill>
          <a:ln w="11430">
            <a:solidFill>
              <a:srgbClr val="D2D9D7"/>
            </a:solidFill>
            <a:prstDash val="solid"/>
          </a:ln>
          <a:effectLst>
            <a:outerShdw sx="100000" sy="100000" kx="0" ky="0" algn="bl" rotWithShape="0" blurRad="25400" dist="50800" dir="2700000">
              <a:srgbClr val="000000">
                <a:alpha val="10000"/>
              </a:srgbClr>
            </a:outerShdw>
          </a:effectLst>
        </p:spPr>
      </p:sp>
      <p:sp>
        <p:nvSpPr>
          <p:cNvPr id="26" name="Text 24"/>
          <p:cNvSpPr/>
          <p:nvPr/>
        </p:nvSpPr>
        <p:spPr>
          <a:xfrm>
            <a:off x="932688" y="2066544"/>
            <a:ext cx="4087368" cy="201168"/>
          </a:xfrm>
          <a:prstGeom prst="rect">
            <a:avLst/>
          </a:prstGeom>
          <a:noFill/>
          <a:ln/>
        </p:spPr>
        <p:txBody>
          <a:bodyPr wrap="square" lIns="0" tIns="0" rIns="0" bIns="0" rtlCol="0" anchor="ctr">
            <a:normAutofit/>
          </a:bodyPr>
          <a:lstStyle/>
          <a:p>
            <a:pPr indent="0" marL="0">
              <a:buNone/>
            </a:pPr>
            <a:r>
              <a:rPr lang="en-US" sz="1240" dirty="0">
                <a:solidFill>
                  <a:srgbClr val="6A777A"/>
                </a:solidFill>
              </a:rPr>
              <a:t>Rekod berasingan</a:t>
            </a:r>
            <a:endParaRPr lang="en-US" sz="1240" dirty="0"/>
          </a:p>
        </p:txBody>
      </p:sp>
      <p:sp>
        <p:nvSpPr>
          <p:cNvPr id="27" name="Shape 25"/>
          <p:cNvSpPr/>
          <p:nvPr/>
        </p:nvSpPr>
        <p:spPr>
          <a:xfrm>
            <a:off x="5440680" y="2167128"/>
            <a:ext cx="1234440" cy="0"/>
          </a:xfrm>
          <a:prstGeom prst="line">
            <a:avLst/>
          </a:prstGeom>
          <a:noFill/>
          <a:ln w="22860">
            <a:solidFill>
              <a:srgbClr val="00A99D"/>
            </a:solidFill>
            <a:prstDash val="solid"/>
            <a:tailEnd type="triangle"/>
          </a:ln>
        </p:spPr>
      </p:sp>
      <p:sp>
        <p:nvSpPr>
          <p:cNvPr id="28" name="Shape 26"/>
          <p:cNvSpPr/>
          <p:nvPr/>
        </p:nvSpPr>
        <p:spPr>
          <a:xfrm>
            <a:off x="6949440" y="1901952"/>
            <a:ext cx="4526280" cy="530352"/>
          </a:xfrm>
          <a:prstGeom prst="roundRect">
            <a:avLst>
              <a:gd name="adj" fmla="val 10345"/>
            </a:avLst>
          </a:prstGeom>
          <a:solidFill>
            <a:srgbClr val="E5F8F3"/>
          </a:solidFill>
          <a:ln w="11430">
            <a:solidFill>
              <a:srgbClr val="90D4C9"/>
            </a:solidFill>
            <a:prstDash val="solid"/>
          </a:ln>
          <a:effectLst>
            <a:outerShdw sx="100000" sy="100000" kx="0" ky="0" algn="bl" rotWithShape="0" blurRad="25400" dist="50800" dir="2700000">
              <a:srgbClr val="000000">
                <a:alpha val="10000"/>
              </a:srgbClr>
            </a:outerShdw>
          </a:effectLst>
        </p:spPr>
      </p:sp>
      <p:sp>
        <p:nvSpPr>
          <p:cNvPr id="29" name="Text 27"/>
          <p:cNvSpPr/>
          <p:nvPr/>
        </p:nvSpPr>
        <p:spPr>
          <a:xfrm>
            <a:off x="7168896" y="2066544"/>
            <a:ext cx="4087368" cy="201168"/>
          </a:xfrm>
          <a:prstGeom prst="rect">
            <a:avLst/>
          </a:prstGeom>
          <a:noFill/>
          <a:ln/>
        </p:spPr>
        <p:txBody>
          <a:bodyPr wrap="square" lIns="0" tIns="0" rIns="0" bIns="0" rtlCol="0" anchor="ctr">
            <a:normAutofit/>
          </a:bodyPr>
          <a:lstStyle/>
          <a:p>
            <a:pPr indent="0" marL="0">
              <a:buNone/>
            </a:pPr>
            <a:r>
              <a:rPr lang="en-US" sz="1240" b="1" dirty="0">
                <a:solidFill>
                  <a:srgbClr val="173440"/>
                </a:solidFill>
              </a:rPr>
              <a:t>Antara muka berpusat</a:t>
            </a:r>
            <a:endParaRPr lang="en-US" sz="1240" dirty="0"/>
          </a:p>
        </p:txBody>
      </p:sp>
      <p:sp>
        <p:nvSpPr>
          <p:cNvPr id="30" name="Shape 28"/>
          <p:cNvSpPr/>
          <p:nvPr/>
        </p:nvSpPr>
        <p:spPr>
          <a:xfrm>
            <a:off x="713232" y="2615184"/>
            <a:ext cx="4526280" cy="530352"/>
          </a:xfrm>
          <a:prstGeom prst="roundRect">
            <a:avLst>
              <a:gd name="adj" fmla="val 10345"/>
            </a:avLst>
          </a:prstGeom>
          <a:solidFill>
            <a:srgbClr val="F2F3F0"/>
          </a:solidFill>
          <a:ln w="11430">
            <a:solidFill>
              <a:srgbClr val="D2D9D7"/>
            </a:solidFill>
            <a:prstDash val="solid"/>
          </a:ln>
          <a:effectLst>
            <a:outerShdw sx="100000" sy="100000" kx="0" ky="0" algn="bl" rotWithShape="0" blurRad="25400" dist="50800" dir="2700000">
              <a:srgbClr val="000000">
                <a:alpha val="10000"/>
              </a:srgbClr>
            </a:outerShdw>
          </a:effectLst>
        </p:spPr>
      </p:sp>
      <p:sp>
        <p:nvSpPr>
          <p:cNvPr id="31" name="Text 29"/>
          <p:cNvSpPr/>
          <p:nvPr/>
        </p:nvSpPr>
        <p:spPr>
          <a:xfrm>
            <a:off x="932688" y="2779776"/>
            <a:ext cx="4087368" cy="201168"/>
          </a:xfrm>
          <a:prstGeom prst="rect">
            <a:avLst/>
          </a:prstGeom>
          <a:noFill/>
          <a:ln/>
        </p:spPr>
        <p:txBody>
          <a:bodyPr wrap="square" lIns="0" tIns="0" rIns="0" bIns="0" rtlCol="0" anchor="ctr">
            <a:normAutofit/>
          </a:bodyPr>
          <a:lstStyle/>
          <a:p>
            <a:pPr indent="0" marL="0">
              <a:buNone/>
            </a:pPr>
            <a:r>
              <a:rPr lang="en-US" sz="1240" dirty="0">
                <a:solidFill>
                  <a:srgbClr val="6A777A"/>
                </a:solidFill>
              </a:rPr>
              <a:t>Medan tidak konsisten</a:t>
            </a:r>
            <a:endParaRPr lang="en-US" sz="1240" dirty="0"/>
          </a:p>
        </p:txBody>
      </p:sp>
      <p:sp>
        <p:nvSpPr>
          <p:cNvPr id="32" name="Shape 30"/>
          <p:cNvSpPr/>
          <p:nvPr/>
        </p:nvSpPr>
        <p:spPr>
          <a:xfrm>
            <a:off x="5440680" y="2880360"/>
            <a:ext cx="1234440" cy="0"/>
          </a:xfrm>
          <a:prstGeom prst="line">
            <a:avLst/>
          </a:prstGeom>
          <a:noFill/>
          <a:ln w="22860">
            <a:solidFill>
              <a:srgbClr val="00A99D"/>
            </a:solidFill>
            <a:prstDash val="solid"/>
            <a:tailEnd type="triangle"/>
          </a:ln>
        </p:spPr>
      </p:sp>
      <p:sp>
        <p:nvSpPr>
          <p:cNvPr id="33" name="Shape 31"/>
          <p:cNvSpPr/>
          <p:nvPr/>
        </p:nvSpPr>
        <p:spPr>
          <a:xfrm>
            <a:off x="6949440" y="2615184"/>
            <a:ext cx="4526280" cy="530352"/>
          </a:xfrm>
          <a:prstGeom prst="roundRect">
            <a:avLst>
              <a:gd name="adj" fmla="val 10345"/>
            </a:avLst>
          </a:prstGeom>
          <a:solidFill>
            <a:srgbClr val="E5F8F3"/>
          </a:solidFill>
          <a:ln w="11430">
            <a:solidFill>
              <a:srgbClr val="90D4C9"/>
            </a:solidFill>
            <a:prstDash val="solid"/>
          </a:ln>
          <a:effectLst>
            <a:outerShdw sx="100000" sy="100000" kx="0" ky="0" algn="bl" rotWithShape="0" blurRad="25400" dist="50800" dir="2700000">
              <a:srgbClr val="000000">
                <a:alpha val="10000"/>
              </a:srgbClr>
            </a:outerShdw>
          </a:effectLst>
        </p:spPr>
      </p:sp>
      <p:sp>
        <p:nvSpPr>
          <p:cNvPr id="34" name="Text 32"/>
          <p:cNvSpPr/>
          <p:nvPr/>
        </p:nvSpPr>
        <p:spPr>
          <a:xfrm>
            <a:off x="7168896" y="2779776"/>
            <a:ext cx="4087368" cy="201168"/>
          </a:xfrm>
          <a:prstGeom prst="rect">
            <a:avLst/>
          </a:prstGeom>
          <a:noFill/>
          <a:ln/>
        </p:spPr>
        <p:txBody>
          <a:bodyPr wrap="square" lIns="0" tIns="0" rIns="0" bIns="0" rtlCol="0" anchor="ctr">
            <a:normAutofit/>
          </a:bodyPr>
          <a:lstStyle/>
          <a:p>
            <a:pPr indent="0" marL="0">
              <a:buNone/>
            </a:pPr>
            <a:r>
              <a:rPr lang="en-US" sz="1240" b="1" dirty="0">
                <a:solidFill>
                  <a:srgbClr val="173440"/>
                </a:solidFill>
              </a:rPr>
              <a:t>Validasi dan unit jelas</a:t>
            </a:r>
            <a:endParaRPr lang="en-US" sz="1240" dirty="0"/>
          </a:p>
        </p:txBody>
      </p:sp>
      <p:sp>
        <p:nvSpPr>
          <p:cNvPr id="35" name="Shape 33"/>
          <p:cNvSpPr/>
          <p:nvPr/>
        </p:nvSpPr>
        <p:spPr>
          <a:xfrm>
            <a:off x="713232" y="3328416"/>
            <a:ext cx="4526280" cy="530352"/>
          </a:xfrm>
          <a:prstGeom prst="roundRect">
            <a:avLst>
              <a:gd name="adj" fmla="val 10345"/>
            </a:avLst>
          </a:prstGeom>
          <a:solidFill>
            <a:srgbClr val="F2F3F0"/>
          </a:solidFill>
          <a:ln w="11430">
            <a:solidFill>
              <a:srgbClr val="D2D9D7"/>
            </a:solidFill>
            <a:prstDash val="solid"/>
          </a:ln>
          <a:effectLst>
            <a:outerShdw sx="100000" sy="100000" kx="0" ky="0" algn="bl" rotWithShape="0" blurRad="25400" dist="50800" dir="2700000">
              <a:srgbClr val="000000">
                <a:alpha val="10000"/>
              </a:srgbClr>
            </a:outerShdw>
          </a:effectLst>
        </p:spPr>
      </p:sp>
      <p:sp>
        <p:nvSpPr>
          <p:cNvPr id="36" name="Text 34"/>
          <p:cNvSpPr/>
          <p:nvPr/>
        </p:nvSpPr>
        <p:spPr>
          <a:xfrm>
            <a:off x="932688" y="3493008"/>
            <a:ext cx="4087368" cy="201168"/>
          </a:xfrm>
          <a:prstGeom prst="rect">
            <a:avLst/>
          </a:prstGeom>
          <a:noFill/>
          <a:ln/>
        </p:spPr>
        <p:txBody>
          <a:bodyPr wrap="square" lIns="0" tIns="0" rIns="0" bIns="0" rtlCol="0" anchor="ctr">
            <a:normAutofit/>
          </a:bodyPr>
          <a:lstStyle/>
          <a:p>
            <a:pPr indent="0" marL="0">
              <a:buNone/>
            </a:pPr>
            <a:r>
              <a:rPr lang="en-US" sz="1240" dirty="0">
                <a:solidFill>
                  <a:srgbClr val="6A777A"/>
                </a:solidFill>
              </a:rPr>
              <a:t>Status perlu ditanya</a:t>
            </a:r>
            <a:endParaRPr lang="en-US" sz="1240" dirty="0"/>
          </a:p>
        </p:txBody>
      </p:sp>
      <p:sp>
        <p:nvSpPr>
          <p:cNvPr id="37" name="Shape 35"/>
          <p:cNvSpPr/>
          <p:nvPr/>
        </p:nvSpPr>
        <p:spPr>
          <a:xfrm>
            <a:off x="5440680" y="3593592"/>
            <a:ext cx="1234440" cy="0"/>
          </a:xfrm>
          <a:prstGeom prst="line">
            <a:avLst/>
          </a:prstGeom>
          <a:noFill/>
          <a:ln w="22860">
            <a:solidFill>
              <a:srgbClr val="2F72C4"/>
            </a:solidFill>
            <a:prstDash val="solid"/>
            <a:tailEnd type="triangle"/>
          </a:ln>
        </p:spPr>
      </p:sp>
      <p:sp>
        <p:nvSpPr>
          <p:cNvPr id="38" name="Shape 36"/>
          <p:cNvSpPr/>
          <p:nvPr/>
        </p:nvSpPr>
        <p:spPr>
          <a:xfrm>
            <a:off x="6949440" y="3328416"/>
            <a:ext cx="4526280" cy="530352"/>
          </a:xfrm>
          <a:prstGeom prst="roundRect">
            <a:avLst>
              <a:gd name="adj" fmla="val 10345"/>
            </a:avLst>
          </a:prstGeom>
          <a:solidFill>
            <a:srgbClr val="E5F8F3"/>
          </a:solidFill>
          <a:ln w="11430">
            <a:solidFill>
              <a:srgbClr val="90D4C9"/>
            </a:solidFill>
            <a:prstDash val="solid"/>
          </a:ln>
          <a:effectLst>
            <a:outerShdw sx="100000" sy="100000" kx="0" ky="0" algn="bl" rotWithShape="0" blurRad="25400" dist="50800" dir="2700000">
              <a:srgbClr val="000000">
                <a:alpha val="10000"/>
              </a:srgbClr>
            </a:outerShdw>
          </a:effectLst>
        </p:spPr>
      </p:sp>
      <p:sp>
        <p:nvSpPr>
          <p:cNvPr id="39" name="Text 37"/>
          <p:cNvSpPr/>
          <p:nvPr/>
        </p:nvSpPr>
        <p:spPr>
          <a:xfrm>
            <a:off x="7168896" y="3493008"/>
            <a:ext cx="4087368" cy="201168"/>
          </a:xfrm>
          <a:prstGeom prst="rect">
            <a:avLst/>
          </a:prstGeom>
          <a:noFill/>
          <a:ln/>
        </p:spPr>
        <p:txBody>
          <a:bodyPr wrap="square" lIns="0" tIns="0" rIns="0" bIns="0" rtlCol="0" anchor="ctr">
            <a:normAutofit/>
          </a:bodyPr>
          <a:lstStyle/>
          <a:p>
            <a:pPr indent="0" marL="0">
              <a:buNone/>
            </a:pPr>
            <a:r>
              <a:rPr lang="en-US" sz="1240" b="1" dirty="0">
                <a:solidFill>
                  <a:srgbClr val="173440"/>
                </a:solidFill>
              </a:rPr>
              <a:t>Status terkini selepas penyegerakan</a:t>
            </a:r>
            <a:endParaRPr lang="en-US" sz="1240" dirty="0"/>
          </a:p>
        </p:txBody>
      </p:sp>
      <p:sp>
        <p:nvSpPr>
          <p:cNvPr id="40" name="Shape 38"/>
          <p:cNvSpPr/>
          <p:nvPr/>
        </p:nvSpPr>
        <p:spPr>
          <a:xfrm>
            <a:off x="713232" y="4041648"/>
            <a:ext cx="4526280" cy="530352"/>
          </a:xfrm>
          <a:prstGeom prst="roundRect">
            <a:avLst>
              <a:gd name="adj" fmla="val 10345"/>
            </a:avLst>
          </a:prstGeom>
          <a:solidFill>
            <a:srgbClr val="F2F3F0"/>
          </a:solidFill>
          <a:ln w="11430">
            <a:solidFill>
              <a:srgbClr val="D2D9D7"/>
            </a:solidFill>
            <a:prstDash val="solid"/>
          </a:ln>
          <a:effectLst>
            <a:outerShdw sx="100000" sy="100000" kx="0" ky="0" algn="bl" rotWithShape="0" blurRad="25400" dist="50800" dir="2700000">
              <a:srgbClr val="000000">
                <a:alpha val="10000"/>
              </a:srgbClr>
            </a:outerShdw>
          </a:effectLst>
        </p:spPr>
      </p:sp>
      <p:sp>
        <p:nvSpPr>
          <p:cNvPr id="41" name="Text 39"/>
          <p:cNvSpPr/>
          <p:nvPr/>
        </p:nvSpPr>
        <p:spPr>
          <a:xfrm>
            <a:off x="932688" y="4206240"/>
            <a:ext cx="4087368" cy="201168"/>
          </a:xfrm>
          <a:prstGeom prst="rect">
            <a:avLst/>
          </a:prstGeom>
          <a:noFill/>
          <a:ln/>
        </p:spPr>
        <p:txBody>
          <a:bodyPr wrap="square" lIns="0" tIns="0" rIns="0" bIns="0" rtlCol="0" anchor="ctr">
            <a:normAutofit/>
          </a:bodyPr>
          <a:lstStyle/>
          <a:p>
            <a:pPr indent="0" marL="0">
              <a:buNone/>
            </a:pPr>
            <a:r>
              <a:rPr lang="en-US" sz="1240" dirty="0">
                <a:solidFill>
                  <a:srgbClr val="6A777A"/>
                </a:solidFill>
              </a:rPr>
              <a:t>Ringkasan manual</a:t>
            </a:r>
            <a:endParaRPr lang="en-US" sz="1240" dirty="0"/>
          </a:p>
        </p:txBody>
      </p:sp>
      <p:sp>
        <p:nvSpPr>
          <p:cNvPr id="42" name="Shape 40"/>
          <p:cNvSpPr/>
          <p:nvPr/>
        </p:nvSpPr>
        <p:spPr>
          <a:xfrm>
            <a:off x="5440680" y="4306824"/>
            <a:ext cx="1234440" cy="0"/>
          </a:xfrm>
          <a:prstGeom prst="line">
            <a:avLst/>
          </a:prstGeom>
          <a:noFill/>
          <a:ln w="22860">
            <a:solidFill>
              <a:srgbClr val="00A99D"/>
            </a:solidFill>
            <a:prstDash val="solid"/>
            <a:tailEnd type="triangle"/>
          </a:ln>
        </p:spPr>
      </p:sp>
      <p:sp>
        <p:nvSpPr>
          <p:cNvPr id="43" name="Shape 41"/>
          <p:cNvSpPr/>
          <p:nvPr/>
        </p:nvSpPr>
        <p:spPr>
          <a:xfrm>
            <a:off x="6949440" y="4041648"/>
            <a:ext cx="4526280" cy="530352"/>
          </a:xfrm>
          <a:prstGeom prst="roundRect">
            <a:avLst>
              <a:gd name="adj" fmla="val 10345"/>
            </a:avLst>
          </a:prstGeom>
          <a:solidFill>
            <a:srgbClr val="E5F8F3"/>
          </a:solidFill>
          <a:ln w="11430">
            <a:solidFill>
              <a:srgbClr val="90D4C9"/>
            </a:solidFill>
            <a:prstDash val="solid"/>
          </a:ln>
          <a:effectLst>
            <a:outerShdw sx="100000" sy="100000" kx="0" ky="0" algn="bl" rotWithShape="0" blurRad="25400" dist="50800" dir="2700000">
              <a:srgbClr val="000000">
                <a:alpha val="10000"/>
              </a:srgbClr>
            </a:outerShdw>
          </a:effectLst>
        </p:spPr>
      </p:sp>
      <p:sp>
        <p:nvSpPr>
          <p:cNvPr id="44" name="Text 42"/>
          <p:cNvSpPr/>
          <p:nvPr/>
        </p:nvSpPr>
        <p:spPr>
          <a:xfrm>
            <a:off x="7168896" y="4206240"/>
            <a:ext cx="4087368" cy="201168"/>
          </a:xfrm>
          <a:prstGeom prst="rect">
            <a:avLst/>
          </a:prstGeom>
          <a:noFill/>
          <a:ln/>
        </p:spPr>
        <p:txBody>
          <a:bodyPr wrap="square" lIns="0" tIns="0" rIns="0" bIns="0" rtlCol="0" anchor="ctr">
            <a:normAutofit/>
          </a:bodyPr>
          <a:lstStyle/>
          <a:p>
            <a:pPr indent="0" marL="0">
              <a:buNone/>
            </a:pPr>
            <a:r>
              <a:rPr lang="en-US" sz="1240" b="1" dirty="0">
                <a:solidFill>
                  <a:srgbClr val="173440"/>
                </a:solidFill>
              </a:rPr>
              <a:t>Dashboard selepas refresh</a:t>
            </a:r>
            <a:endParaRPr lang="en-US" sz="1240" dirty="0"/>
          </a:p>
        </p:txBody>
      </p:sp>
      <p:sp>
        <p:nvSpPr>
          <p:cNvPr id="45" name="Shape 43"/>
          <p:cNvSpPr/>
          <p:nvPr/>
        </p:nvSpPr>
        <p:spPr>
          <a:xfrm>
            <a:off x="713232" y="4754880"/>
            <a:ext cx="4526280" cy="530352"/>
          </a:xfrm>
          <a:prstGeom prst="roundRect">
            <a:avLst>
              <a:gd name="adj" fmla="val 10345"/>
            </a:avLst>
          </a:prstGeom>
          <a:solidFill>
            <a:srgbClr val="F2F3F0"/>
          </a:solidFill>
          <a:ln w="11430">
            <a:solidFill>
              <a:srgbClr val="D2D9D7"/>
            </a:solidFill>
            <a:prstDash val="solid"/>
          </a:ln>
          <a:effectLst>
            <a:outerShdw sx="100000" sy="100000" kx="0" ky="0" algn="bl" rotWithShape="0" blurRad="25400" dist="50800" dir="2700000">
              <a:srgbClr val="000000">
                <a:alpha val="10000"/>
              </a:srgbClr>
            </a:outerShdw>
          </a:effectLst>
        </p:spPr>
      </p:sp>
      <p:sp>
        <p:nvSpPr>
          <p:cNvPr id="46" name="Text 44"/>
          <p:cNvSpPr/>
          <p:nvPr/>
        </p:nvSpPr>
        <p:spPr>
          <a:xfrm>
            <a:off x="932688" y="4919472"/>
            <a:ext cx="4087368" cy="201168"/>
          </a:xfrm>
          <a:prstGeom prst="rect">
            <a:avLst/>
          </a:prstGeom>
          <a:noFill/>
          <a:ln/>
        </p:spPr>
        <p:txBody>
          <a:bodyPr wrap="square" lIns="0" tIns="0" rIns="0" bIns="0" rtlCol="0" anchor="ctr">
            <a:normAutofit/>
          </a:bodyPr>
          <a:lstStyle/>
          <a:p>
            <a:pPr indent="0" marL="0">
              <a:buNone/>
            </a:pPr>
            <a:r>
              <a:rPr lang="en-US" sz="1240" dirty="0">
                <a:solidFill>
                  <a:srgbClr val="6A777A"/>
                </a:solidFill>
              </a:rPr>
              <a:t>Fail sukar dipautkan</a:t>
            </a:r>
            <a:endParaRPr lang="en-US" sz="1240" dirty="0"/>
          </a:p>
        </p:txBody>
      </p:sp>
      <p:sp>
        <p:nvSpPr>
          <p:cNvPr id="47" name="Shape 45"/>
          <p:cNvSpPr/>
          <p:nvPr/>
        </p:nvSpPr>
        <p:spPr>
          <a:xfrm>
            <a:off x="5440680" y="5020056"/>
            <a:ext cx="1234440" cy="0"/>
          </a:xfrm>
          <a:prstGeom prst="line">
            <a:avLst/>
          </a:prstGeom>
          <a:noFill/>
          <a:ln w="22860">
            <a:solidFill>
              <a:srgbClr val="00A99D"/>
            </a:solidFill>
            <a:prstDash val="solid"/>
            <a:tailEnd type="triangle"/>
          </a:ln>
        </p:spPr>
      </p:sp>
      <p:sp>
        <p:nvSpPr>
          <p:cNvPr id="48" name="Shape 46"/>
          <p:cNvSpPr/>
          <p:nvPr/>
        </p:nvSpPr>
        <p:spPr>
          <a:xfrm>
            <a:off x="6949440" y="4754880"/>
            <a:ext cx="4526280" cy="530352"/>
          </a:xfrm>
          <a:prstGeom prst="roundRect">
            <a:avLst>
              <a:gd name="adj" fmla="val 10345"/>
            </a:avLst>
          </a:prstGeom>
          <a:solidFill>
            <a:srgbClr val="E5F8F3"/>
          </a:solidFill>
          <a:ln w="11430">
            <a:solidFill>
              <a:srgbClr val="90D4C9"/>
            </a:solidFill>
            <a:prstDash val="solid"/>
          </a:ln>
          <a:effectLst>
            <a:outerShdw sx="100000" sy="100000" kx="0" ky="0" algn="bl" rotWithShape="0" blurRad="25400" dist="50800" dir="2700000">
              <a:srgbClr val="000000">
                <a:alpha val="10000"/>
              </a:srgbClr>
            </a:outerShdw>
          </a:effectLst>
        </p:spPr>
      </p:sp>
      <p:sp>
        <p:nvSpPr>
          <p:cNvPr id="49" name="Text 47"/>
          <p:cNvSpPr/>
          <p:nvPr/>
        </p:nvSpPr>
        <p:spPr>
          <a:xfrm>
            <a:off x="7168896" y="4919472"/>
            <a:ext cx="4087368" cy="201168"/>
          </a:xfrm>
          <a:prstGeom prst="rect">
            <a:avLst/>
          </a:prstGeom>
          <a:noFill/>
          <a:ln/>
        </p:spPr>
        <p:txBody>
          <a:bodyPr wrap="square" lIns="0" tIns="0" rIns="0" bIns="0" rtlCol="0" anchor="ctr">
            <a:normAutofit/>
          </a:bodyPr>
          <a:lstStyle/>
          <a:p>
            <a:pPr indent="0" marL="0">
              <a:buNone/>
            </a:pPr>
            <a:r>
              <a:rPr lang="en-US" sz="1240" b="1" dirty="0">
                <a:solidFill>
                  <a:srgbClr val="173440"/>
                </a:solidFill>
              </a:rPr>
              <a:t>Rekod dan lampiran berkaitan</a:t>
            </a:r>
            <a:endParaRPr lang="en-US" sz="1240" dirty="0"/>
          </a:p>
        </p:txBody>
      </p:sp>
      <p:sp>
        <p:nvSpPr>
          <p:cNvPr id="50" name="Text 48"/>
          <p:cNvSpPr/>
          <p:nvPr/>
        </p:nvSpPr>
        <p:spPr>
          <a:xfrm>
            <a:off x="713232" y="5669280"/>
            <a:ext cx="10762488" cy="310896"/>
          </a:xfrm>
          <a:prstGeom prst="rect">
            <a:avLst/>
          </a:prstGeom>
          <a:noFill/>
          <a:ln/>
        </p:spPr>
        <p:txBody>
          <a:bodyPr wrap="square" lIns="0" tIns="0" rIns="0" bIns="0" rtlCol="0" anchor="ctr"/>
          <a:lstStyle/>
          <a:p>
            <a:pPr algn="ctr" indent="0" marL="0">
              <a:buNone/>
            </a:pPr>
            <a:r>
              <a:rPr lang="en-US" sz="1350" b="1" dirty="0">
                <a:solidFill>
                  <a:srgbClr val="00A99D"/>
                </a:solidFill>
              </a:rPr>
              <a:t>Demo seterusnya: Buku Log → validasi → ID rekod → dashboard</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DEMONSTRASI</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18</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Apa yang menjadikannya pintar?</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Perhatikan empat perkara semasa demonstrasi MPE Hub.</a:t>
            </a:r>
            <a:endParaRPr lang="en-US" sz="1250" dirty="0"/>
          </a:p>
        </p:txBody>
      </p:sp>
      <p:sp>
        <p:nvSpPr>
          <p:cNvPr id="23" name="Shape 21"/>
          <p:cNvSpPr/>
          <p:nvPr/>
        </p:nvSpPr>
        <p:spPr>
          <a:xfrm>
            <a:off x="3886200" y="1417320"/>
            <a:ext cx="4434840" cy="4160520"/>
          </a:xfrm>
          <a:prstGeom prst="roundRect">
            <a:avLst>
              <a:gd name="adj" fmla="val 1319"/>
            </a:avLst>
          </a:prstGeom>
          <a:solidFill>
            <a:srgbClr val="FFFFFF"/>
          </a:solidFill>
          <a:ln w="11430">
            <a:solidFill>
              <a:srgbClr val="C4D2CF"/>
            </a:solidFill>
            <a:prstDash val="solid"/>
          </a:ln>
          <a:effectLst>
            <a:outerShdw sx="100000" sy="100000" kx="0" ky="0" algn="bl" rotWithShape="0" blurRad="25400" dist="50800" dir="2700000">
              <a:srgbClr val="000000">
                <a:alpha val="10000"/>
              </a:srgbClr>
            </a:outerShdw>
          </a:effectLst>
        </p:spPr>
      </p:sp>
      <p:pic>
        <p:nvPicPr>
          <p:cNvPr id="24" name="Image 0" descr="Tangkap layar sebenar borang Buku Log Makmal">    </p:cNvPr>
          <p:cNvPicPr>
            <a:picLocks noChangeAspect="1"/>
          </p:cNvPicPr>
          <p:nvPr/>
        </p:nvPicPr>
        <p:blipFill>
          <a:blip r:embed="rId1"/>
          <a:stretch>
            <a:fillRect/>
          </a:stretch>
        </p:blipFill>
        <p:spPr>
          <a:xfrm>
            <a:off x="4041648" y="1581912"/>
            <a:ext cx="4123944" cy="3703320"/>
          </a:xfrm>
          <a:prstGeom prst="rect">
            <a:avLst/>
          </a:prstGeom>
        </p:spPr>
      </p:pic>
      <p:sp>
        <p:nvSpPr>
          <p:cNvPr id="25" name="Shape 22"/>
          <p:cNvSpPr/>
          <p:nvPr/>
        </p:nvSpPr>
        <p:spPr>
          <a:xfrm>
            <a:off x="621792" y="1572768"/>
            <a:ext cx="2999232" cy="1481328"/>
          </a:xfrm>
          <a:prstGeom prst="roundRect">
            <a:avLst>
              <a:gd name="adj" fmla="val 3704"/>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6" name="Shape 23"/>
          <p:cNvSpPr/>
          <p:nvPr/>
        </p:nvSpPr>
        <p:spPr>
          <a:xfrm>
            <a:off x="621792" y="1572768"/>
            <a:ext cx="73152" cy="1481328"/>
          </a:xfrm>
          <a:prstGeom prst="rect">
            <a:avLst/>
          </a:prstGeom>
          <a:solidFill>
            <a:srgbClr val="00A99D"/>
          </a:solidFill>
          <a:ln w="12700">
            <a:solidFill>
              <a:srgbClr val="00A99D"/>
            </a:solidFill>
            <a:prstDash val="solid"/>
          </a:ln>
        </p:spPr>
      </p:sp>
      <p:sp>
        <p:nvSpPr>
          <p:cNvPr id="27" name="Text 24"/>
          <p:cNvSpPr/>
          <p:nvPr/>
        </p:nvSpPr>
        <p:spPr>
          <a:xfrm>
            <a:off x="832104" y="1728216"/>
            <a:ext cx="2651760" cy="292608"/>
          </a:xfrm>
          <a:prstGeom prst="rect">
            <a:avLst/>
          </a:prstGeom>
          <a:noFill/>
          <a:ln/>
        </p:spPr>
        <p:txBody>
          <a:bodyPr wrap="square" lIns="0" tIns="0" rIns="0" bIns="0" rtlCol="0" anchor="ctr">
            <a:normAutofit/>
          </a:bodyPr>
          <a:lstStyle/>
          <a:p>
            <a:pPr indent="0" marL="0">
              <a:buNone/>
            </a:pPr>
            <a:r>
              <a:rPr lang="en-US" sz="1350" b="1" dirty="0">
                <a:solidFill>
                  <a:srgbClr val="182427"/>
                </a:solidFill>
              </a:rPr>
              <a:t>Penyatuan</a:t>
            </a:r>
            <a:endParaRPr lang="en-US" sz="1350" dirty="0"/>
          </a:p>
        </p:txBody>
      </p:sp>
      <p:sp>
        <p:nvSpPr>
          <p:cNvPr id="28" name="Text 25"/>
          <p:cNvSpPr/>
          <p:nvPr/>
        </p:nvSpPr>
        <p:spPr>
          <a:xfrm>
            <a:off x="832104" y="2103120"/>
            <a:ext cx="2651760" cy="813816"/>
          </a:xfrm>
          <a:prstGeom prst="rect">
            <a:avLst/>
          </a:prstGeom>
          <a:noFill/>
          <a:ln/>
        </p:spPr>
        <p:txBody>
          <a:bodyPr wrap="square" lIns="0" tIns="0" rIns="0" bIns="0" rtlCol="0" anchor="t">
            <a:normAutofit/>
          </a:bodyPr>
          <a:lstStyle/>
          <a:p>
            <a:pPr indent="0" marL="0">
              <a:buNone/>
            </a:pPr>
            <a:r>
              <a:rPr lang="en-US" sz="1150" dirty="0">
                <a:solidFill>
                  <a:srgbClr val="6A777A"/>
                </a:solidFill>
              </a:rPr>
              <a:t>Data apa dikumpul sekali?</a:t>
            </a:r>
            <a:endParaRPr lang="en-US" sz="1150" dirty="0"/>
          </a:p>
        </p:txBody>
      </p:sp>
      <p:sp>
        <p:nvSpPr>
          <p:cNvPr id="29" name="Shape 26"/>
          <p:cNvSpPr/>
          <p:nvPr/>
        </p:nvSpPr>
        <p:spPr>
          <a:xfrm>
            <a:off x="2926080" y="1737360"/>
            <a:ext cx="402336" cy="402336"/>
          </a:xfrm>
          <a:prstGeom prst="ellipse">
            <a:avLst/>
          </a:prstGeom>
          <a:solidFill>
            <a:srgbClr val="00A99D"/>
          </a:solidFill>
          <a:ln w="12700">
            <a:solidFill>
              <a:srgbClr val="00A99D"/>
            </a:solidFill>
            <a:prstDash val="solid"/>
          </a:ln>
        </p:spPr>
      </p:sp>
      <p:sp>
        <p:nvSpPr>
          <p:cNvPr id="30" name="Text 27"/>
          <p:cNvSpPr/>
          <p:nvPr/>
        </p:nvSpPr>
        <p:spPr>
          <a:xfrm>
            <a:off x="2926080" y="1746504"/>
            <a:ext cx="402336"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31" name="Shape 28"/>
          <p:cNvSpPr/>
          <p:nvPr/>
        </p:nvSpPr>
        <p:spPr>
          <a:xfrm>
            <a:off x="621792" y="3566160"/>
            <a:ext cx="2999232" cy="1481328"/>
          </a:xfrm>
          <a:prstGeom prst="roundRect">
            <a:avLst>
              <a:gd name="adj" fmla="val 3704"/>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2" name="Shape 29"/>
          <p:cNvSpPr/>
          <p:nvPr/>
        </p:nvSpPr>
        <p:spPr>
          <a:xfrm>
            <a:off x="621792" y="3566160"/>
            <a:ext cx="73152" cy="1481328"/>
          </a:xfrm>
          <a:prstGeom prst="rect">
            <a:avLst/>
          </a:prstGeom>
          <a:solidFill>
            <a:srgbClr val="00A99D"/>
          </a:solidFill>
          <a:ln w="12700">
            <a:solidFill>
              <a:srgbClr val="00A99D"/>
            </a:solidFill>
            <a:prstDash val="solid"/>
          </a:ln>
        </p:spPr>
      </p:sp>
      <p:sp>
        <p:nvSpPr>
          <p:cNvPr id="33" name="Text 30"/>
          <p:cNvSpPr/>
          <p:nvPr/>
        </p:nvSpPr>
        <p:spPr>
          <a:xfrm>
            <a:off x="832104" y="3721608"/>
            <a:ext cx="2651760" cy="292608"/>
          </a:xfrm>
          <a:prstGeom prst="rect">
            <a:avLst/>
          </a:prstGeom>
          <a:noFill/>
          <a:ln/>
        </p:spPr>
        <p:txBody>
          <a:bodyPr wrap="square" lIns="0" tIns="0" rIns="0" bIns="0" rtlCol="0" anchor="ctr">
            <a:normAutofit/>
          </a:bodyPr>
          <a:lstStyle/>
          <a:p>
            <a:pPr indent="0" marL="0">
              <a:buNone/>
            </a:pPr>
            <a:r>
              <a:rPr lang="en-US" sz="1350" b="1" dirty="0">
                <a:solidFill>
                  <a:srgbClr val="182427"/>
                </a:solidFill>
              </a:rPr>
              <a:t>Pencegahan</a:t>
            </a:r>
            <a:endParaRPr lang="en-US" sz="1350" dirty="0"/>
          </a:p>
        </p:txBody>
      </p:sp>
      <p:sp>
        <p:nvSpPr>
          <p:cNvPr id="34" name="Text 31"/>
          <p:cNvSpPr/>
          <p:nvPr/>
        </p:nvSpPr>
        <p:spPr>
          <a:xfrm>
            <a:off x="832104" y="4096512"/>
            <a:ext cx="2651760" cy="813816"/>
          </a:xfrm>
          <a:prstGeom prst="rect">
            <a:avLst/>
          </a:prstGeom>
          <a:noFill/>
          <a:ln/>
        </p:spPr>
        <p:txBody>
          <a:bodyPr wrap="square" lIns="0" tIns="0" rIns="0" bIns="0" rtlCol="0" anchor="t">
            <a:normAutofit/>
          </a:bodyPr>
          <a:lstStyle/>
          <a:p>
            <a:pPr indent="0" marL="0">
              <a:buNone/>
            </a:pPr>
            <a:r>
              <a:rPr lang="en-US" sz="1150" dirty="0">
                <a:solidFill>
                  <a:srgbClr val="6A777A"/>
                </a:solidFill>
              </a:rPr>
              <a:t>Ralat apa dicegah semasa input?</a:t>
            </a:r>
            <a:endParaRPr lang="en-US" sz="1150" dirty="0"/>
          </a:p>
        </p:txBody>
      </p:sp>
      <p:sp>
        <p:nvSpPr>
          <p:cNvPr id="35" name="Shape 32"/>
          <p:cNvSpPr/>
          <p:nvPr/>
        </p:nvSpPr>
        <p:spPr>
          <a:xfrm>
            <a:off x="2926080" y="3730752"/>
            <a:ext cx="402336" cy="402336"/>
          </a:xfrm>
          <a:prstGeom prst="ellipse">
            <a:avLst/>
          </a:prstGeom>
          <a:solidFill>
            <a:srgbClr val="00A99D"/>
          </a:solidFill>
          <a:ln w="12700">
            <a:solidFill>
              <a:srgbClr val="00A99D"/>
            </a:solidFill>
            <a:prstDash val="solid"/>
          </a:ln>
        </p:spPr>
      </p:sp>
      <p:sp>
        <p:nvSpPr>
          <p:cNvPr id="36" name="Text 33"/>
          <p:cNvSpPr/>
          <p:nvPr/>
        </p:nvSpPr>
        <p:spPr>
          <a:xfrm>
            <a:off x="2926080" y="3739896"/>
            <a:ext cx="402336"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37" name="Shape 34"/>
          <p:cNvSpPr/>
          <p:nvPr/>
        </p:nvSpPr>
        <p:spPr>
          <a:xfrm>
            <a:off x="8549640" y="1572768"/>
            <a:ext cx="2999232" cy="1481328"/>
          </a:xfrm>
          <a:prstGeom prst="roundRect">
            <a:avLst>
              <a:gd name="adj" fmla="val 3704"/>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8" name="Shape 35"/>
          <p:cNvSpPr/>
          <p:nvPr/>
        </p:nvSpPr>
        <p:spPr>
          <a:xfrm>
            <a:off x="8549640" y="1572768"/>
            <a:ext cx="73152" cy="1481328"/>
          </a:xfrm>
          <a:prstGeom prst="rect">
            <a:avLst/>
          </a:prstGeom>
          <a:solidFill>
            <a:srgbClr val="00A99D"/>
          </a:solidFill>
          <a:ln w="12700">
            <a:solidFill>
              <a:srgbClr val="00A99D"/>
            </a:solidFill>
            <a:prstDash val="solid"/>
          </a:ln>
        </p:spPr>
      </p:sp>
      <p:sp>
        <p:nvSpPr>
          <p:cNvPr id="39" name="Text 36"/>
          <p:cNvSpPr/>
          <p:nvPr/>
        </p:nvSpPr>
        <p:spPr>
          <a:xfrm>
            <a:off x="8759952" y="1728216"/>
            <a:ext cx="2651760" cy="292608"/>
          </a:xfrm>
          <a:prstGeom prst="rect">
            <a:avLst/>
          </a:prstGeom>
          <a:noFill/>
          <a:ln/>
        </p:spPr>
        <p:txBody>
          <a:bodyPr wrap="square" lIns="0" tIns="0" rIns="0" bIns="0" rtlCol="0" anchor="ctr">
            <a:normAutofit/>
          </a:bodyPr>
          <a:lstStyle/>
          <a:p>
            <a:pPr indent="0" marL="0">
              <a:buNone/>
            </a:pPr>
            <a:r>
              <a:rPr lang="en-US" sz="1350" b="1" dirty="0">
                <a:solidFill>
                  <a:srgbClr val="182427"/>
                </a:solidFill>
              </a:rPr>
              <a:t>Ketelusan</a:t>
            </a:r>
            <a:endParaRPr lang="en-US" sz="1350" dirty="0"/>
          </a:p>
        </p:txBody>
      </p:sp>
      <p:sp>
        <p:nvSpPr>
          <p:cNvPr id="40" name="Text 37"/>
          <p:cNvSpPr/>
          <p:nvPr/>
        </p:nvSpPr>
        <p:spPr>
          <a:xfrm>
            <a:off x="8759952" y="2103120"/>
            <a:ext cx="2651760" cy="813816"/>
          </a:xfrm>
          <a:prstGeom prst="rect">
            <a:avLst/>
          </a:prstGeom>
          <a:noFill/>
          <a:ln/>
        </p:spPr>
        <p:txBody>
          <a:bodyPr wrap="square" lIns="0" tIns="0" rIns="0" bIns="0" rtlCol="0" anchor="t">
            <a:normAutofit/>
          </a:bodyPr>
          <a:lstStyle/>
          <a:p>
            <a:pPr indent="0" marL="0">
              <a:buNone/>
            </a:pPr>
            <a:r>
              <a:rPr lang="en-US" sz="1150" dirty="0">
                <a:solidFill>
                  <a:srgbClr val="6A777A"/>
                </a:solidFill>
              </a:rPr>
              <a:t>Status apa boleh dilihat oleh pengguna yang dibenarkan?</a:t>
            </a:r>
            <a:endParaRPr lang="en-US" sz="1150" dirty="0"/>
          </a:p>
        </p:txBody>
      </p:sp>
      <p:sp>
        <p:nvSpPr>
          <p:cNvPr id="41" name="Shape 38"/>
          <p:cNvSpPr/>
          <p:nvPr/>
        </p:nvSpPr>
        <p:spPr>
          <a:xfrm>
            <a:off x="10853928" y="1737360"/>
            <a:ext cx="402336" cy="402336"/>
          </a:xfrm>
          <a:prstGeom prst="ellipse">
            <a:avLst/>
          </a:prstGeom>
          <a:solidFill>
            <a:srgbClr val="00A99D"/>
          </a:solidFill>
          <a:ln w="12700">
            <a:solidFill>
              <a:srgbClr val="00A99D"/>
            </a:solidFill>
            <a:prstDash val="solid"/>
          </a:ln>
        </p:spPr>
      </p:sp>
      <p:sp>
        <p:nvSpPr>
          <p:cNvPr id="42" name="Text 39"/>
          <p:cNvSpPr/>
          <p:nvPr/>
        </p:nvSpPr>
        <p:spPr>
          <a:xfrm>
            <a:off x="10853928" y="1746504"/>
            <a:ext cx="402336"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43" name="Shape 40"/>
          <p:cNvSpPr/>
          <p:nvPr/>
        </p:nvSpPr>
        <p:spPr>
          <a:xfrm>
            <a:off x="8549640" y="3566160"/>
            <a:ext cx="2999232" cy="1481328"/>
          </a:xfrm>
          <a:prstGeom prst="roundRect">
            <a:avLst>
              <a:gd name="adj" fmla="val 3704"/>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44" name="Shape 41"/>
          <p:cNvSpPr/>
          <p:nvPr/>
        </p:nvSpPr>
        <p:spPr>
          <a:xfrm>
            <a:off x="8549640" y="3566160"/>
            <a:ext cx="73152" cy="1481328"/>
          </a:xfrm>
          <a:prstGeom prst="rect">
            <a:avLst/>
          </a:prstGeom>
          <a:solidFill>
            <a:srgbClr val="D79A32"/>
          </a:solidFill>
          <a:ln w="12700">
            <a:solidFill>
              <a:srgbClr val="D79A32"/>
            </a:solidFill>
            <a:prstDash val="solid"/>
          </a:ln>
        </p:spPr>
      </p:sp>
      <p:sp>
        <p:nvSpPr>
          <p:cNvPr id="45" name="Text 42"/>
          <p:cNvSpPr/>
          <p:nvPr/>
        </p:nvSpPr>
        <p:spPr>
          <a:xfrm>
            <a:off x="8759952" y="3721608"/>
            <a:ext cx="2651760" cy="292608"/>
          </a:xfrm>
          <a:prstGeom prst="rect">
            <a:avLst/>
          </a:prstGeom>
          <a:noFill/>
          <a:ln/>
        </p:spPr>
        <p:txBody>
          <a:bodyPr wrap="square" lIns="0" tIns="0" rIns="0" bIns="0" rtlCol="0" anchor="ctr">
            <a:normAutofit/>
          </a:bodyPr>
          <a:lstStyle/>
          <a:p>
            <a:pPr indent="0" marL="0">
              <a:buNone/>
            </a:pPr>
            <a:r>
              <a:rPr lang="en-US" sz="1350" b="1" dirty="0">
                <a:solidFill>
                  <a:srgbClr val="182427"/>
                </a:solidFill>
              </a:rPr>
              <a:t>Titik kawalan</a:t>
            </a:r>
            <a:endParaRPr lang="en-US" sz="1350" dirty="0"/>
          </a:p>
        </p:txBody>
      </p:sp>
      <p:sp>
        <p:nvSpPr>
          <p:cNvPr id="46" name="Text 43"/>
          <p:cNvSpPr/>
          <p:nvPr/>
        </p:nvSpPr>
        <p:spPr>
          <a:xfrm>
            <a:off x="8759952" y="4096512"/>
            <a:ext cx="2651760" cy="813816"/>
          </a:xfrm>
          <a:prstGeom prst="rect">
            <a:avLst/>
          </a:prstGeom>
          <a:noFill/>
          <a:ln/>
        </p:spPr>
        <p:txBody>
          <a:bodyPr wrap="square" lIns="0" tIns="0" rIns="0" bIns="0" rtlCol="0" anchor="t">
            <a:normAutofit/>
          </a:bodyPr>
          <a:lstStyle/>
          <a:p>
            <a:pPr indent="0" marL="0">
              <a:buNone/>
            </a:pPr>
            <a:r>
              <a:rPr lang="en-US" sz="1150" dirty="0">
                <a:solidFill>
                  <a:srgbClr val="6A777A"/>
                </a:solidFill>
              </a:rPr>
              <a:t>Keputusan apa kekal di tangan manusia?</a:t>
            </a:r>
            <a:endParaRPr lang="en-US" sz="1150" dirty="0"/>
          </a:p>
        </p:txBody>
      </p:sp>
      <p:sp>
        <p:nvSpPr>
          <p:cNvPr id="47" name="Shape 44"/>
          <p:cNvSpPr/>
          <p:nvPr/>
        </p:nvSpPr>
        <p:spPr>
          <a:xfrm>
            <a:off x="10853928" y="3730752"/>
            <a:ext cx="402336" cy="402336"/>
          </a:xfrm>
          <a:prstGeom prst="ellipse">
            <a:avLst/>
          </a:prstGeom>
          <a:solidFill>
            <a:srgbClr val="D79A32"/>
          </a:solidFill>
          <a:ln w="12700">
            <a:solidFill>
              <a:srgbClr val="D79A32"/>
            </a:solidFill>
            <a:prstDash val="solid"/>
          </a:ln>
        </p:spPr>
      </p:sp>
      <p:sp>
        <p:nvSpPr>
          <p:cNvPr id="48" name="Text 45"/>
          <p:cNvSpPr/>
          <p:nvPr/>
        </p:nvSpPr>
        <p:spPr>
          <a:xfrm>
            <a:off x="10853928" y="3739896"/>
            <a:ext cx="402336"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49" name="Text 46"/>
          <p:cNvSpPr/>
          <p:nvPr/>
        </p:nvSpPr>
        <p:spPr>
          <a:xfrm>
            <a:off x="3886200" y="5650992"/>
            <a:ext cx="4434840" cy="292608"/>
          </a:xfrm>
          <a:prstGeom prst="rect">
            <a:avLst/>
          </a:prstGeom>
          <a:noFill/>
          <a:ln/>
        </p:spPr>
        <p:txBody>
          <a:bodyPr wrap="square" lIns="0" tIns="0" rIns="0" bIns="0" rtlCol="0" anchor="ctr"/>
          <a:lstStyle/>
          <a:p>
            <a:pPr algn="ctr" indent="0" marL="0">
              <a:buNone/>
            </a:pPr>
            <a:r>
              <a:rPr lang="en-US" sz="1320" b="1" dirty="0">
                <a:solidFill>
                  <a:srgbClr val="00A99D"/>
                </a:solidFill>
              </a:rPr>
              <a:t>Debrief: jawab satu soalan setiap kumpulan.</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KANVAS</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19</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Kanvas Peluang Produktiviti MPE</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Lapan bahagian untuk menukar masalah kepada percubaan yang boleh dinilai.</a:t>
            </a:r>
            <a:endParaRPr lang="en-US" sz="1250" dirty="0"/>
          </a:p>
        </p:txBody>
      </p:sp>
      <p:sp>
        <p:nvSpPr>
          <p:cNvPr id="23" name="Shape 21"/>
          <p:cNvSpPr/>
          <p:nvPr/>
        </p:nvSpPr>
        <p:spPr>
          <a:xfrm>
            <a:off x="713232" y="1481328"/>
            <a:ext cx="3154680" cy="987552"/>
          </a:xfrm>
          <a:prstGeom prst="roundRect">
            <a:avLst>
              <a:gd name="adj" fmla="val 555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4" name="Shape 22"/>
          <p:cNvSpPr/>
          <p:nvPr/>
        </p:nvSpPr>
        <p:spPr>
          <a:xfrm>
            <a:off x="713232" y="1481328"/>
            <a:ext cx="73152" cy="987552"/>
          </a:xfrm>
          <a:prstGeom prst="rect">
            <a:avLst/>
          </a:prstGeom>
          <a:solidFill>
            <a:srgbClr val="173440"/>
          </a:solidFill>
          <a:ln w="12700">
            <a:solidFill>
              <a:srgbClr val="173440"/>
            </a:solidFill>
            <a:prstDash val="solid"/>
          </a:ln>
        </p:spPr>
      </p:sp>
      <p:sp>
        <p:nvSpPr>
          <p:cNvPr id="25" name="Text 23"/>
          <p:cNvSpPr/>
          <p:nvPr/>
        </p:nvSpPr>
        <p:spPr>
          <a:xfrm>
            <a:off x="923544" y="1636776"/>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1. Pengguna &amp; masalah</a:t>
            </a:r>
            <a:endParaRPr lang="en-US" sz="1300" dirty="0"/>
          </a:p>
        </p:txBody>
      </p:sp>
      <p:sp>
        <p:nvSpPr>
          <p:cNvPr id="26" name="Text 24"/>
          <p:cNvSpPr/>
          <p:nvPr/>
        </p:nvSpPr>
        <p:spPr>
          <a:xfrm>
            <a:off x="923544" y="2011680"/>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27" name="Shape 25"/>
          <p:cNvSpPr/>
          <p:nvPr/>
        </p:nvSpPr>
        <p:spPr>
          <a:xfrm>
            <a:off x="713232" y="2779776"/>
            <a:ext cx="3154680" cy="987552"/>
          </a:xfrm>
          <a:prstGeom prst="roundRect">
            <a:avLst>
              <a:gd name="adj" fmla="val 555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28" name="Shape 26"/>
          <p:cNvSpPr/>
          <p:nvPr/>
        </p:nvSpPr>
        <p:spPr>
          <a:xfrm>
            <a:off x="713232" y="2779776"/>
            <a:ext cx="73152" cy="987552"/>
          </a:xfrm>
          <a:prstGeom prst="rect">
            <a:avLst/>
          </a:prstGeom>
          <a:solidFill>
            <a:srgbClr val="6A777A"/>
          </a:solidFill>
          <a:ln w="12700">
            <a:solidFill>
              <a:srgbClr val="6A777A"/>
            </a:solidFill>
            <a:prstDash val="solid"/>
          </a:ln>
        </p:spPr>
      </p:sp>
      <p:sp>
        <p:nvSpPr>
          <p:cNvPr id="29" name="Text 27"/>
          <p:cNvSpPr/>
          <p:nvPr/>
        </p:nvSpPr>
        <p:spPr>
          <a:xfrm>
            <a:off x="923544" y="2935224"/>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2. Keadaan semasa</a:t>
            </a:r>
            <a:endParaRPr lang="en-US" sz="1300" dirty="0"/>
          </a:p>
        </p:txBody>
      </p:sp>
      <p:sp>
        <p:nvSpPr>
          <p:cNvPr id="30" name="Text 28"/>
          <p:cNvSpPr/>
          <p:nvPr/>
        </p:nvSpPr>
        <p:spPr>
          <a:xfrm>
            <a:off x="923544" y="3310128"/>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31" name="Shape 29"/>
          <p:cNvSpPr/>
          <p:nvPr/>
        </p:nvSpPr>
        <p:spPr>
          <a:xfrm>
            <a:off x="713232" y="4078224"/>
            <a:ext cx="3154680" cy="987552"/>
          </a:xfrm>
          <a:prstGeom prst="roundRect">
            <a:avLst>
              <a:gd name="adj" fmla="val 555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2" name="Shape 30"/>
          <p:cNvSpPr/>
          <p:nvPr/>
        </p:nvSpPr>
        <p:spPr>
          <a:xfrm>
            <a:off x="713232" y="4078224"/>
            <a:ext cx="73152" cy="987552"/>
          </a:xfrm>
          <a:prstGeom prst="rect">
            <a:avLst/>
          </a:prstGeom>
          <a:solidFill>
            <a:srgbClr val="C95B5B"/>
          </a:solidFill>
          <a:ln w="12700">
            <a:solidFill>
              <a:srgbClr val="C95B5B"/>
            </a:solidFill>
            <a:prstDash val="solid"/>
          </a:ln>
        </p:spPr>
      </p:sp>
      <p:sp>
        <p:nvSpPr>
          <p:cNvPr id="33" name="Text 31"/>
          <p:cNvSpPr/>
          <p:nvPr/>
        </p:nvSpPr>
        <p:spPr>
          <a:xfrm>
            <a:off x="923544" y="4233672"/>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3. Kesan masalah</a:t>
            </a:r>
            <a:endParaRPr lang="en-US" sz="1300" dirty="0"/>
          </a:p>
        </p:txBody>
      </p:sp>
      <p:sp>
        <p:nvSpPr>
          <p:cNvPr id="34" name="Text 32"/>
          <p:cNvSpPr/>
          <p:nvPr/>
        </p:nvSpPr>
        <p:spPr>
          <a:xfrm>
            <a:off x="923544" y="4608576"/>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35" name="Shape 33"/>
          <p:cNvSpPr/>
          <p:nvPr/>
        </p:nvSpPr>
        <p:spPr>
          <a:xfrm>
            <a:off x="4251960" y="1481328"/>
            <a:ext cx="3154680" cy="1783080"/>
          </a:xfrm>
          <a:prstGeom prst="roundRect">
            <a:avLst>
              <a:gd name="adj" fmla="val 3077"/>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36" name="Shape 34"/>
          <p:cNvSpPr/>
          <p:nvPr/>
        </p:nvSpPr>
        <p:spPr>
          <a:xfrm>
            <a:off x="4251960" y="1481328"/>
            <a:ext cx="73152" cy="1783080"/>
          </a:xfrm>
          <a:prstGeom prst="rect">
            <a:avLst/>
          </a:prstGeom>
          <a:solidFill>
            <a:srgbClr val="00A99D"/>
          </a:solidFill>
          <a:ln w="12700">
            <a:solidFill>
              <a:srgbClr val="00A99D"/>
            </a:solidFill>
            <a:prstDash val="solid"/>
          </a:ln>
        </p:spPr>
      </p:sp>
      <p:sp>
        <p:nvSpPr>
          <p:cNvPr id="37" name="Text 35"/>
          <p:cNvSpPr/>
          <p:nvPr/>
        </p:nvSpPr>
        <p:spPr>
          <a:xfrm>
            <a:off x="4462272" y="1636776"/>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4. Keupayaan pintar</a:t>
            </a:r>
            <a:endParaRPr lang="en-US" sz="1300" dirty="0"/>
          </a:p>
        </p:txBody>
      </p:sp>
      <p:sp>
        <p:nvSpPr>
          <p:cNvPr id="38" name="Text 36"/>
          <p:cNvSpPr/>
          <p:nvPr/>
        </p:nvSpPr>
        <p:spPr>
          <a:xfrm>
            <a:off x="4462272" y="2011680"/>
            <a:ext cx="2807208" cy="1115568"/>
          </a:xfrm>
          <a:prstGeom prst="rect">
            <a:avLst/>
          </a:prstGeom>
          <a:noFill/>
          <a:ln/>
        </p:spPr>
        <p:txBody>
          <a:bodyPr wrap="square" lIns="0" tIns="0" rIns="0" bIns="0" rtlCol="0" anchor="t">
            <a:normAutofit/>
          </a:bodyPr>
          <a:lstStyle/>
          <a:p>
            <a:pPr indent="0" marL="0">
              <a:buNone/>
            </a:pPr>
            <a:r>
              <a:rPr lang="en-US" sz="1050" dirty="0">
                <a:solidFill>
                  <a:srgbClr val="6A777A"/>
                </a:solidFill>
              </a:rPr>
              <a:t>Keupayaan mana mengubah pengalaman kerja?</a:t>
            </a:r>
            <a:endParaRPr lang="en-US" sz="1050" dirty="0"/>
          </a:p>
        </p:txBody>
      </p:sp>
      <p:sp>
        <p:nvSpPr>
          <p:cNvPr id="39" name="Shape 37"/>
          <p:cNvSpPr/>
          <p:nvPr/>
        </p:nvSpPr>
        <p:spPr>
          <a:xfrm>
            <a:off x="4251960" y="2779776"/>
            <a:ext cx="3154680" cy="1783080"/>
          </a:xfrm>
          <a:prstGeom prst="roundRect">
            <a:avLst>
              <a:gd name="adj" fmla="val 3077"/>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40" name="Shape 38"/>
          <p:cNvSpPr/>
          <p:nvPr/>
        </p:nvSpPr>
        <p:spPr>
          <a:xfrm>
            <a:off x="4251960" y="2779776"/>
            <a:ext cx="73152" cy="1783080"/>
          </a:xfrm>
          <a:prstGeom prst="rect">
            <a:avLst/>
          </a:prstGeom>
          <a:solidFill>
            <a:srgbClr val="2F72C4"/>
          </a:solidFill>
          <a:ln w="12700">
            <a:solidFill>
              <a:srgbClr val="2F72C4"/>
            </a:solidFill>
            <a:prstDash val="solid"/>
          </a:ln>
        </p:spPr>
      </p:sp>
      <p:sp>
        <p:nvSpPr>
          <p:cNvPr id="41" name="Text 39"/>
          <p:cNvSpPr/>
          <p:nvPr/>
        </p:nvSpPr>
        <p:spPr>
          <a:xfrm>
            <a:off x="4462272" y="2935224"/>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5. Data &amp; dokumen</a:t>
            </a:r>
            <a:endParaRPr lang="en-US" sz="1300" dirty="0"/>
          </a:p>
        </p:txBody>
      </p:sp>
      <p:sp>
        <p:nvSpPr>
          <p:cNvPr id="42" name="Text 40"/>
          <p:cNvSpPr/>
          <p:nvPr/>
        </p:nvSpPr>
        <p:spPr>
          <a:xfrm>
            <a:off x="4462272" y="3310128"/>
            <a:ext cx="2807208" cy="1115568"/>
          </a:xfrm>
          <a:prstGeom prst="rect">
            <a:avLst/>
          </a:prstGeom>
          <a:noFill/>
          <a:ln/>
        </p:spPr>
        <p:txBody>
          <a:bodyPr wrap="square" lIns="0" tIns="0" rIns="0" bIns="0" rtlCol="0" anchor="t">
            <a:normAutofit/>
          </a:bodyPr>
          <a:lstStyle/>
          <a:p>
            <a:pPr indent="0" marL="0">
              <a:buNone/>
            </a:pPr>
            <a:r>
              <a:rPr lang="en-US" sz="1050" dirty="0">
                <a:solidFill>
                  <a:srgbClr val="6A777A"/>
                </a:solidFill>
              </a:rPr>
              <a:t>Input minimum, sumber dan output?</a:t>
            </a:r>
            <a:endParaRPr lang="en-US" sz="1050" dirty="0"/>
          </a:p>
        </p:txBody>
      </p:sp>
      <p:sp>
        <p:nvSpPr>
          <p:cNvPr id="43" name="Shape 41"/>
          <p:cNvSpPr/>
          <p:nvPr/>
        </p:nvSpPr>
        <p:spPr>
          <a:xfrm>
            <a:off x="7790688" y="1481328"/>
            <a:ext cx="3154680" cy="987552"/>
          </a:xfrm>
          <a:prstGeom prst="roundRect">
            <a:avLst>
              <a:gd name="adj" fmla="val 555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44" name="Shape 42"/>
          <p:cNvSpPr/>
          <p:nvPr/>
        </p:nvSpPr>
        <p:spPr>
          <a:xfrm>
            <a:off x="7790688" y="1481328"/>
            <a:ext cx="73152" cy="987552"/>
          </a:xfrm>
          <a:prstGeom prst="rect">
            <a:avLst/>
          </a:prstGeom>
          <a:solidFill>
            <a:srgbClr val="3F9B72"/>
          </a:solidFill>
          <a:ln w="12700">
            <a:solidFill>
              <a:srgbClr val="3F9B72"/>
            </a:solidFill>
            <a:prstDash val="solid"/>
          </a:ln>
        </p:spPr>
      </p:sp>
      <p:sp>
        <p:nvSpPr>
          <p:cNvPr id="45" name="Text 43"/>
          <p:cNvSpPr/>
          <p:nvPr/>
        </p:nvSpPr>
        <p:spPr>
          <a:xfrm>
            <a:off x="8001000" y="1636776"/>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6. Ukuran kejayaan</a:t>
            </a:r>
            <a:endParaRPr lang="en-US" sz="1300" dirty="0"/>
          </a:p>
        </p:txBody>
      </p:sp>
      <p:sp>
        <p:nvSpPr>
          <p:cNvPr id="46" name="Text 44"/>
          <p:cNvSpPr/>
          <p:nvPr/>
        </p:nvSpPr>
        <p:spPr>
          <a:xfrm>
            <a:off x="8001000" y="2011680"/>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47" name="Shape 45"/>
          <p:cNvSpPr/>
          <p:nvPr/>
        </p:nvSpPr>
        <p:spPr>
          <a:xfrm>
            <a:off x="7790688" y="2779776"/>
            <a:ext cx="3154680" cy="987552"/>
          </a:xfrm>
          <a:prstGeom prst="roundRect">
            <a:avLst>
              <a:gd name="adj" fmla="val 5556"/>
            </a:avLst>
          </a:prstGeom>
          <a:solidFill>
            <a:srgbClr val="FFFFFF"/>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48" name="Shape 46"/>
          <p:cNvSpPr/>
          <p:nvPr/>
        </p:nvSpPr>
        <p:spPr>
          <a:xfrm>
            <a:off x="7790688" y="2779776"/>
            <a:ext cx="73152" cy="987552"/>
          </a:xfrm>
          <a:prstGeom prst="rect">
            <a:avLst/>
          </a:prstGeom>
          <a:solidFill>
            <a:srgbClr val="D79A32"/>
          </a:solidFill>
          <a:ln w="12700">
            <a:solidFill>
              <a:srgbClr val="D79A32"/>
            </a:solidFill>
            <a:prstDash val="solid"/>
          </a:ln>
        </p:spPr>
      </p:sp>
      <p:sp>
        <p:nvSpPr>
          <p:cNvPr id="49" name="Text 47"/>
          <p:cNvSpPr/>
          <p:nvPr/>
        </p:nvSpPr>
        <p:spPr>
          <a:xfrm>
            <a:off x="8001000" y="2935224"/>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7. Risiko &amp; semakan</a:t>
            </a:r>
            <a:endParaRPr lang="en-US" sz="1300" dirty="0"/>
          </a:p>
        </p:txBody>
      </p:sp>
      <p:sp>
        <p:nvSpPr>
          <p:cNvPr id="50" name="Text 48"/>
          <p:cNvSpPr/>
          <p:nvPr/>
        </p:nvSpPr>
        <p:spPr>
          <a:xfrm>
            <a:off x="8001000" y="3310128"/>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51" name="Shape 49"/>
          <p:cNvSpPr/>
          <p:nvPr/>
        </p:nvSpPr>
        <p:spPr>
          <a:xfrm>
            <a:off x="7790688" y="4078224"/>
            <a:ext cx="3154680" cy="987552"/>
          </a:xfrm>
          <a:prstGeom prst="roundRect">
            <a:avLst>
              <a:gd name="adj" fmla="val 5556"/>
            </a:avLst>
          </a:prstGeom>
          <a:solidFill>
            <a:srgbClr val="E9FAF4"/>
          </a:solidFill>
          <a:ln w="11430">
            <a:solidFill>
              <a:srgbClr val="CFDAD8"/>
            </a:solidFill>
            <a:prstDash val="solid"/>
          </a:ln>
          <a:effectLst>
            <a:outerShdw sx="100000" sy="100000" kx="0" ky="0" algn="bl" rotWithShape="0" blurRad="25400" dist="50800" dir="2700000">
              <a:srgbClr val="000000">
                <a:alpha val="10000"/>
              </a:srgbClr>
            </a:outerShdw>
          </a:effectLst>
        </p:spPr>
      </p:sp>
      <p:sp>
        <p:nvSpPr>
          <p:cNvPr id="52" name="Shape 50"/>
          <p:cNvSpPr/>
          <p:nvPr/>
        </p:nvSpPr>
        <p:spPr>
          <a:xfrm>
            <a:off x="7790688" y="4078224"/>
            <a:ext cx="73152" cy="987552"/>
          </a:xfrm>
          <a:prstGeom prst="rect">
            <a:avLst/>
          </a:prstGeom>
          <a:solidFill>
            <a:srgbClr val="00A99D"/>
          </a:solidFill>
          <a:ln w="12700">
            <a:solidFill>
              <a:srgbClr val="00A99D"/>
            </a:solidFill>
            <a:prstDash val="solid"/>
          </a:ln>
        </p:spPr>
      </p:sp>
      <p:sp>
        <p:nvSpPr>
          <p:cNvPr id="53" name="Text 51"/>
          <p:cNvSpPr/>
          <p:nvPr/>
        </p:nvSpPr>
        <p:spPr>
          <a:xfrm>
            <a:off x="8001000" y="4233672"/>
            <a:ext cx="2807208" cy="292608"/>
          </a:xfrm>
          <a:prstGeom prst="rect">
            <a:avLst/>
          </a:prstGeom>
          <a:noFill/>
          <a:ln/>
        </p:spPr>
        <p:txBody>
          <a:bodyPr wrap="square" lIns="0" tIns="0" rIns="0" bIns="0" rtlCol="0" anchor="ctr">
            <a:normAutofit/>
          </a:bodyPr>
          <a:lstStyle/>
          <a:p>
            <a:pPr indent="0" marL="0">
              <a:buNone/>
            </a:pPr>
            <a:r>
              <a:rPr lang="en-US" sz="1300" b="1" dirty="0">
                <a:solidFill>
                  <a:srgbClr val="182427"/>
                </a:solidFill>
              </a:rPr>
              <a:t>8. Percubaan kecil</a:t>
            </a:r>
            <a:endParaRPr lang="en-US" sz="1300" dirty="0"/>
          </a:p>
        </p:txBody>
      </p:sp>
      <p:sp>
        <p:nvSpPr>
          <p:cNvPr id="54" name="Text 52"/>
          <p:cNvSpPr/>
          <p:nvPr/>
        </p:nvSpPr>
        <p:spPr>
          <a:xfrm>
            <a:off x="8001000" y="4608576"/>
            <a:ext cx="2807208" cy="320040"/>
          </a:xfrm>
          <a:prstGeom prst="rect">
            <a:avLst/>
          </a:prstGeom>
          <a:noFill/>
          <a:ln/>
        </p:spPr>
        <p:txBody>
          <a:bodyPr wrap="square" lIns="0" tIns="0" rIns="0" bIns="0" rtlCol="0" anchor="t">
            <a:normAutofit/>
          </a:bodyPr>
          <a:lstStyle/>
          <a:p>
            <a:pPr indent="0" marL="0">
              <a:buNone/>
            </a:pPr>
            <a:endParaRPr lang="en-US" sz="1050" dirty="0"/>
          </a:p>
        </p:txBody>
      </p:sp>
      <p:sp>
        <p:nvSpPr>
          <p:cNvPr id="55" name="Shape 53"/>
          <p:cNvSpPr/>
          <p:nvPr/>
        </p:nvSpPr>
        <p:spPr>
          <a:xfrm>
            <a:off x="3877056" y="2880360"/>
            <a:ext cx="301752" cy="0"/>
          </a:xfrm>
          <a:prstGeom prst="line">
            <a:avLst/>
          </a:prstGeom>
          <a:noFill/>
          <a:ln w="20320">
            <a:solidFill>
              <a:srgbClr val="00A99D"/>
            </a:solidFill>
            <a:prstDash val="solid"/>
            <a:tailEnd type="triangle"/>
          </a:ln>
        </p:spPr>
      </p:sp>
      <p:sp>
        <p:nvSpPr>
          <p:cNvPr id="56" name="Shape 54"/>
          <p:cNvSpPr/>
          <p:nvPr/>
        </p:nvSpPr>
        <p:spPr>
          <a:xfrm>
            <a:off x="7424928" y="2880360"/>
            <a:ext cx="292608" cy="0"/>
          </a:xfrm>
          <a:prstGeom prst="line">
            <a:avLst/>
          </a:prstGeom>
          <a:noFill/>
          <a:ln w="20320">
            <a:solidFill>
              <a:srgbClr val="00A99D"/>
            </a:solidFill>
            <a:prstDash val="solid"/>
            <a:tailEnd type="triangle"/>
          </a:ln>
        </p:spPr>
      </p:sp>
      <p:sp>
        <p:nvSpPr>
          <p:cNvPr id="57" name="Shape 55"/>
          <p:cNvSpPr/>
          <p:nvPr/>
        </p:nvSpPr>
        <p:spPr>
          <a:xfrm>
            <a:off x="4251960" y="5376672"/>
            <a:ext cx="3154680" cy="493776"/>
          </a:xfrm>
          <a:prstGeom prst="roundRect">
            <a:avLst>
              <a:gd name="adj" fmla="val 9259"/>
            </a:avLst>
          </a:prstGeom>
          <a:solidFill>
            <a:srgbClr val="173440"/>
          </a:solidFill>
          <a:ln w="12700">
            <a:solidFill>
              <a:srgbClr val="173440"/>
            </a:solidFill>
            <a:prstDash val="solid"/>
          </a:ln>
        </p:spPr>
      </p:sp>
      <p:sp>
        <p:nvSpPr>
          <p:cNvPr id="58" name="Text 56"/>
          <p:cNvSpPr/>
          <p:nvPr/>
        </p:nvSpPr>
        <p:spPr>
          <a:xfrm>
            <a:off x="4407408" y="5532120"/>
            <a:ext cx="2834640" cy="201168"/>
          </a:xfrm>
          <a:prstGeom prst="rect">
            <a:avLst/>
          </a:prstGeom>
          <a:noFill/>
          <a:ln/>
        </p:spPr>
        <p:txBody>
          <a:bodyPr wrap="square" lIns="0" tIns="0" rIns="0" bIns="0" rtlCol="0" anchor="ctr"/>
          <a:lstStyle/>
          <a:p>
            <a:pPr algn="ctr" indent="0" marL="0">
              <a:buNone/>
            </a:pPr>
            <a:r>
              <a:rPr lang="en-US" sz="1150" b="1" dirty="0">
                <a:solidFill>
                  <a:srgbClr val="FFFFFF"/>
                </a:solidFill>
              </a:rPr>
              <a:t>Masalah → Reka bentuk → Nilai &amp; kawal</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AKTIVITI</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20</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Aktiviti kumpulan: 18 minit</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Satu proses · satu pengguna utama · satu metrik · satu percubaan kecil</a:t>
            </a:r>
            <a:endParaRPr lang="en-US" sz="1250" dirty="0"/>
          </a:p>
        </p:txBody>
      </p:sp>
      <p:sp>
        <p:nvSpPr>
          <p:cNvPr id="23" name="Shape 21"/>
          <p:cNvSpPr/>
          <p:nvPr/>
        </p:nvSpPr>
        <p:spPr>
          <a:xfrm>
            <a:off x="621792" y="1874520"/>
            <a:ext cx="2487168" cy="3154680"/>
          </a:xfrm>
          <a:prstGeom prst="roundRect">
            <a:avLst>
              <a:gd name="adj" fmla="val 2206"/>
            </a:avLst>
          </a:prstGeom>
          <a:solidFill>
            <a:srgbClr val="173C40"/>
          </a:solidFill>
          <a:ln w="25400">
            <a:solidFill>
              <a:srgbClr val="00A99D"/>
            </a:solidFill>
            <a:prstDash val="solid"/>
          </a:ln>
        </p:spPr>
      </p:sp>
      <p:sp>
        <p:nvSpPr>
          <p:cNvPr id="24" name="Text 22"/>
          <p:cNvSpPr/>
          <p:nvPr/>
        </p:nvSpPr>
        <p:spPr>
          <a:xfrm>
            <a:off x="850392" y="2148840"/>
            <a:ext cx="2029968" cy="594360"/>
          </a:xfrm>
          <a:prstGeom prst="rect">
            <a:avLst/>
          </a:prstGeom>
          <a:noFill/>
          <a:ln/>
        </p:spPr>
        <p:txBody>
          <a:bodyPr wrap="square" lIns="0" tIns="0" rIns="0" bIns="0" rtlCol="0" anchor="ctr"/>
          <a:lstStyle/>
          <a:p>
            <a:pPr algn="ctr" indent="0" marL="0">
              <a:buNone/>
            </a:pPr>
            <a:r>
              <a:rPr lang="en-US" sz="2600" b="1" dirty="0">
                <a:solidFill>
                  <a:srgbClr val="FFFFFF"/>
                </a:solidFill>
              </a:rPr>
              <a:t>0–3</a:t>
            </a:r>
            <a:endParaRPr lang="en-US" sz="2600" dirty="0"/>
          </a:p>
        </p:txBody>
      </p:sp>
      <p:sp>
        <p:nvSpPr>
          <p:cNvPr id="25" name="Text 23"/>
          <p:cNvSpPr/>
          <p:nvPr/>
        </p:nvSpPr>
        <p:spPr>
          <a:xfrm>
            <a:off x="850392" y="2770632"/>
            <a:ext cx="2029968" cy="228600"/>
          </a:xfrm>
          <a:prstGeom prst="rect">
            <a:avLst/>
          </a:prstGeom>
          <a:noFill/>
          <a:ln/>
        </p:spPr>
        <p:txBody>
          <a:bodyPr wrap="square" lIns="0" tIns="0" rIns="0" bIns="0" rtlCol="0" anchor="ctr"/>
          <a:lstStyle/>
          <a:p>
            <a:pPr algn="ctr" indent="0" marL="0">
              <a:buNone/>
            </a:pPr>
            <a:r>
              <a:rPr lang="en-US" sz="900" spc="200" kern="0" dirty="0">
                <a:solidFill>
                  <a:srgbClr val="9EB4B7"/>
                </a:solidFill>
              </a:rPr>
              <a:t>MINIT</a:t>
            </a:r>
            <a:endParaRPr lang="en-US" sz="900" dirty="0"/>
          </a:p>
        </p:txBody>
      </p:sp>
      <p:sp>
        <p:nvSpPr>
          <p:cNvPr id="26" name="Text 24"/>
          <p:cNvSpPr/>
          <p:nvPr/>
        </p:nvSpPr>
        <p:spPr>
          <a:xfrm>
            <a:off x="850392" y="3337560"/>
            <a:ext cx="2029968" cy="45720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rPr>
              <a:t>Pilih masalah</a:t>
            </a:r>
            <a:endParaRPr lang="en-US" sz="1600" dirty="0"/>
          </a:p>
        </p:txBody>
      </p:sp>
      <p:sp>
        <p:nvSpPr>
          <p:cNvPr id="27" name="Text 25"/>
          <p:cNvSpPr/>
          <p:nvPr/>
        </p:nvSpPr>
        <p:spPr>
          <a:xfrm>
            <a:off x="896112" y="4069080"/>
            <a:ext cx="1938528" cy="548640"/>
          </a:xfrm>
          <a:prstGeom prst="rect">
            <a:avLst/>
          </a:prstGeom>
          <a:noFill/>
          <a:ln/>
        </p:spPr>
        <p:txBody>
          <a:bodyPr wrap="square" lIns="0" tIns="0" rIns="0" bIns="0" rtlCol="0" anchor="ctr">
            <a:normAutofit/>
          </a:bodyPr>
          <a:lstStyle/>
          <a:p>
            <a:pPr algn="ctr" indent="0" marL="0">
              <a:buNone/>
            </a:pPr>
            <a:r>
              <a:rPr lang="en-US" sz="1080" dirty="0">
                <a:solidFill>
                  <a:srgbClr val="BFD0D2"/>
                </a:solidFill>
              </a:rPr>
              <a:t>Gunakan inventori masalah sebenar</a:t>
            </a:r>
            <a:endParaRPr lang="en-US" sz="1080" dirty="0"/>
          </a:p>
        </p:txBody>
      </p:sp>
      <p:sp>
        <p:nvSpPr>
          <p:cNvPr id="28" name="Shape 26"/>
          <p:cNvSpPr/>
          <p:nvPr/>
        </p:nvSpPr>
        <p:spPr>
          <a:xfrm>
            <a:off x="3456432" y="1874520"/>
            <a:ext cx="2487168" cy="3154680"/>
          </a:xfrm>
          <a:prstGeom prst="roundRect">
            <a:avLst>
              <a:gd name="adj" fmla="val 2206"/>
            </a:avLst>
          </a:prstGeom>
          <a:solidFill>
            <a:srgbClr val="173C40"/>
          </a:solidFill>
          <a:ln w="25400">
            <a:solidFill>
              <a:srgbClr val="2F72C4"/>
            </a:solidFill>
            <a:prstDash val="solid"/>
          </a:ln>
        </p:spPr>
      </p:sp>
      <p:sp>
        <p:nvSpPr>
          <p:cNvPr id="29" name="Text 27"/>
          <p:cNvSpPr/>
          <p:nvPr/>
        </p:nvSpPr>
        <p:spPr>
          <a:xfrm>
            <a:off x="3685032" y="2148840"/>
            <a:ext cx="2029968" cy="594360"/>
          </a:xfrm>
          <a:prstGeom prst="rect">
            <a:avLst/>
          </a:prstGeom>
          <a:noFill/>
          <a:ln/>
        </p:spPr>
        <p:txBody>
          <a:bodyPr wrap="square" lIns="0" tIns="0" rIns="0" bIns="0" rtlCol="0" anchor="ctr"/>
          <a:lstStyle/>
          <a:p>
            <a:pPr algn="ctr" indent="0" marL="0">
              <a:buNone/>
            </a:pPr>
            <a:r>
              <a:rPr lang="en-US" sz="2600" b="1" dirty="0">
                <a:solidFill>
                  <a:srgbClr val="FFFFFF"/>
                </a:solidFill>
              </a:rPr>
              <a:t>3–10</a:t>
            </a:r>
            <a:endParaRPr lang="en-US" sz="2600" dirty="0"/>
          </a:p>
        </p:txBody>
      </p:sp>
      <p:sp>
        <p:nvSpPr>
          <p:cNvPr id="30" name="Text 28"/>
          <p:cNvSpPr/>
          <p:nvPr/>
        </p:nvSpPr>
        <p:spPr>
          <a:xfrm>
            <a:off x="3685032" y="2770632"/>
            <a:ext cx="2029968" cy="228600"/>
          </a:xfrm>
          <a:prstGeom prst="rect">
            <a:avLst/>
          </a:prstGeom>
          <a:noFill/>
          <a:ln/>
        </p:spPr>
        <p:txBody>
          <a:bodyPr wrap="square" lIns="0" tIns="0" rIns="0" bIns="0" rtlCol="0" anchor="ctr"/>
          <a:lstStyle/>
          <a:p>
            <a:pPr algn="ctr" indent="0" marL="0">
              <a:buNone/>
            </a:pPr>
            <a:r>
              <a:rPr lang="en-US" sz="900" spc="200" kern="0" dirty="0">
                <a:solidFill>
                  <a:srgbClr val="9EB4B7"/>
                </a:solidFill>
              </a:rPr>
              <a:t>MINIT</a:t>
            </a:r>
            <a:endParaRPr lang="en-US" sz="900" dirty="0"/>
          </a:p>
        </p:txBody>
      </p:sp>
      <p:sp>
        <p:nvSpPr>
          <p:cNvPr id="31" name="Text 29"/>
          <p:cNvSpPr/>
          <p:nvPr/>
        </p:nvSpPr>
        <p:spPr>
          <a:xfrm>
            <a:off x="3685032" y="3337560"/>
            <a:ext cx="2029968" cy="45720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rPr>
              <a:t>Lengkapkan kanvas</a:t>
            </a:r>
            <a:endParaRPr lang="en-US" sz="1600" dirty="0"/>
          </a:p>
        </p:txBody>
      </p:sp>
      <p:sp>
        <p:nvSpPr>
          <p:cNvPr id="32" name="Text 30"/>
          <p:cNvSpPr/>
          <p:nvPr/>
        </p:nvSpPr>
        <p:spPr>
          <a:xfrm>
            <a:off x="3730752" y="4069080"/>
            <a:ext cx="1938528" cy="548640"/>
          </a:xfrm>
          <a:prstGeom prst="rect">
            <a:avLst/>
          </a:prstGeom>
          <a:noFill/>
          <a:ln/>
        </p:spPr>
        <p:txBody>
          <a:bodyPr wrap="square" lIns="0" tIns="0" rIns="0" bIns="0" rtlCol="0" anchor="ctr">
            <a:normAutofit/>
          </a:bodyPr>
          <a:lstStyle/>
          <a:p>
            <a:pPr algn="ctr" indent="0" marL="0">
              <a:buNone/>
            </a:pPr>
            <a:r>
              <a:rPr lang="en-US" sz="1080" dirty="0">
                <a:solidFill>
                  <a:srgbClr val="BFD0D2"/>
                </a:solidFill>
              </a:rPr>
              <a:t>Masalah, data, ukuran dan kawalan</a:t>
            </a:r>
            <a:endParaRPr lang="en-US" sz="1080" dirty="0"/>
          </a:p>
        </p:txBody>
      </p:sp>
      <p:sp>
        <p:nvSpPr>
          <p:cNvPr id="33" name="Shape 31"/>
          <p:cNvSpPr/>
          <p:nvPr/>
        </p:nvSpPr>
        <p:spPr>
          <a:xfrm>
            <a:off x="6291072" y="1874520"/>
            <a:ext cx="2487168" cy="3154680"/>
          </a:xfrm>
          <a:prstGeom prst="roundRect">
            <a:avLst>
              <a:gd name="adj" fmla="val 2206"/>
            </a:avLst>
          </a:prstGeom>
          <a:solidFill>
            <a:srgbClr val="173C40"/>
          </a:solidFill>
          <a:ln w="25400">
            <a:solidFill>
              <a:srgbClr val="D79A32"/>
            </a:solidFill>
            <a:prstDash val="solid"/>
          </a:ln>
        </p:spPr>
      </p:sp>
      <p:sp>
        <p:nvSpPr>
          <p:cNvPr id="34" name="Text 32"/>
          <p:cNvSpPr/>
          <p:nvPr/>
        </p:nvSpPr>
        <p:spPr>
          <a:xfrm>
            <a:off x="6519672" y="2148840"/>
            <a:ext cx="2029968" cy="594360"/>
          </a:xfrm>
          <a:prstGeom prst="rect">
            <a:avLst/>
          </a:prstGeom>
          <a:noFill/>
          <a:ln/>
        </p:spPr>
        <p:txBody>
          <a:bodyPr wrap="square" lIns="0" tIns="0" rIns="0" bIns="0" rtlCol="0" anchor="ctr"/>
          <a:lstStyle/>
          <a:p>
            <a:pPr algn="ctr" indent="0" marL="0">
              <a:buNone/>
            </a:pPr>
            <a:r>
              <a:rPr lang="en-US" sz="2600" b="1" dirty="0">
                <a:solidFill>
                  <a:srgbClr val="FFFFFF"/>
                </a:solidFill>
              </a:rPr>
              <a:t>10–14</a:t>
            </a:r>
            <a:endParaRPr lang="en-US" sz="2600" dirty="0"/>
          </a:p>
        </p:txBody>
      </p:sp>
      <p:sp>
        <p:nvSpPr>
          <p:cNvPr id="35" name="Text 33"/>
          <p:cNvSpPr/>
          <p:nvPr/>
        </p:nvSpPr>
        <p:spPr>
          <a:xfrm>
            <a:off x="6519672" y="2770632"/>
            <a:ext cx="2029968" cy="228600"/>
          </a:xfrm>
          <a:prstGeom prst="rect">
            <a:avLst/>
          </a:prstGeom>
          <a:noFill/>
          <a:ln/>
        </p:spPr>
        <p:txBody>
          <a:bodyPr wrap="square" lIns="0" tIns="0" rIns="0" bIns="0" rtlCol="0" anchor="ctr"/>
          <a:lstStyle/>
          <a:p>
            <a:pPr algn="ctr" indent="0" marL="0">
              <a:buNone/>
            </a:pPr>
            <a:r>
              <a:rPr lang="en-US" sz="900" spc="200" kern="0" dirty="0">
                <a:solidFill>
                  <a:srgbClr val="9EB4B7"/>
                </a:solidFill>
              </a:rPr>
              <a:t>MINIT</a:t>
            </a:r>
            <a:endParaRPr lang="en-US" sz="900" dirty="0"/>
          </a:p>
        </p:txBody>
      </p:sp>
      <p:sp>
        <p:nvSpPr>
          <p:cNvPr id="36" name="Text 34"/>
          <p:cNvSpPr/>
          <p:nvPr/>
        </p:nvSpPr>
        <p:spPr>
          <a:xfrm>
            <a:off x="6519672" y="3337560"/>
            <a:ext cx="2029968" cy="45720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rPr>
              <a:t>Beri skor</a:t>
            </a:r>
            <a:endParaRPr lang="en-US" sz="1600" dirty="0"/>
          </a:p>
        </p:txBody>
      </p:sp>
      <p:sp>
        <p:nvSpPr>
          <p:cNvPr id="37" name="Text 35"/>
          <p:cNvSpPr/>
          <p:nvPr/>
        </p:nvSpPr>
        <p:spPr>
          <a:xfrm>
            <a:off x="6565392" y="4069080"/>
            <a:ext cx="1938528" cy="548640"/>
          </a:xfrm>
          <a:prstGeom prst="rect">
            <a:avLst/>
          </a:prstGeom>
          <a:noFill/>
          <a:ln/>
        </p:spPr>
        <p:txBody>
          <a:bodyPr wrap="square" lIns="0" tIns="0" rIns="0" bIns="0" rtlCol="0" anchor="ctr">
            <a:normAutofit/>
          </a:bodyPr>
          <a:lstStyle/>
          <a:p>
            <a:pPr algn="ctr" indent="0" marL="0">
              <a:buNone/>
            </a:pPr>
            <a:r>
              <a:rPr lang="en-US" sz="1080" dirty="0">
                <a:solidFill>
                  <a:srgbClr val="BFD0D2"/>
                </a:solidFill>
              </a:rPr>
              <a:t>Nilai + kekerapan + kebolehlaksanaan − risiko</a:t>
            </a:r>
            <a:endParaRPr lang="en-US" sz="1080" dirty="0"/>
          </a:p>
        </p:txBody>
      </p:sp>
      <p:sp>
        <p:nvSpPr>
          <p:cNvPr id="38" name="Shape 36"/>
          <p:cNvSpPr/>
          <p:nvPr/>
        </p:nvSpPr>
        <p:spPr>
          <a:xfrm>
            <a:off x="9125712" y="1874520"/>
            <a:ext cx="2487168" cy="3154680"/>
          </a:xfrm>
          <a:prstGeom prst="roundRect">
            <a:avLst>
              <a:gd name="adj" fmla="val 2206"/>
            </a:avLst>
          </a:prstGeom>
          <a:solidFill>
            <a:srgbClr val="173C40"/>
          </a:solidFill>
          <a:ln w="25400">
            <a:solidFill>
              <a:srgbClr val="CDFF3F"/>
            </a:solidFill>
            <a:prstDash val="solid"/>
          </a:ln>
        </p:spPr>
      </p:sp>
      <p:sp>
        <p:nvSpPr>
          <p:cNvPr id="39" name="Text 37"/>
          <p:cNvSpPr/>
          <p:nvPr/>
        </p:nvSpPr>
        <p:spPr>
          <a:xfrm>
            <a:off x="9354312" y="2148840"/>
            <a:ext cx="2029968" cy="594360"/>
          </a:xfrm>
          <a:prstGeom prst="rect">
            <a:avLst/>
          </a:prstGeom>
          <a:noFill/>
          <a:ln/>
        </p:spPr>
        <p:txBody>
          <a:bodyPr wrap="square" lIns="0" tIns="0" rIns="0" bIns="0" rtlCol="0" anchor="ctr"/>
          <a:lstStyle/>
          <a:p>
            <a:pPr algn="ctr" indent="0" marL="0">
              <a:buNone/>
            </a:pPr>
            <a:r>
              <a:rPr lang="en-US" sz="2600" b="1" dirty="0">
                <a:solidFill>
                  <a:srgbClr val="CDFF3F"/>
                </a:solidFill>
              </a:rPr>
              <a:t>14–18</a:t>
            </a:r>
            <a:endParaRPr lang="en-US" sz="2600" dirty="0"/>
          </a:p>
        </p:txBody>
      </p:sp>
      <p:sp>
        <p:nvSpPr>
          <p:cNvPr id="40" name="Text 38"/>
          <p:cNvSpPr/>
          <p:nvPr/>
        </p:nvSpPr>
        <p:spPr>
          <a:xfrm>
            <a:off x="9354312" y="2770632"/>
            <a:ext cx="2029968" cy="228600"/>
          </a:xfrm>
          <a:prstGeom prst="rect">
            <a:avLst/>
          </a:prstGeom>
          <a:noFill/>
          <a:ln/>
        </p:spPr>
        <p:txBody>
          <a:bodyPr wrap="square" lIns="0" tIns="0" rIns="0" bIns="0" rtlCol="0" anchor="ctr"/>
          <a:lstStyle/>
          <a:p>
            <a:pPr algn="ctr" indent="0" marL="0">
              <a:buNone/>
            </a:pPr>
            <a:r>
              <a:rPr lang="en-US" sz="900" spc="200" kern="0" dirty="0">
                <a:solidFill>
                  <a:srgbClr val="9EB4B7"/>
                </a:solidFill>
              </a:rPr>
              <a:t>MINIT</a:t>
            </a:r>
            <a:endParaRPr lang="en-US" sz="900" dirty="0"/>
          </a:p>
        </p:txBody>
      </p:sp>
      <p:sp>
        <p:nvSpPr>
          <p:cNvPr id="41" name="Text 39"/>
          <p:cNvSpPr/>
          <p:nvPr/>
        </p:nvSpPr>
        <p:spPr>
          <a:xfrm>
            <a:off x="9354312" y="3337560"/>
            <a:ext cx="2029968" cy="45720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rPr>
              <a:t>Sediakan pitch</a:t>
            </a:r>
            <a:endParaRPr lang="en-US" sz="1600" dirty="0"/>
          </a:p>
        </p:txBody>
      </p:sp>
      <p:sp>
        <p:nvSpPr>
          <p:cNvPr id="42" name="Text 40"/>
          <p:cNvSpPr/>
          <p:nvPr/>
        </p:nvSpPr>
        <p:spPr>
          <a:xfrm>
            <a:off x="9400032" y="4069080"/>
            <a:ext cx="1938528" cy="548640"/>
          </a:xfrm>
          <a:prstGeom prst="rect">
            <a:avLst/>
          </a:prstGeom>
          <a:noFill/>
          <a:ln/>
        </p:spPr>
        <p:txBody>
          <a:bodyPr wrap="square" lIns="0" tIns="0" rIns="0" bIns="0" rtlCol="0" anchor="ctr">
            <a:normAutofit/>
          </a:bodyPr>
          <a:lstStyle/>
          <a:p>
            <a:pPr algn="ctr" indent="0" marL="0">
              <a:buNone/>
            </a:pPr>
            <a:r>
              <a:rPr lang="en-US" sz="1080" dirty="0">
                <a:solidFill>
                  <a:srgbClr val="BFD0D2"/>
                </a:solidFill>
              </a:rPr>
              <a:t>Terangkan nilai dalam 60 saat</a:t>
            </a:r>
            <a:endParaRPr lang="en-US" sz="1080" dirty="0"/>
          </a:p>
        </p:txBody>
      </p:sp>
      <p:sp>
        <p:nvSpPr>
          <p:cNvPr id="43" name="Text 41"/>
          <p:cNvSpPr/>
          <p:nvPr/>
        </p:nvSpPr>
        <p:spPr>
          <a:xfrm>
            <a:off x="658368" y="5596128"/>
            <a:ext cx="10881360" cy="384048"/>
          </a:xfrm>
          <a:prstGeom prst="rect">
            <a:avLst/>
          </a:prstGeom>
          <a:noFill/>
          <a:ln/>
        </p:spPr>
        <p:txBody>
          <a:bodyPr wrap="square" lIns="0" tIns="0" rIns="0" bIns="0" rtlCol="0" anchor="ctr">
            <a:normAutofit/>
          </a:bodyPr>
          <a:lstStyle/>
          <a:p>
            <a:pPr algn="ctr" indent="0" marL="0">
              <a:buNone/>
            </a:pPr>
            <a:r>
              <a:rPr lang="en-US" sz="1250" b="1" dirty="0">
                <a:solidFill>
                  <a:srgbClr val="CDFF3F"/>
                </a:solidFill>
              </a:rPr>
              <a:t>Hasil: satu kanvas lengkap + satu pitch 60 saat bagi setiap kumpulan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7F2"/>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DDE6E3">
                <a:alpha val="55000"/>
              </a:srgbClr>
            </a:solidFill>
            <a:prstDash val="solid"/>
          </a:ln>
        </p:spPr>
      </p:sp>
      <p:sp>
        <p:nvSpPr>
          <p:cNvPr id="3" name="Shape 1"/>
          <p:cNvSpPr/>
          <p:nvPr/>
        </p:nvSpPr>
        <p:spPr>
          <a:xfrm rot="2700000">
            <a:off x="9034272" y="0"/>
            <a:ext cx="2011680" cy="2011680"/>
          </a:xfrm>
          <a:prstGeom prst="line">
            <a:avLst/>
          </a:prstGeom>
          <a:noFill/>
          <a:ln w="6350">
            <a:solidFill>
              <a:srgbClr val="DDE6E3">
                <a:alpha val="55000"/>
              </a:srgbClr>
            </a:solidFill>
            <a:prstDash val="solid"/>
          </a:ln>
        </p:spPr>
      </p:sp>
      <p:sp>
        <p:nvSpPr>
          <p:cNvPr id="4" name="Shape 2"/>
          <p:cNvSpPr/>
          <p:nvPr/>
        </p:nvSpPr>
        <p:spPr>
          <a:xfrm rot="2700000">
            <a:off x="9473184" y="0"/>
            <a:ext cx="2011680" cy="2011680"/>
          </a:xfrm>
          <a:prstGeom prst="line">
            <a:avLst/>
          </a:prstGeom>
          <a:noFill/>
          <a:ln w="6350">
            <a:solidFill>
              <a:srgbClr val="DDE6E3">
                <a:alpha val="55000"/>
              </a:srgbClr>
            </a:solidFill>
            <a:prstDash val="solid"/>
          </a:ln>
        </p:spPr>
      </p:sp>
      <p:sp>
        <p:nvSpPr>
          <p:cNvPr id="5" name="Shape 3"/>
          <p:cNvSpPr/>
          <p:nvPr/>
        </p:nvSpPr>
        <p:spPr>
          <a:xfrm rot="2700000">
            <a:off x="9912096" y="0"/>
            <a:ext cx="2011680" cy="2011680"/>
          </a:xfrm>
          <a:prstGeom prst="line">
            <a:avLst/>
          </a:prstGeom>
          <a:noFill/>
          <a:ln w="6350">
            <a:solidFill>
              <a:srgbClr val="DDE6E3">
                <a:alpha val="55000"/>
              </a:srgbClr>
            </a:solidFill>
            <a:prstDash val="solid"/>
          </a:ln>
        </p:spPr>
      </p:sp>
      <p:sp>
        <p:nvSpPr>
          <p:cNvPr id="6" name="Shape 4"/>
          <p:cNvSpPr/>
          <p:nvPr/>
        </p:nvSpPr>
        <p:spPr>
          <a:xfrm rot="2700000">
            <a:off x="10351008" y="0"/>
            <a:ext cx="2011680" cy="2011680"/>
          </a:xfrm>
          <a:prstGeom prst="line">
            <a:avLst/>
          </a:prstGeom>
          <a:noFill/>
          <a:ln w="6350">
            <a:solidFill>
              <a:srgbClr val="DDE6E3">
                <a:alpha val="55000"/>
              </a:srgbClr>
            </a:solidFill>
            <a:prstDash val="solid"/>
          </a:ln>
        </p:spPr>
      </p:sp>
      <p:sp>
        <p:nvSpPr>
          <p:cNvPr id="7" name="Shape 5"/>
          <p:cNvSpPr/>
          <p:nvPr/>
        </p:nvSpPr>
        <p:spPr>
          <a:xfrm rot="2700000">
            <a:off x="10789920" y="0"/>
            <a:ext cx="2011680" cy="2011680"/>
          </a:xfrm>
          <a:prstGeom prst="line">
            <a:avLst/>
          </a:prstGeom>
          <a:noFill/>
          <a:ln w="6350">
            <a:solidFill>
              <a:srgbClr val="DDE6E3">
                <a:alpha val="55000"/>
              </a:srgbClr>
            </a:solidFill>
            <a:prstDash val="solid"/>
          </a:ln>
        </p:spPr>
      </p:sp>
      <p:sp>
        <p:nvSpPr>
          <p:cNvPr id="8" name="Shape 6"/>
          <p:cNvSpPr/>
          <p:nvPr/>
        </p:nvSpPr>
        <p:spPr>
          <a:xfrm rot="2700000">
            <a:off x="11228832" y="0"/>
            <a:ext cx="2011680" cy="2011680"/>
          </a:xfrm>
          <a:prstGeom prst="line">
            <a:avLst/>
          </a:prstGeom>
          <a:noFill/>
          <a:ln w="6350">
            <a:solidFill>
              <a:srgbClr val="DDE6E3">
                <a:alpha val="55000"/>
              </a:srgbClr>
            </a:solidFill>
            <a:prstDash val="solid"/>
          </a:ln>
        </p:spPr>
      </p:sp>
      <p:sp>
        <p:nvSpPr>
          <p:cNvPr id="9" name="Shape 7"/>
          <p:cNvSpPr/>
          <p:nvPr/>
        </p:nvSpPr>
        <p:spPr>
          <a:xfrm rot="2700000">
            <a:off x="11667744" y="0"/>
            <a:ext cx="2011680" cy="2011680"/>
          </a:xfrm>
          <a:prstGeom prst="line">
            <a:avLst/>
          </a:prstGeom>
          <a:noFill/>
          <a:ln w="6350">
            <a:solidFill>
              <a:srgbClr val="DDE6E3">
                <a:alpha val="55000"/>
              </a:srgbClr>
            </a:solidFill>
            <a:prstDash val="solid"/>
          </a:ln>
        </p:spPr>
      </p:sp>
      <p:sp>
        <p:nvSpPr>
          <p:cNvPr id="10" name="Shape 8"/>
          <p:cNvSpPr/>
          <p:nvPr/>
        </p:nvSpPr>
        <p:spPr>
          <a:xfrm rot="8100000">
            <a:off x="9144000" y="0"/>
            <a:ext cx="1828800" cy="1828800"/>
          </a:xfrm>
          <a:prstGeom prst="line">
            <a:avLst/>
          </a:prstGeom>
          <a:noFill/>
          <a:ln w="6350">
            <a:solidFill>
              <a:srgbClr val="DDE6E3">
                <a:alpha val="45000"/>
              </a:srgbClr>
            </a:solidFill>
            <a:prstDash val="solid"/>
          </a:ln>
        </p:spPr>
      </p:sp>
      <p:sp>
        <p:nvSpPr>
          <p:cNvPr id="11" name="Shape 9"/>
          <p:cNvSpPr/>
          <p:nvPr/>
        </p:nvSpPr>
        <p:spPr>
          <a:xfrm rot="8100000">
            <a:off x="9601200" y="0"/>
            <a:ext cx="1828800" cy="1828800"/>
          </a:xfrm>
          <a:prstGeom prst="line">
            <a:avLst/>
          </a:prstGeom>
          <a:noFill/>
          <a:ln w="6350">
            <a:solidFill>
              <a:srgbClr val="DDE6E3">
                <a:alpha val="45000"/>
              </a:srgbClr>
            </a:solidFill>
            <a:prstDash val="solid"/>
          </a:ln>
        </p:spPr>
      </p:sp>
      <p:sp>
        <p:nvSpPr>
          <p:cNvPr id="12" name="Shape 10"/>
          <p:cNvSpPr/>
          <p:nvPr/>
        </p:nvSpPr>
        <p:spPr>
          <a:xfrm rot="8100000">
            <a:off x="10058400" y="0"/>
            <a:ext cx="1828800" cy="1828800"/>
          </a:xfrm>
          <a:prstGeom prst="line">
            <a:avLst/>
          </a:prstGeom>
          <a:noFill/>
          <a:ln w="6350">
            <a:solidFill>
              <a:srgbClr val="DDE6E3">
                <a:alpha val="45000"/>
              </a:srgbClr>
            </a:solidFill>
            <a:prstDash val="solid"/>
          </a:ln>
        </p:spPr>
      </p:sp>
      <p:sp>
        <p:nvSpPr>
          <p:cNvPr id="13" name="Shape 11"/>
          <p:cNvSpPr/>
          <p:nvPr/>
        </p:nvSpPr>
        <p:spPr>
          <a:xfrm rot="8100000">
            <a:off x="10515600" y="0"/>
            <a:ext cx="1828800" cy="1828800"/>
          </a:xfrm>
          <a:prstGeom prst="line">
            <a:avLst/>
          </a:prstGeom>
          <a:noFill/>
          <a:ln w="6350">
            <a:solidFill>
              <a:srgbClr val="DDE6E3">
                <a:alpha val="45000"/>
              </a:srgbClr>
            </a:solidFill>
            <a:prstDash val="solid"/>
          </a:ln>
        </p:spPr>
      </p:sp>
      <p:sp>
        <p:nvSpPr>
          <p:cNvPr id="14" name="Shape 12"/>
          <p:cNvSpPr/>
          <p:nvPr/>
        </p:nvSpPr>
        <p:spPr>
          <a:xfrm rot="8100000">
            <a:off x="10972800" y="0"/>
            <a:ext cx="1828800" cy="1828800"/>
          </a:xfrm>
          <a:prstGeom prst="line">
            <a:avLst/>
          </a:prstGeom>
          <a:noFill/>
          <a:ln w="6350">
            <a:solidFill>
              <a:srgbClr val="DDE6E3">
                <a:alpha val="45000"/>
              </a:srgbClr>
            </a:solidFill>
            <a:prstDash val="solid"/>
          </a:ln>
        </p:spPr>
      </p:sp>
      <p:sp>
        <p:nvSpPr>
          <p:cNvPr id="15" name="Shape 13"/>
          <p:cNvSpPr/>
          <p:nvPr/>
        </p:nvSpPr>
        <p:spPr>
          <a:xfrm rot="8100000">
            <a:off x="11430000" y="0"/>
            <a:ext cx="1828800" cy="1828800"/>
          </a:xfrm>
          <a:prstGeom prst="line">
            <a:avLst/>
          </a:prstGeom>
          <a:noFill/>
          <a:ln w="6350">
            <a:solidFill>
              <a:srgbClr val="DDE6E3">
                <a:alpha val="45000"/>
              </a:srgbClr>
            </a:solidFill>
            <a:prstDash val="solid"/>
          </a:ln>
        </p:spPr>
      </p:sp>
      <p:sp>
        <p:nvSpPr>
          <p:cNvPr id="16" name="Shape 14"/>
          <p:cNvSpPr/>
          <p:nvPr/>
        </p:nvSpPr>
        <p:spPr>
          <a:xfrm rot="8100000">
            <a:off x="11887200" y="0"/>
            <a:ext cx="1828800" cy="1828800"/>
          </a:xfrm>
          <a:prstGeom prst="line">
            <a:avLst/>
          </a:prstGeom>
          <a:noFill/>
          <a:ln w="6350">
            <a:solidFill>
              <a:srgbClr val="DDE6E3">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00A99D"/>
                </a:solidFill>
                <a:latin typeface="Aptos" pitchFamily="34" charset="0"/>
                <a:ea typeface="Aptos" pitchFamily="34" charset="-122"/>
                <a:cs typeface="Aptos" pitchFamily="34" charset="-120"/>
              </a:rPr>
              <a:t>PERKONGSIAN</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6A777A"/>
                </a:solidFill>
                <a:latin typeface="Aptos" pitchFamily="34" charset="0"/>
                <a:ea typeface="Aptos" pitchFamily="34" charset="-122"/>
                <a:cs typeface="Aptos" pitchFamily="34" charset="-120"/>
              </a:rPr>
              <a:t>21</a:t>
            </a:r>
            <a:endParaRPr lang="en-US" sz="1000" dirty="0"/>
          </a:p>
        </p:txBody>
      </p:sp>
      <p:sp>
        <p:nvSpPr>
          <p:cNvPr id="19" name="Shape 17"/>
          <p:cNvSpPr/>
          <p:nvPr/>
        </p:nvSpPr>
        <p:spPr>
          <a:xfrm>
            <a:off x="502920" y="6510528"/>
            <a:ext cx="11137392" cy="0"/>
          </a:xfrm>
          <a:prstGeom prst="line">
            <a:avLst/>
          </a:prstGeom>
          <a:noFill/>
          <a:ln w="8890">
            <a:solidFill>
              <a:srgbClr val="D4DEDC"/>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08F"/>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173440"/>
                </a:solidFill>
                <a:latin typeface="Aptos Display" pitchFamily="34" charset="0"/>
                <a:ea typeface="Aptos Display" pitchFamily="34" charset="-122"/>
                <a:cs typeface="Aptos Display" pitchFamily="34" charset="-120"/>
              </a:rPr>
              <a:t>Pitch 60 saat</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6A777A"/>
                </a:solidFill>
              </a:rPr>
              <a:t>Terangkan nilai, ukuran dan kawalan — bukan senarai ciri aplikasi.</a:t>
            </a:r>
            <a:endParaRPr lang="en-US" sz="1250" dirty="0"/>
          </a:p>
        </p:txBody>
      </p:sp>
      <p:sp>
        <p:nvSpPr>
          <p:cNvPr id="23" name="Shape 21"/>
          <p:cNvSpPr/>
          <p:nvPr/>
        </p:nvSpPr>
        <p:spPr>
          <a:xfrm>
            <a:off x="749808" y="1481328"/>
            <a:ext cx="10698480" cy="3547872"/>
          </a:xfrm>
          <a:prstGeom prst="roundRect">
            <a:avLst>
              <a:gd name="adj" fmla="val 1804"/>
            </a:avLst>
          </a:prstGeom>
          <a:solidFill>
            <a:srgbClr val="FFFFFF"/>
          </a:solidFill>
          <a:ln w="15240">
            <a:solidFill>
              <a:srgbClr val="C4D2CF"/>
            </a:solidFill>
            <a:prstDash val="solid"/>
          </a:ln>
          <a:effectLst>
            <a:outerShdw sx="100000" sy="100000" kx="0" ky="0" algn="bl" rotWithShape="0" blurRad="25400" dist="50800" dir="2700000">
              <a:srgbClr val="000000">
                <a:alpha val="10000"/>
              </a:srgbClr>
            </a:outerShdw>
          </a:effectLst>
        </p:spPr>
      </p:sp>
      <p:sp>
        <p:nvSpPr>
          <p:cNvPr id="24" name="Text 22"/>
          <p:cNvSpPr/>
          <p:nvPr/>
        </p:nvSpPr>
        <p:spPr>
          <a:xfrm>
            <a:off x="1143000" y="1938528"/>
            <a:ext cx="9875520" cy="2468880"/>
          </a:xfrm>
          <a:prstGeom prst="rect">
            <a:avLst/>
          </a:prstGeom>
          <a:noFill/>
          <a:ln/>
        </p:spPr>
        <p:txBody>
          <a:bodyPr wrap="square" lIns="635" tIns="635" rIns="635" bIns="635" rtlCol="0" anchor="ctr">
            <a:normAutofit/>
          </a:bodyPr>
          <a:lstStyle/>
          <a:p>
            <a:pPr algn="ctr" indent="0" marL="0">
              <a:buNone/>
            </a:pPr>
            <a:r>
              <a:rPr lang="en-US" sz="1800" dirty="0">
                <a:solidFill>
                  <a:srgbClr val="6A777A"/>
                </a:solidFill>
              </a:rPr>
              <a:t>Kami mahu membantu </a:t>
            </a:r>
            <a:pPr algn="ctr" indent="0" marL="0">
              <a:buNone/>
            </a:pPr>
            <a:r>
              <a:rPr lang="en-US" sz="1800" b="1" dirty="0">
                <a:solidFill>
                  <a:srgbClr val="173440"/>
                </a:solidFill>
              </a:rPr>
              <a:t>[PENGGUNA]</a:t>
            </a:r>
            <a:pPr algn="ctr" indent="0" marL="0">
              <a:buNone/>
            </a:pPr>
            <a:r>
              <a:rPr lang="en-US" sz="1800" dirty="0">
                <a:solidFill>
                  <a:srgbClr val="6A777A"/>
                </a:solidFill>
              </a:rPr>
              <a:t> yang menghadapi </a:t>
            </a:r>
            <a:pPr algn="ctr" indent="0" marL="0">
              <a:buNone/>
            </a:pPr>
            <a:r>
              <a:rPr lang="en-US" sz="1800" b="1" dirty="0">
                <a:solidFill>
                  <a:srgbClr val="C95B5B"/>
                </a:solidFill>
              </a:rPr>
              <a:t>[MASALAH]</a:t>
            </a:r>
            <a:pPr algn="ctr" indent="0" marL="0">
              <a:buNone/>
            </a:pPr>
            <a:r>
              <a:rPr lang="en-US" sz="1800" dirty="0">
                <a:solidFill>
                  <a:srgbClr val="6A777A"/>
                </a:solidFill>
              </a:rPr>
              <a:t>.</a:t>
            </a:r>
            <a:endParaRPr lang="en-US" sz="1800" dirty="0"/>
          </a:p>
          <a:p>
            <a:pPr algn="ctr" indent="0" marL="0">
              <a:buNone/>
            </a:pPr>
            <a:r>
              <a:rPr lang="en-US" sz="1800" dirty="0">
                <a:solidFill>
                  <a:srgbClr val="6A777A"/>
                </a:solidFill>
              </a:rPr>
              <a:t>Kami mencadangkan </a:t>
            </a:r>
            <a:endParaRPr lang="en-US" sz="1800" dirty="0"/>
          </a:p>
          <a:p>
            <a:pPr algn="ctr" indent="0" marL="0">
              <a:buNone/>
            </a:pPr>
            <a:r>
              <a:rPr lang="en-US" sz="1800" b="1" dirty="0">
                <a:solidFill>
                  <a:srgbClr val="00A99D"/>
                </a:solidFill>
              </a:rPr>
              <a:t>[KEUPAYAAN]</a:t>
            </a:r>
            <a:pPr algn="ctr" indent="0" marL="0">
              <a:buNone/>
            </a:pPr>
            <a:r>
              <a:rPr lang="en-US" sz="1800" dirty="0">
                <a:solidFill>
                  <a:srgbClr val="6A777A"/>
                </a:solidFill>
              </a:rPr>
              <a:t> supaya </a:t>
            </a:r>
            <a:pPr algn="ctr" indent="0" marL="0">
              <a:buNone/>
            </a:pPr>
            <a:r>
              <a:rPr lang="en-US" sz="1800" b="1" dirty="0">
                <a:solidFill>
                  <a:srgbClr val="3F9B72"/>
                </a:solidFill>
              </a:rPr>
              <a:t>[HASIL]</a:t>
            </a:r>
            <a:pPr algn="ctr" indent="0" marL="0">
              <a:buNone/>
            </a:pPr>
            <a:r>
              <a:rPr lang="en-US" sz="1800" dirty="0">
                <a:solidFill>
                  <a:srgbClr val="6A777A"/>
                </a:solidFill>
              </a:rPr>
              <a:t>.</a:t>
            </a:r>
            <a:endParaRPr lang="en-US" sz="1800" dirty="0"/>
          </a:p>
          <a:p>
            <a:pPr algn="ctr" indent="0" marL="0">
              <a:buNone/>
            </a:pPr>
            <a:r>
              <a:rPr lang="en-US" sz="1800" dirty="0">
                <a:solidFill>
                  <a:srgbClr val="6A777A"/>
                </a:solidFill>
              </a:rPr>
              <a:t>Kejayaan diukur melalui </a:t>
            </a:r>
            <a:endParaRPr lang="en-US" sz="1800" dirty="0"/>
          </a:p>
          <a:p>
            <a:pPr algn="ctr" indent="0" marL="0">
              <a:buNone/>
            </a:pPr>
            <a:r>
              <a:rPr lang="en-US" sz="1800" b="1" dirty="0">
                <a:solidFill>
                  <a:srgbClr val="2F72C4"/>
                </a:solidFill>
              </a:rPr>
              <a:t>[METRIK]</a:t>
            </a:r>
            <a:pPr algn="ctr" indent="0" marL="0">
              <a:buNone/>
            </a:pPr>
            <a:r>
              <a:rPr lang="en-US" sz="1800" dirty="0">
                <a:solidFill>
                  <a:srgbClr val="6A777A"/>
                </a:solidFill>
              </a:rPr>
              <a:t>. Risiko utama ialah </a:t>
            </a:r>
            <a:pPr algn="ctr" indent="0" marL="0">
              <a:buNone/>
            </a:pPr>
            <a:r>
              <a:rPr lang="en-US" sz="1800" b="1" dirty="0">
                <a:solidFill>
                  <a:srgbClr val="D79A32"/>
                </a:solidFill>
              </a:rPr>
              <a:t>[RISIKO]</a:t>
            </a:r>
            <a:pPr algn="ctr" indent="0" marL="0">
              <a:buNone/>
            </a:pPr>
            <a:r>
              <a:rPr lang="en-US" sz="1800" dirty="0">
                <a:solidFill>
                  <a:srgbClr val="6A777A"/>
                </a:solidFill>
              </a:rPr>
              <a:t> dan dikawal melalui </a:t>
            </a:r>
            <a:pPr algn="ctr" indent="0" marL="0">
              <a:buNone/>
            </a:pPr>
            <a:r>
              <a:rPr lang="en-US" sz="1800" b="1" dirty="0">
                <a:solidFill>
                  <a:srgbClr val="173440"/>
                </a:solidFill>
              </a:rPr>
              <a:t>[KAWALAN]</a:t>
            </a:r>
            <a:pPr algn="ctr" indent="0" marL="0">
              <a:buNone/>
            </a:pPr>
            <a:r>
              <a:rPr lang="en-US" sz="1800" dirty="0">
                <a:solidFill>
                  <a:srgbClr val="6A777A"/>
                </a:solidFill>
              </a:rPr>
              <a:t>.</a:t>
            </a:r>
            <a:endParaRPr lang="en-US" sz="1800" dirty="0"/>
          </a:p>
          <a:p>
            <a:pPr algn="ctr" indent="0" marL="0">
              <a:buNone/>
            </a:pPr>
            <a:r>
              <a:rPr lang="en-US" sz="1800" dirty="0">
                <a:solidFill>
                  <a:srgbClr val="6A777A"/>
                </a:solidFill>
              </a:rPr>
              <a:t>Percubaan pertama kami ialah </a:t>
            </a:r>
            <a:endParaRPr lang="en-US" sz="1800" dirty="0"/>
          </a:p>
          <a:p>
            <a:pPr algn="ctr" indent="0" marL="0">
              <a:buNone/>
            </a:pPr>
            <a:r>
              <a:rPr lang="en-US" sz="1800" b="1" dirty="0">
                <a:solidFill>
                  <a:srgbClr val="00A99D"/>
                </a:solidFill>
              </a:rPr>
              <a:t>[LANGKAH]</a:t>
            </a:r>
            <a:pPr algn="ctr" indent="0" marL="0">
              <a:buNone/>
            </a:pPr>
            <a:r>
              <a:rPr lang="en-US" sz="1800" dirty="0">
                <a:solidFill>
                  <a:srgbClr val="6A777A"/>
                </a:solidFill>
              </a:rPr>
              <a:t>.</a:t>
            </a:r>
            <a:endParaRPr lang="en-US" sz="1800" dirty="0"/>
          </a:p>
        </p:txBody>
      </p:sp>
      <p:sp>
        <p:nvSpPr>
          <p:cNvPr id="25" name="Shape 23"/>
          <p:cNvSpPr/>
          <p:nvPr/>
        </p:nvSpPr>
        <p:spPr>
          <a:xfrm>
            <a:off x="4425696" y="5349240"/>
            <a:ext cx="3337560" cy="329184"/>
          </a:xfrm>
          <a:prstGeom prst="roundRect">
            <a:avLst>
              <a:gd name="adj" fmla="val 22222"/>
            </a:avLst>
          </a:prstGeom>
          <a:solidFill>
            <a:srgbClr val="173440"/>
          </a:solidFill>
          <a:ln w="12700">
            <a:solidFill>
              <a:srgbClr val="173440"/>
            </a:solidFill>
            <a:prstDash val="solid"/>
          </a:ln>
        </p:spPr>
      </p:sp>
      <p:sp>
        <p:nvSpPr>
          <p:cNvPr id="26" name="Text 24"/>
          <p:cNvSpPr/>
          <p:nvPr/>
        </p:nvSpPr>
        <p:spPr>
          <a:xfrm>
            <a:off x="4425696" y="5367528"/>
            <a:ext cx="3337560" cy="246888"/>
          </a:xfrm>
          <a:prstGeom prst="rect">
            <a:avLst/>
          </a:prstGeom>
          <a:noFill/>
          <a:ln/>
        </p:spPr>
        <p:txBody>
          <a:bodyPr wrap="square" lIns="0" tIns="0" rIns="0" bIns="0" rtlCol="0" anchor="ctr"/>
          <a:lstStyle/>
          <a:p>
            <a:pPr algn="ctr" indent="0" marL="0">
              <a:buNone/>
            </a:pPr>
            <a:r>
              <a:rPr lang="en-US" sz="950" b="1" dirty="0">
                <a:solidFill>
                  <a:srgbClr val="FFFFFF"/>
                </a:solidFill>
              </a:rPr>
              <a:t>60 SAAT + 1 SOALAN KLARIFIKASI</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272B"/>
        </a:solidFill>
      </p:bgPr>
    </p:bg>
    <p:spTree>
      <p:nvGrpSpPr>
        <p:cNvPr id="1" name=""/>
        <p:cNvGrpSpPr/>
        <p:nvPr/>
      </p:nvGrpSpPr>
      <p:grpSpPr>
        <a:xfrm>
          <a:off x="0" y="0"/>
          <a:ext cx="0" cy="0"/>
          <a:chOff x="0" y="0"/>
          <a:chExt cx="0" cy="0"/>
        </a:xfrm>
      </p:grpSpPr>
      <p:sp>
        <p:nvSpPr>
          <p:cNvPr id="2" name="Shape 0"/>
          <p:cNvSpPr/>
          <p:nvPr/>
        </p:nvSpPr>
        <p:spPr>
          <a:xfrm rot="2700000">
            <a:off x="8595360" y="0"/>
            <a:ext cx="2011680" cy="2011680"/>
          </a:xfrm>
          <a:prstGeom prst="line">
            <a:avLst/>
          </a:prstGeom>
          <a:noFill/>
          <a:ln w="6350">
            <a:solidFill>
              <a:srgbClr val="3B5A61">
                <a:alpha val="55000"/>
              </a:srgbClr>
            </a:solidFill>
            <a:prstDash val="solid"/>
          </a:ln>
        </p:spPr>
      </p:sp>
      <p:sp>
        <p:nvSpPr>
          <p:cNvPr id="3" name="Shape 1"/>
          <p:cNvSpPr/>
          <p:nvPr/>
        </p:nvSpPr>
        <p:spPr>
          <a:xfrm rot="2700000">
            <a:off x="9034272" y="0"/>
            <a:ext cx="2011680" cy="2011680"/>
          </a:xfrm>
          <a:prstGeom prst="line">
            <a:avLst/>
          </a:prstGeom>
          <a:noFill/>
          <a:ln w="6350">
            <a:solidFill>
              <a:srgbClr val="3B5A61">
                <a:alpha val="55000"/>
              </a:srgbClr>
            </a:solidFill>
            <a:prstDash val="solid"/>
          </a:ln>
        </p:spPr>
      </p:sp>
      <p:sp>
        <p:nvSpPr>
          <p:cNvPr id="4" name="Shape 2"/>
          <p:cNvSpPr/>
          <p:nvPr/>
        </p:nvSpPr>
        <p:spPr>
          <a:xfrm rot="2700000">
            <a:off x="9473184" y="0"/>
            <a:ext cx="2011680" cy="2011680"/>
          </a:xfrm>
          <a:prstGeom prst="line">
            <a:avLst/>
          </a:prstGeom>
          <a:noFill/>
          <a:ln w="6350">
            <a:solidFill>
              <a:srgbClr val="3B5A61">
                <a:alpha val="55000"/>
              </a:srgbClr>
            </a:solidFill>
            <a:prstDash val="solid"/>
          </a:ln>
        </p:spPr>
      </p:sp>
      <p:sp>
        <p:nvSpPr>
          <p:cNvPr id="5" name="Shape 3"/>
          <p:cNvSpPr/>
          <p:nvPr/>
        </p:nvSpPr>
        <p:spPr>
          <a:xfrm rot="2700000">
            <a:off x="9912096" y="0"/>
            <a:ext cx="2011680" cy="2011680"/>
          </a:xfrm>
          <a:prstGeom prst="line">
            <a:avLst/>
          </a:prstGeom>
          <a:noFill/>
          <a:ln w="6350">
            <a:solidFill>
              <a:srgbClr val="3B5A61">
                <a:alpha val="55000"/>
              </a:srgbClr>
            </a:solidFill>
            <a:prstDash val="solid"/>
          </a:ln>
        </p:spPr>
      </p:sp>
      <p:sp>
        <p:nvSpPr>
          <p:cNvPr id="6" name="Shape 4"/>
          <p:cNvSpPr/>
          <p:nvPr/>
        </p:nvSpPr>
        <p:spPr>
          <a:xfrm rot="2700000">
            <a:off x="10351008" y="0"/>
            <a:ext cx="2011680" cy="2011680"/>
          </a:xfrm>
          <a:prstGeom prst="line">
            <a:avLst/>
          </a:prstGeom>
          <a:noFill/>
          <a:ln w="6350">
            <a:solidFill>
              <a:srgbClr val="3B5A61">
                <a:alpha val="55000"/>
              </a:srgbClr>
            </a:solidFill>
            <a:prstDash val="solid"/>
          </a:ln>
        </p:spPr>
      </p:sp>
      <p:sp>
        <p:nvSpPr>
          <p:cNvPr id="7" name="Shape 5"/>
          <p:cNvSpPr/>
          <p:nvPr/>
        </p:nvSpPr>
        <p:spPr>
          <a:xfrm rot="2700000">
            <a:off x="10789920" y="0"/>
            <a:ext cx="2011680" cy="2011680"/>
          </a:xfrm>
          <a:prstGeom prst="line">
            <a:avLst/>
          </a:prstGeom>
          <a:noFill/>
          <a:ln w="6350">
            <a:solidFill>
              <a:srgbClr val="3B5A61">
                <a:alpha val="55000"/>
              </a:srgbClr>
            </a:solidFill>
            <a:prstDash val="solid"/>
          </a:ln>
        </p:spPr>
      </p:sp>
      <p:sp>
        <p:nvSpPr>
          <p:cNvPr id="8" name="Shape 6"/>
          <p:cNvSpPr/>
          <p:nvPr/>
        </p:nvSpPr>
        <p:spPr>
          <a:xfrm rot="2700000">
            <a:off x="11228832" y="0"/>
            <a:ext cx="2011680" cy="2011680"/>
          </a:xfrm>
          <a:prstGeom prst="line">
            <a:avLst/>
          </a:prstGeom>
          <a:noFill/>
          <a:ln w="6350">
            <a:solidFill>
              <a:srgbClr val="3B5A61">
                <a:alpha val="55000"/>
              </a:srgbClr>
            </a:solidFill>
            <a:prstDash val="solid"/>
          </a:ln>
        </p:spPr>
      </p:sp>
      <p:sp>
        <p:nvSpPr>
          <p:cNvPr id="9" name="Shape 7"/>
          <p:cNvSpPr/>
          <p:nvPr/>
        </p:nvSpPr>
        <p:spPr>
          <a:xfrm rot="2700000">
            <a:off x="11667744" y="0"/>
            <a:ext cx="2011680" cy="2011680"/>
          </a:xfrm>
          <a:prstGeom prst="line">
            <a:avLst/>
          </a:prstGeom>
          <a:noFill/>
          <a:ln w="6350">
            <a:solidFill>
              <a:srgbClr val="3B5A61">
                <a:alpha val="55000"/>
              </a:srgbClr>
            </a:solidFill>
            <a:prstDash val="solid"/>
          </a:ln>
        </p:spPr>
      </p:sp>
      <p:sp>
        <p:nvSpPr>
          <p:cNvPr id="10" name="Shape 8"/>
          <p:cNvSpPr/>
          <p:nvPr/>
        </p:nvSpPr>
        <p:spPr>
          <a:xfrm rot="8100000">
            <a:off x="9144000" y="0"/>
            <a:ext cx="1828800" cy="1828800"/>
          </a:xfrm>
          <a:prstGeom prst="line">
            <a:avLst/>
          </a:prstGeom>
          <a:noFill/>
          <a:ln w="6350">
            <a:solidFill>
              <a:srgbClr val="3B5A61">
                <a:alpha val="45000"/>
              </a:srgbClr>
            </a:solidFill>
            <a:prstDash val="solid"/>
          </a:ln>
        </p:spPr>
      </p:sp>
      <p:sp>
        <p:nvSpPr>
          <p:cNvPr id="11" name="Shape 9"/>
          <p:cNvSpPr/>
          <p:nvPr/>
        </p:nvSpPr>
        <p:spPr>
          <a:xfrm rot="8100000">
            <a:off x="9601200" y="0"/>
            <a:ext cx="1828800" cy="1828800"/>
          </a:xfrm>
          <a:prstGeom prst="line">
            <a:avLst/>
          </a:prstGeom>
          <a:noFill/>
          <a:ln w="6350">
            <a:solidFill>
              <a:srgbClr val="3B5A61">
                <a:alpha val="45000"/>
              </a:srgbClr>
            </a:solidFill>
            <a:prstDash val="solid"/>
          </a:ln>
        </p:spPr>
      </p:sp>
      <p:sp>
        <p:nvSpPr>
          <p:cNvPr id="12" name="Shape 10"/>
          <p:cNvSpPr/>
          <p:nvPr/>
        </p:nvSpPr>
        <p:spPr>
          <a:xfrm rot="8100000">
            <a:off x="10058400" y="0"/>
            <a:ext cx="1828800" cy="1828800"/>
          </a:xfrm>
          <a:prstGeom prst="line">
            <a:avLst/>
          </a:prstGeom>
          <a:noFill/>
          <a:ln w="6350">
            <a:solidFill>
              <a:srgbClr val="3B5A61">
                <a:alpha val="45000"/>
              </a:srgbClr>
            </a:solidFill>
            <a:prstDash val="solid"/>
          </a:ln>
        </p:spPr>
      </p:sp>
      <p:sp>
        <p:nvSpPr>
          <p:cNvPr id="13" name="Shape 11"/>
          <p:cNvSpPr/>
          <p:nvPr/>
        </p:nvSpPr>
        <p:spPr>
          <a:xfrm rot="8100000">
            <a:off x="10515600" y="0"/>
            <a:ext cx="1828800" cy="1828800"/>
          </a:xfrm>
          <a:prstGeom prst="line">
            <a:avLst/>
          </a:prstGeom>
          <a:noFill/>
          <a:ln w="6350">
            <a:solidFill>
              <a:srgbClr val="3B5A61">
                <a:alpha val="45000"/>
              </a:srgbClr>
            </a:solidFill>
            <a:prstDash val="solid"/>
          </a:ln>
        </p:spPr>
      </p:sp>
      <p:sp>
        <p:nvSpPr>
          <p:cNvPr id="14" name="Shape 12"/>
          <p:cNvSpPr/>
          <p:nvPr/>
        </p:nvSpPr>
        <p:spPr>
          <a:xfrm rot="8100000">
            <a:off x="10972800" y="0"/>
            <a:ext cx="1828800" cy="1828800"/>
          </a:xfrm>
          <a:prstGeom prst="line">
            <a:avLst/>
          </a:prstGeom>
          <a:noFill/>
          <a:ln w="6350">
            <a:solidFill>
              <a:srgbClr val="3B5A61">
                <a:alpha val="45000"/>
              </a:srgbClr>
            </a:solidFill>
            <a:prstDash val="solid"/>
          </a:ln>
        </p:spPr>
      </p:sp>
      <p:sp>
        <p:nvSpPr>
          <p:cNvPr id="15" name="Shape 13"/>
          <p:cNvSpPr/>
          <p:nvPr/>
        </p:nvSpPr>
        <p:spPr>
          <a:xfrm rot="8100000">
            <a:off x="11430000" y="0"/>
            <a:ext cx="1828800" cy="1828800"/>
          </a:xfrm>
          <a:prstGeom prst="line">
            <a:avLst/>
          </a:prstGeom>
          <a:noFill/>
          <a:ln w="6350">
            <a:solidFill>
              <a:srgbClr val="3B5A61">
                <a:alpha val="45000"/>
              </a:srgbClr>
            </a:solidFill>
            <a:prstDash val="solid"/>
          </a:ln>
        </p:spPr>
      </p:sp>
      <p:sp>
        <p:nvSpPr>
          <p:cNvPr id="16" name="Shape 14"/>
          <p:cNvSpPr/>
          <p:nvPr/>
        </p:nvSpPr>
        <p:spPr>
          <a:xfrm rot="8100000">
            <a:off x="11887200" y="0"/>
            <a:ext cx="1828800" cy="1828800"/>
          </a:xfrm>
          <a:prstGeom prst="line">
            <a:avLst/>
          </a:prstGeom>
          <a:noFill/>
          <a:ln w="6350">
            <a:solidFill>
              <a:srgbClr val="3B5A61">
                <a:alpha val="45000"/>
              </a:srgbClr>
            </a:solidFill>
            <a:prstDash val="solid"/>
          </a:ln>
        </p:spPr>
      </p:sp>
      <p:sp>
        <p:nvSpPr>
          <p:cNvPr id="17" name="Text 15"/>
          <p:cNvSpPr/>
          <p:nvPr/>
        </p:nvSpPr>
        <p:spPr>
          <a:xfrm>
            <a:off x="502920" y="219456"/>
            <a:ext cx="4114800" cy="219456"/>
          </a:xfrm>
          <a:prstGeom prst="rect">
            <a:avLst/>
          </a:prstGeom>
          <a:noFill/>
          <a:ln/>
        </p:spPr>
        <p:txBody>
          <a:bodyPr wrap="square" lIns="0" tIns="0" rIns="0" bIns="0" rtlCol="0" anchor="ctr"/>
          <a:lstStyle/>
          <a:p>
            <a:pPr indent="0" marL="0">
              <a:buNone/>
            </a:pPr>
            <a:r>
              <a:rPr lang="en-US" sz="900" b="1" spc="180" kern="0" dirty="0">
                <a:solidFill>
                  <a:srgbClr val="CDFF3F"/>
                </a:solidFill>
                <a:latin typeface="Aptos" pitchFamily="34" charset="0"/>
                <a:ea typeface="Aptos" pitchFamily="34" charset="-122"/>
                <a:cs typeface="Aptos" pitchFamily="34" charset="-120"/>
              </a:rPr>
              <a:t>PENUTUP</a:t>
            </a:r>
            <a:endParaRPr lang="en-US" sz="900" dirty="0"/>
          </a:p>
        </p:txBody>
      </p:sp>
      <p:sp>
        <p:nvSpPr>
          <p:cNvPr id="18" name="Text 16"/>
          <p:cNvSpPr/>
          <p:nvPr/>
        </p:nvSpPr>
        <p:spPr>
          <a:xfrm>
            <a:off x="11082528" y="182880"/>
            <a:ext cx="566928" cy="256032"/>
          </a:xfrm>
          <a:prstGeom prst="rect">
            <a:avLst/>
          </a:prstGeom>
          <a:noFill/>
          <a:ln/>
        </p:spPr>
        <p:txBody>
          <a:bodyPr wrap="square" lIns="0" tIns="0" rIns="0" bIns="0" rtlCol="0" anchor="ctr"/>
          <a:lstStyle/>
          <a:p>
            <a:pPr algn="r" indent="0" marL="0">
              <a:buNone/>
            </a:pPr>
            <a:r>
              <a:rPr lang="en-US" sz="1000" b="1" dirty="0">
                <a:solidFill>
                  <a:srgbClr val="9CB1B4"/>
                </a:solidFill>
                <a:latin typeface="Aptos" pitchFamily="34" charset="0"/>
                <a:ea typeface="Aptos" pitchFamily="34" charset="-122"/>
                <a:cs typeface="Aptos" pitchFamily="34" charset="-120"/>
              </a:rPr>
              <a:t>22</a:t>
            </a:r>
            <a:endParaRPr lang="en-US" sz="1000" dirty="0"/>
          </a:p>
        </p:txBody>
      </p:sp>
      <p:sp>
        <p:nvSpPr>
          <p:cNvPr id="19" name="Shape 17"/>
          <p:cNvSpPr/>
          <p:nvPr/>
        </p:nvSpPr>
        <p:spPr>
          <a:xfrm>
            <a:off x="502920" y="6510528"/>
            <a:ext cx="11137392" cy="0"/>
          </a:xfrm>
          <a:prstGeom prst="line">
            <a:avLst/>
          </a:prstGeom>
          <a:noFill/>
          <a:ln w="8890">
            <a:solidFill>
              <a:srgbClr val="34535A"/>
            </a:solidFill>
            <a:prstDash val="solid"/>
          </a:ln>
        </p:spPr>
      </p:sp>
      <p:sp>
        <p:nvSpPr>
          <p:cNvPr id="20" name="Text 18"/>
          <p:cNvSpPr/>
          <p:nvPr/>
        </p:nvSpPr>
        <p:spPr>
          <a:xfrm>
            <a:off x="502920" y="6565392"/>
            <a:ext cx="5029200" cy="146304"/>
          </a:xfrm>
          <a:prstGeom prst="rect">
            <a:avLst/>
          </a:prstGeom>
          <a:noFill/>
          <a:ln/>
        </p:spPr>
        <p:txBody>
          <a:bodyPr wrap="square" lIns="0" tIns="0" rIns="0" bIns="0" rtlCol="0" anchor="ctr"/>
          <a:lstStyle/>
          <a:p>
            <a:pPr indent="0" marL="0">
              <a:buNone/>
            </a:pPr>
            <a:r>
              <a:rPr lang="en-US" sz="680" spc="120" kern="0" dirty="0">
                <a:solidFill>
                  <a:srgbClr val="82999D"/>
                </a:solidFill>
              </a:rPr>
              <a:t>MODUL 1 · CREaTE JKR · 28 JULAI 2026</a:t>
            </a:r>
            <a:endParaRPr lang="en-US" sz="680" dirty="0"/>
          </a:p>
        </p:txBody>
      </p:sp>
      <p:sp>
        <p:nvSpPr>
          <p:cNvPr id="21" name="Text 19"/>
          <p:cNvSpPr/>
          <p:nvPr/>
        </p:nvSpPr>
        <p:spPr>
          <a:xfrm>
            <a:off x="566928" y="566928"/>
            <a:ext cx="10789920" cy="658368"/>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Tiga prinsip untuk dibawa pulang</a:t>
            </a:r>
            <a:endParaRPr lang="en-US" sz="2900" dirty="0"/>
          </a:p>
        </p:txBody>
      </p:sp>
      <p:sp>
        <p:nvSpPr>
          <p:cNvPr id="22" name="Text 20"/>
          <p:cNvSpPr/>
          <p:nvPr/>
        </p:nvSpPr>
        <p:spPr>
          <a:xfrm>
            <a:off x="585216" y="1252728"/>
            <a:ext cx="10698480" cy="219456"/>
          </a:xfrm>
          <a:prstGeom prst="rect">
            <a:avLst/>
          </a:prstGeom>
          <a:noFill/>
          <a:ln/>
        </p:spPr>
        <p:txBody>
          <a:bodyPr wrap="square" lIns="0" tIns="0" rIns="0" bIns="0" rtlCol="0" anchor="ctr">
            <a:normAutofit/>
          </a:bodyPr>
          <a:lstStyle/>
          <a:p>
            <a:pPr indent="0" marL="0">
              <a:buNone/>
            </a:pPr>
            <a:r>
              <a:rPr lang="en-US" sz="1250" dirty="0">
                <a:solidFill>
                  <a:srgbClr val="BFD0D2"/>
                </a:solidFill>
              </a:rPr>
              <a:t>Produktiviti meningkat apabila kerja direka dengan sengaja.</a:t>
            </a:r>
            <a:endParaRPr lang="en-US" sz="1250" dirty="0"/>
          </a:p>
        </p:txBody>
      </p:sp>
      <p:sp>
        <p:nvSpPr>
          <p:cNvPr id="23" name="Shape 21"/>
          <p:cNvSpPr/>
          <p:nvPr/>
        </p:nvSpPr>
        <p:spPr>
          <a:xfrm>
            <a:off x="621792" y="1645920"/>
            <a:ext cx="3456432" cy="2331720"/>
          </a:xfrm>
          <a:prstGeom prst="roundRect">
            <a:avLst>
              <a:gd name="adj" fmla="val 2745"/>
            </a:avLst>
          </a:prstGeom>
          <a:solidFill>
            <a:srgbClr val="173C40"/>
          </a:solidFill>
          <a:ln w="25400">
            <a:solidFill>
              <a:srgbClr val="00A99D"/>
            </a:solidFill>
            <a:prstDash val="solid"/>
          </a:ln>
        </p:spPr>
      </p:sp>
      <p:sp>
        <p:nvSpPr>
          <p:cNvPr id="24" name="Shape 22"/>
          <p:cNvSpPr/>
          <p:nvPr/>
        </p:nvSpPr>
        <p:spPr>
          <a:xfrm>
            <a:off x="850392" y="1901952"/>
            <a:ext cx="512064" cy="512064"/>
          </a:xfrm>
          <a:prstGeom prst="ellipse">
            <a:avLst/>
          </a:prstGeom>
          <a:solidFill>
            <a:srgbClr val="00A99D"/>
          </a:solidFill>
          <a:ln w="12700">
            <a:solidFill>
              <a:srgbClr val="00A99D"/>
            </a:solidFill>
            <a:prstDash val="solid"/>
          </a:ln>
        </p:spPr>
      </p:sp>
      <p:sp>
        <p:nvSpPr>
          <p:cNvPr id="25" name="Text 23"/>
          <p:cNvSpPr/>
          <p:nvPr/>
        </p:nvSpPr>
        <p:spPr>
          <a:xfrm>
            <a:off x="850392" y="1911096"/>
            <a:ext cx="512064" cy="49377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6" name="Text 24"/>
          <p:cNvSpPr/>
          <p:nvPr/>
        </p:nvSpPr>
        <p:spPr>
          <a:xfrm>
            <a:off x="850392" y="2633472"/>
            <a:ext cx="2999232" cy="62179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Mulakan dengan masalah kerja.</a:t>
            </a:r>
            <a:endParaRPr lang="en-US" sz="1700" dirty="0"/>
          </a:p>
        </p:txBody>
      </p:sp>
      <p:sp>
        <p:nvSpPr>
          <p:cNvPr id="27" name="Text 25"/>
          <p:cNvSpPr/>
          <p:nvPr/>
        </p:nvSpPr>
        <p:spPr>
          <a:xfrm>
            <a:off x="987552" y="3383280"/>
            <a:ext cx="2724912" cy="320040"/>
          </a:xfrm>
          <a:prstGeom prst="rect">
            <a:avLst/>
          </a:prstGeom>
          <a:noFill/>
          <a:ln/>
        </p:spPr>
        <p:txBody>
          <a:bodyPr wrap="square" lIns="0" tIns="0" rIns="0" bIns="0" rtlCol="0" anchor="ctr">
            <a:normAutofit/>
          </a:bodyPr>
          <a:lstStyle/>
          <a:p>
            <a:pPr algn="ctr" indent="0" marL="0">
              <a:buNone/>
            </a:pPr>
            <a:r>
              <a:rPr lang="en-US" sz="1150" dirty="0">
                <a:solidFill>
                  <a:srgbClr val="BFD0D2"/>
                </a:solidFill>
              </a:rPr>
              <a:t>Teknologi ialah alat, bukan matlamat.</a:t>
            </a:r>
            <a:endParaRPr lang="en-US" sz="1150" dirty="0"/>
          </a:p>
        </p:txBody>
      </p:sp>
      <p:sp>
        <p:nvSpPr>
          <p:cNvPr id="28" name="Shape 26"/>
          <p:cNvSpPr/>
          <p:nvPr/>
        </p:nvSpPr>
        <p:spPr>
          <a:xfrm>
            <a:off x="4480560" y="1645920"/>
            <a:ext cx="3456432" cy="2331720"/>
          </a:xfrm>
          <a:prstGeom prst="roundRect">
            <a:avLst>
              <a:gd name="adj" fmla="val 2745"/>
            </a:avLst>
          </a:prstGeom>
          <a:solidFill>
            <a:srgbClr val="173C40"/>
          </a:solidFill>
          <a:ln w="25400">
            <a:solidFill>
              <a:srgbClr val="CDFF3F"/>
            </a:solidFill>
            <a:prstDash val="solid"/>
          </a:ln>
        </p:spPr>
      </p:sp>
      <p:sp>
        <p:nvSpPr>
          <p:cNvPr id="29" name="Shape 27"/>
          <p:cNvSpPr/>
          <p:nvPr/>
        </p:nvSpPr>
        <p:spPr>
          <a:xfrm>
            <a:off x="4709160" y="1901952"/>
            <a:ext cx="512064" cy="512064"/>
          </a:xfrm>
          <a:prstGeom prst="ellipse">
            <a:avLst/>
          </a:prstGeom>
          <a:solidFill>
            <a:srgbClr val="CDFF3F"/>
          </a:solidFill>
          <a:ln w="12700">
            <a:solidFill>
              <a:srgbClr val="CDFF3F"/>
            </a:solidFill>
            <a:prstDash val="solid"/>
          </a:ln>
        </p:spPr>
      </p:sp>
      <p:sp>
        <p:nvSpPr>
          <p:cNvPr id="30" name="Text 28"/>
          <p:cNvSpPr/>
          <p:nvPr/>
        </p:nvSpPr>
        <p:spPr>
          <a:xfrm>
            <a:off x="4709160" y="1911096"/>
            <a:ext cx="512064" cy="493776"/>
          </a:xfrm>
          <a:prstGeom prst="rect">
            <a:avLst/>
          </a:prstGeom>
          <a:noFill/>
          <a:ln/>
        </p:spPr>
        <p:txBody>
          <a:bodyPr wrap="square" lIns="0" tIns="0" rIns="0" bIns="0" rtlCol="0" anchor="ctr"/>
          <a:lstStyle/>
          <a:p>
            <a:pPr algn="ctr" indent="0" marL="0">
              <a:buNone/>
            </a:pPr>
            <a:r>
              <a:rPr lang="en-US" sz="1200" b="1" dirty="0">
                <a:solidFill>
                  <a:srgbClr val="173440"/>
                </a:solidFill>
              </a:rPr>
              <a:t>2</a:t>
            </a:r>
            <a:endParaRPr lang="en-US" sz="1200" dirty="0"/>
          </a:p>
        </p:txBody>
      </p:sp>
      <p:sp>
        <p:nvSpPr>
          <p:cNvPr id="31" name="Text 29"/>
          <p:cNvSpPr/>
          <p:nvPr/>
        </p:nvSpPr>
        <p:spPr>
          <a:xfrm>
            <a:off x="4709160" y="2633472"/>
            <a:ext cx="2999232" cy="62179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Kumpul data sekali, gunakan berkali-kali.</a:t>
            </a:r>
            <a:endParaRPr lang="en-US" sz="1700" dirty="0"/>
          </a:p>
        </p:txBody>
      </p:sp>
      <p:sp>
        <p:nvSpPr>
          <p:cNvPr id="32" name="Text 30"/>
          <p:cNvSpPr/>
          <p:nvPr/>
        </p:nvSpPr>
        <p:spPr>
          <a:xfrm>
            <a:off x="4846320" y="3383280"/>
            <a:ext cx="2724912" cy="320040"/>
          </a:xfrm>
          <a:prstGeom prst="rect">
            <a:avLst/>
          </a:prstGeom>
          <a:noFill/>
          <a:ln/>
        </p:spPr>
        <p:txBody>
          <a:bodyPr wrap="square" lIns="0" tIns="0" rIns="0" bIns="0" rtlCol="0" anchor="ctr">
            <a:normAutofit/>
          </a:bodyPr>
          <a:lstStyle/>
          <a:p>
            <a:pPr algn="ctr" indent="0" marL="0">
              <a:buNone/>
            </a:pPr>
            <a:r>
              <a:rPr lang="en-US" sz="1150" dirty="0">
                <a:solidFill>
                  <a:srgbClr val="BFD0D2"/>
                </a:solidFill>
              </a:rPr>
              <a:t>Kurangkan pemindahan dan ralat.</a:t>
            </a:r>
            <a:endParaRPr lang="en-US" sz="1150" dirty="0"/>
          </a:p>
        </p:txBody>
      </p:sp>
      <p:sp>
        <p:nvSpPr>
          <p:cNvPr id="33" name="Shape 31"/>
          <p:cNvSpPr/>
          <p:nvPr/>
        </p:nvSpPr>
        <p:spPr>
          <a:xfrm>
            <a:off x="8339328" y="1645920"/>
            <a:ext cx="3456432" cy="2331720"/>
          </a:xfrm>
          <a:prstGeom prst="roundRect">
            <a:avLst>
              <a:gd name="adj" fmla="val 2745"/>
            </a:avLst>
          </a:prstGeom>
          <a:solidFill>
            <a:srgbClr val="173C40"/>
          </a:solidFill>
          <a:ln w="25400">
            <a:solidFill>
              <a:srgbClr val="00A99D"/>
            </a:solidFill>
            <a:prstDash val="solid"/>
          </a:ln>
        </p:spPr>
      </p:sp>
      <p:sp>
        <p:nvSpPr>
          <p:cNvPr id="34" name="Shape 32"/>
          <p:cNvSpPr/>
          <p:nvPr/>
        </p:nvSpPr>
        <p:spPr>
          <a:xfrm>
            <a:off x="8567928" y="1901952"/>
            <a:ext cx="512064" cy="512064"/>
          </a:xfrm>
          <a:prstGeom prst="ellipse">
            <a:avLst/>
          </a:prstGeom>
          <a:solidFill>
            <a:srgbClr val="00A99D"/>
          </a:solidFill>
          <a:ln w="12700">
            <a:solidFill>
              <a:srgbClr val="00A99D"/>
            </a:solidFill>
            <a:prstDash val="solid"/>
          </a:ln>
        </p:spPr>
      </p:sp>
      <p:sp>
        <p:nvSpPr>
          <p:cNvPr id="35" name="Text 33"/>
          <p:cNvSpPr/>
          <p:nvPr/>
        </p:nvSpPr>
        <p:spPr>
          <a:xfrm>
            <a:off x="8567928" y="1911096"/>
            <a:ext cx="512064" cy="49377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6" name="Text 34"/>
          <p:cNvSpPr/>
          <p:nvPr/>
        </p:nvSpPr>
        <p:spPr>
          <a:xfrm>
            <a:off x="8567928" y="2633472"/>
            <a:ext cx="2999232" cy="62179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Kekalkan manusia pada keputusan penting.</a:t>
            </a:r>
            <a:endParaRPr lang="en-US" sz="1700" dirty="0"/>
          </a:p>
        </p:txBody>
      </p:sp>
      <p:sp>
        <p:nvSpPr>
          <p:cNvPr id="37" name="Text 35"/>
          <p:cNvSpPr/>
          <p:nvPr/>
        </p:nvSpPr>
        <p:spPr>
          <a:xfrm>
            <a:off x="8705088" y="3383280"/>
            <a:ext cx="2724912" cy="320040"/>
          </a:xfrm>
          <a:prstGeom prst="rect">
            <a:avLst/>
          </a:prstGeom>
          <a:noFill/>
          <a:ln/>
        </p:spPr>
        <p:txBody>
          <a:bodyPr wrap="square" lIns="0" tIns="0" rIns="0" bIns="0" rtlCol="0" anchor="ctr">
            <a:normAutofit/>
          </a:bodyPr>
          <a:lstStyle/>
          <a:p>
            <a:pPr algn="ctr" indent="0" marL="0">
              <a:buNone/>
            </a:pPr>
            <a:r>
              <a:rPr lang="en-US" sz="1150" dirty="0">
                <a:solidFill>
                  <a:srgbClr val="BFD0D2"/>
                </a:solidFill>
              </a:rPr>
              <a:t>Automasi proses, sahkan hasil.</a:t>
            </a:r>
            <a:endParaRPr lang="en-US" sz="1150" dirty="0"/>
          </a:p>
        </p:txBody>
      </p:sp>
      <p:sp>
        <p:nvSpPr>
          <p:cNvPr id="38" name="Shape 36"/>
          <p:cNvSpPr/>
          <p:nvPr/>
        </p:nvSpPr>
        <p:spPr>
          <a:xfrm>
            <a:off x="621792" y="4434840"/>
            <a:ext cx="10963656" cy="1024128"/>
          </a:xfrm>
          <a:prstGeom prst="roundRect">
            <a:avLst>
              <a:gd name="adj" fmla="val 5357"/>
            </a:avLst>
          </a:prstGeom>
          <a:solidFill>
            <a:srgbClr val="CDFF3F"/>
          </a:solidFill>
          <a:ln w="12700">
            <a:solidFill>
              <a:srgbClr val="CDFF3F"/>
            </a:solidFill>
            <a:prstDash val="solid"/>
          </a:ln>
        </p:spPr>
      </p:sp>
      <p:sp>
        <p:nvSpPr>
          <p:cNvPr id="39" name="Text 37"/>
          <p:cNvSpPr/>
          <p:nvPr/>
        </p:nvSpPr>
        <p:spPr>
          <a:xfrm>
            <a:off x="868680" y="4700016"/>
            <a:ext cx="1417320" cy="274320"/>
          </a:xfrm>
          <a:prstGeom prst="rect">
            <a:avLst/>
          </a:prstGeom>
          <a:noFill/>
          <a:ln/>
        </p:spPr>
        <p:txBody>
          <a:bodyPr wrap="square" lIns="0" tIns="0" rIns="0" bIns="0" rtlCol="0" anchor="ctr"/>
          <a:lstStyle/>
          <a:p>
            <a:pPr indent="0" marL="0">
              <a:buNone/>
            </a:pPr>
            <a:r>
              <a:rPr lang="en-US" sz="1300" b="1" dirty="0">
                <a:solidFill>
                  <a:srgbClr val="173440"/>
                </a:solidFill>
              </a:rPr>
              <a:t>EXIT TICKET</a:t>
            </a:r>
            <a:endParaRPr lang="en-US" sz="1300" dirty="0"/>
          </a:p>
        </p:txBody>
      </p:sp>
      <p:sp>
        <p:nvSpPr>
          <p:cNvPr id="40" name="Text 38"/>
          <p:cNvSpPr/>
          <p:nvPr/>
        </p:nvSpPr>
        <p:spPr>
          <a:xfrm>
            <a:off x="2514600" y="4681728"/>
            <a:ext cx="8183880" cy="320040"/>
          </a:xfrm>
          <a:prstGeom prst="rect">
            <a:avLst/>
          </a:prstGeom>
          <a:noFill/>
          <a:ln/>
        </p:spPr>
        <p:txBody>
          <a:bodyPr wrap="square" lIns="0" tIns="0" rIns="0" bIns="0" rtlCol="0" anchor="ctr">
            <a:normAutofit/>
          </a:bodyPr>
          <a:lstStyle/>
          <a:p>
            <a:pPr algn="ctr" indent="0" marL="0">
              <a:buNone/>
            </a:pPr>
            <a:r>
              <a:rPr lang="en-US" sz="1550" b="1" dirty="0">
                <a:solidFill>
                  <a:srgbClr val="173440"/>
                </a:solidFill>
              </a:rPr>
              <a:t>Satu kefahaman · satu peluang · satu risiko · satu langkah dua minggu</a:t>
            </a:r>
            <a:endParaRPr lang="en-US" sz="1550" dirty="0"/>
          </a:p>
        </p:txBody>
      </p:sp>
      <p:sp>
        <p:nvSpPr>
          <p:cNvPr id="41" name="Text 39"/>
          <p:cNvSpPr/>
          <p:nvPr/>
        </p:nvSpPr>
        <p:spPr>
          <a:xfrm>
            <a:off x="621792" y="5833872"/>
            <a:ext cx="10963656" cy="320040"/>
          </a:xfrm>
          <a:prstGeom prst="rect">
            <a:avLst/>
          </a:prstGeom>
          <a:noFill/>
          <a:ln/>
        </p:spPr>
        <p:txBody>
          <a:bodyPr wrap="square" lIns="0" tIns="0" rIns="0" bIns="0" rtlCol="0" anchor="ctr"/>
          <a:lstStyle/>
          <a:p>
            <a:pPr algn="ctr" indent="0" marL="0">
              <a:buNone/>
            </a:pPr>
            <a:r>
              <a:rPr lang="en-US" sz="1350" b="1" dirty="0">
                <a:solidFill>
                  <a:srgbClr val="FFFFFF"/>
                </a:solidFill>
              </a:rPr>
              <a:t>Seterusnya: Modul 2 — Automasi digital dalam penyediaan dokumen rasmi</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Universiti Teknologi Malaysia / CREaTE JKR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Slaid Modul 1 MPE</dc:title>
  <dc:subject>Modul 1 — Pengenalan Aplikasi Pintar untuk Meningkatkan Produktiviti Kerja MPE</dc:subject>
  <dc:creator>Prof. Madya Dr. Mohd Murtadha Mohamad</dc:creator>
  <cp:lastModifiedBy>Prof. Madya Dr. Mohd Murtadha Mohamad</cp:lastModifiedBy>
  <cp:revision>1</cp:revision>
  <dcterms:created xsi:type="dcterms:W3CDTF">2026-07-18T15:24:44Z</dcterms:created>
  <dcterms:modified xsi:type="dcterms:W3CDTF">2026-07-18T15:24:44Z</dcterms:modified>
</cp:coreProperties>
</file>