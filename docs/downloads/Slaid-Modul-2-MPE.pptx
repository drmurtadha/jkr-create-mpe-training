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10af6baa4c4be1" /><Relationship Type="http://schemas.openxmlformats.org/officeDocument/2006/relationships/extended-properties" Target="/docProps/app.xml" Id="Rb1a1f01b91ae412c" /><Relationship Type="http://schemas.openxmlformats.org/officeDocument/2006/relationships/officeDocument" Target="/ppt/presentation.xml" Id="Rbc27328c34704f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3e1070a2bf49a4"/>
  </p:sldMasterIdLst>
  <p:notesMasterIdLst>
    <p:notesMasterId xmlns:r="http://schemas.openxmlformats.org/officeDocument/2006/relationships" r:id="Raa48083f92ce49dc"/>
  </p:notesMasterIdLst>
  <p:sldIdLst>
    <p:sldId xmlns:r="http://schemas.openxmlformats.org/officeDocument/2006/relationships" id="256" r:id="Rf11580c253274706"/>
    <p:sldId xmlns:r="http://schemas.openxmlformats.org/officeDocument/2006/relationships" id="257" r:id="Rc4046420118141b7"/>
    <p:sldId xmlns:r="http://schemas.openxmlformats.org/officeDocument/2006/relationships" id="258" r:id="R6bf9ccfde3fe4c2a"/>
    <p:sldId xmlns:r="http://schemas.openxmlformats.org/officeDocument/2006/relationships" id="259" r:id="R6d677f4e4b574cbb"/>
    <p:sldId xmlns:r="http://schemas.openxmlformats.org/officeDocument/2006/relationships" id="260" r:id="Ra239592da0a84ce5"/>
    <p:sldId xmlns:r="http://schemas.openxmlformats.org/officeDocument/2006/relationships" id="261" r:id="Rb78b6682376c4131"/>
    <p:sldId xmlns:r="http://schemas.openxmlformats.org/officeDocument/2006/relationships" id="262" r:id="R77f0e04a80fc4612"/>
    <p:sldId xmlns:r="http://schemas.openxmlformats.org/officeDocument/2006/relationships" id="263" r:id="R8a1f3b9200b046b3"/>
    <p:sldId xmlns:r="http://schemas.openxmlformats.org/officeDocument/2006/relationships" id="264" r:id="R409b7f0ece30435d"/>
    <p:sldId xmlns:r="http://schemas.openxmlformats.org/officeDocument/2006/relationships" id="265" r:id="R72ddeb0dd18d4055"/>
    <p:sldId xmlns:r="http://schemas.openxmlformats.org/officeDocument/2006/relationships" id="266" r:id="Rc61e996b01734dcc"/>
    <p:sldId xmlns:r="http://schemas.openxmlformats.org/officeDocument/2006/relationships" id="267" r:id="Ra8b928ee7c7f43b4"/>
    <p:sldId xmlns:r="http://schemas.openxmlformats.org/officeDocument/2006/relationships" id="268" r:id="R359e9f153d7140d7"/>
    <p:sldId xmlns:r="http://schemas.openxmlformats.org/officeDocument/2006/relationships" id="269" r:id="R610e31843e3146a7"/>
    <p:sldId xmlns:r="http://schemas.openxmlformats.org/officeDocument/2006/relationships" id="270" r:id="Rdc54a7ddfaa3427d"/>
    <p:sldId xmlns:r="http://schemas.openxmlformats.org/officeDocument/2006/relationships" id="271" r:id="Rdd86b8e6cb3643d4"/>
    <p:sldId xmlns:r="http://schemas.openxmlformats.org/officeDocument/2006/relationships" id="272" r:id="Rbd297c9e6c8d42ae"/>
    <p:sldId xmlns:r="http://schemas.openxmlformats.org/officeDocument/2006/relationships" id="273" r:id="Rd1ef2a6016c14639"/>
    <p:sldId xmlns:r="http://schemas.openxmlformats.org/officeDocument/2006/relationships" id="274" r:id="R4095c906660640c1"/>
    <p:sldId xmlns:r="http://schemas.openxmlformats.org/officeDocument/2006/relationships" id="275" r:id="Rc2b127fd1f1245cb"/>
    <p:sldId xmlns:r="http://schemas.openxmlformats.org/officeDocument/2006/relationships" id="276" r:id="R3136b076c8c34cec"/>
    <p:sldId xmlns:r="http://schemas.openxmlformats.org/officeDocument/2006/relationships" id="277" r:id="Rf889fcd0be6d4997"/>
    <p:sldId xmlns:r="http://schemas.openxmlformats.org/officeDocument/2006/relationships" id="278" r:id="Rf9a3433708794bb7"/>
    <p:sldId xmlns:r="http://schemas.openxmlformats.org/officeDocument/2006/relationships" id="279" r:id="R6c7ca9e7ecbb4e5a"/>
    <p:sldId xmlns:r="http://schemas.openxmlformats.org/officeDocument/2006/relationships" id="280" r:id="R1f5e6266f6b74d85"/>
    <p:sldId xmlns:r="http://schemas.openxmlformats.org/officeDocument/2006/relationships" id="281" r:id="Raed94aa95b0a41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4ad4f254f04a5c" /><Relationship Type="http://schemas.openxmlformats.org/officeDocument/2006/relationships/slideMaster" Target="/ppt/slideMasters/slideMaster1.xml" Id="Ra63e1070a2bf49a4" /><Relationship Type="http://schemas.openxmlformats.org/officeDocument/2006/relationships/notesMaster" Target="/ppt/notesMasters/notesMaster1.xml" Id="Raa48083f92ce49dc" /><Relationship Type="http://schemas.openxmlformats.org/officeDocument/2006/relationships/presProps" Target="/ppt/presProps.xml" Id="Rdcf6aeee8ca144d5" /><Relationship Type="http://schemas.openxmlformats.org/officeDocument/2006/relationships/tableStyles" Target="/ppt/tableStyles.xml" Id="R0caa38b7212743dd" /><Relationship Type="http://schemas.openxmlformats.org/officeDocument/2006/relationships/slide" Target="/ppt/slides/slide1.xml" Id="Rf11580c253274706" /><Relationship Type="http://schemas.openxmlformats.org/officeDocument/2006/relationships/slide" Target="/ppt/slides/slide2.xml" Id="Rc4046420118141b7" /><Relationship Type="http://schemas.openxmlformats.org/officeDocument/2006/relationships/slide" Target="/ppt/slides/slide3.xml" Id="R6bf9ccfde3fe4c2a" /><Relationship Type="http://schemas.openxmlformats.org/officeDocument/2006/relationships/slide" Target="/ppt/slides/slide4.xml" Id="R6d677f4e4b574cbb" /><Relationship Type="http://schemas.openxmlformats.org/officeDocument/2006/relationships/slide" Target="/ppt/slides/slide5.xml" Id="Ra239592da0a84ce5" /><Relationship Type="http://schemas.openxmlformats.org/officeDocument/2006/relationships/slide" Target="/ppt/slides/slide6.xml" Id="Rb78b6682376c4131" /><Relationship Type="http://schemas.openxmlformats.org/officeDocument/2006/relationships/slide" Target="/ppt/slides/slide7.xml" Id="R77f0e04a80fc4612" /><Relationship Type="http://schemas.openxmlformats.org/officeDocument/2006/relationships/slide" Target="/ppt/slides/slide8.xml" Id="R8a1f3b9200b046b3" /><Relationship Type="http://schemas.openxmlformats.org/officeDocument/2006/relationships/slide" Target="/ppt/slides/slide9.xml" Id="R409b7f0ece30435d" /><Relationship Type="http://schemas.openxmlformats.org/officeDocument/2006/relationships/slide" Target="/ppt/slides/slide10.xml" Id="R72ddeb0dd18d4055" /><Relationship Type="http://schemas.openxmlformats.org/officeDocument/2006/relationships/slide" Target="/ppt/slides/slide11.xml" Id="Rc61e996b01734dcc" /><Relationship Type="http://schemas.openxmlformats.org/officeDocument/2006/relationships/slide" Target="/ppt/slides/slide12.xml" Id="Ra8b928ee7c7f43b4" /><Relationship Type="http://schemas.openxmlformats.org/officeDocument/2006/relationships/slide" Target="/ppt/slides/slide13.xml" Id="R359e9f153d7140d7" /><Relationship Type="http://schemas.openxmlformats.org/officeDocument/2006/relationships/slide" Target="/ppt/slides/slide14.xml" Id="R610e31843e3146a7" /><Relationship Type="http://schemas.openxmlformats.org/officeDocument/2006/relationships/slide" Target="/ppt/slides/slide15.xml" Id="Rdc54a7ddfaa3427d" /><Relationship Type="http://schemas.openxmlformats.org/officeDocument/2006/relationships/slide" Target="/ppt/slides/slide16.xml" Id="Rdd86b8e6cb3643d4" /><Relationship Type="http://schemas.openxmlformats.org/officeDocument/2006/relationships/slide" Target="/ppt/slides/slide17.xml" Id="Rbd297c9e6c8d42ae" /><Relationship Type="http://schemas.openxmlformats.org/officeDocument/2006/relationships/slide" Target="/ppt/slides/slide18.xml" Id="Rd1ef2a6016c14639" /><Relationship Type="http://schemas.openxmlformats.org/officeDocument/2006/relationships/slide" Target="/ppt/slides/slide19.xml" Id="R4095c906660640c1" /><Relationship Type="http://schemas.openxmlformats.org/officeDocument/2006/relationships/slide" Target="/ppt/slides/slide20.xml" Id="Rc2b127fd1f1245cb" /><Relationship Type="http://schemas.openxmlformats.org/officeDocument/2006/relationships/slide" Target="/ppt/slides/slide21.xml" Id="R3136b076c8c34cec" /><Relationship Type="http://schemas.openxmlformats.org/officeDocument/2006/relationships/slide" Target="/ppt/slides/slide22.xml" Id="Rf889fcd0be6d4997" /><Relationship Type="http://schemas.openxmlformats.org/officeDocument/2006/relationships/slide" Target="/ppt/slides/slide23.xml" Id="Rf9a3433708794bb7" /><Relationship Type="http://schemas.openxmlformats.org/officeDocument/2006/relationships/slide" Target="/ppt/slides/slide24.xml" Id="R6c7ca9e7ecbb4e5a" /><Relationship Type="http://schemas.openxmlformats.org/officeDocument/2006/relationships/slide" Target="/ppt/slides/slide25.xml" Id="R1f5e6266f6b74d85" /><Relationship Type="http://schemas.openxmlformats.org/officeDocument/2006/relationships/slide" Target="/ppt/slides/slide26.xml" Id="Raed94aa95b0a41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fd9cc288604e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5741e04cd54629" /><Relationship Type="http://schemas.openxmlformats.org/officeDocument/2006/relationships/notesMaster" Target="/ppt/notesMasters/notesMaster1.xml" Id="R9e93f05516af4d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995668f6bd4c4d" /><Relationship Type="http://schemas.openxmlformats.org/officeDocument/2006/relationships/notesMaster" Target="/ppt/notesMasters/notesMaster1.xml" Id="R396bc00a4cd54f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dd194f3f0d4f4c" /><Relationship Type="http://schemas.openxmlformats.org/officeDocument/2006/relationships/notesMaster" Target="/ppt/notesMasters/notesMaster1.xml" Id="Ref869b297ec349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de4b7b1c634b6a" /><Relationship Type="http://schemas.openxmlformats.org/officeDocument/2006/relationships/notesMaster" Target="/ppt/notesMasters/notesMaster1.xml" Id="R5c1c00656b3d4a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e76265a2ef4181" /><Relationship Type="http://schemas.openxmlformats.org/officeDocument/2006/relationships/notesMaster" Target="/ppt/notesMasters/notesMaster1.xml" Id="Rbadc458e27ca4a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bcdfc57d1e4a6f" /><Relationship Type="http://schemas.openxmlformats.org/officeDocument/2006/relationships/notesMaster" Target="/ppt/notesMasters/notesMaster1.xml" Id="Ra90f768ae97048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afec387c514368" /><Relationship Type="http://schemas.openxmlformats.org/officeDocument/2006/relationships/notesMaster" Target="/ppt/notesMasters/notesMaster1.xml" Id="Ra28a7ae587644a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0035387cf94515" /><Relationship Type="http://schemas.openxmlformats.org/officeDocument/2006/relationships/notesMaster" Target="/ppt/notesMasters/notesMaster1.xml" Id="R8cccc4e4455240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cc19635bd84cd9" /><Relationship Type="http://schemas.openxmlformats.org/officeDocument/2006/relationships/notesMaster" Target="/ppt/notesMasters/notesMaster1.xml" Id="Red7d8d52678a43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384bfaa5be4883" /><Relationship Type="http://schemas.openxmlformats.org/officeDocument/2006/relationships/notesMaster" Target="/ppt/notesMasters/notesMaster1.xml" Id="Rd87e6033152f4f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2736fa868b45bb" /><Relationship Type="http://schemas.openxmlformats.org/officeDocument/2006/relationships/notesMaster" Target="/ppt/notesMasters/notesMaster1.xml" Id="R97dbd5e1dfc345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dc975c048d40f6" /><Relationship Type="http://schemas.openxmlformats.org/officeDocument/2006/relationships/notesMaster" Target="/ppt/notesMasters/notesMaster1.xml" Id="Rf3d1260063cf40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9f8740adf94a79" /><Relationship Type="http://schemas.openxmlformats.org/officeDocument/2006/relationships/notesMaster" Target="/ppt/notesMasters/notesMaster1.xml" Id="R2f0a4d337b9345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ca39952a9a74fdd" /><Relationship Type="http://schemas.openxmlformats.org/officeDocument/2006/relationships/notesMaster" Target="/ppt/notesMasters/notesMaster1.xml" Id="R29ddc6bcc64e43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e5b9ab1da9e43d2" /><Relationship Type="http://schemas.openxmlformats.org/officeDocument/2006/relationships/notesMaster" Target="/ppt/notesMasters/notesMaster1.xml" Id="R6fa6c30600334d7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a9eaa585f2945f8" /><Relationship Type="http://schemas.openxmlformats.org/officeDocument/2006/relationships/notesMaster" Target="/ppt/notesMasters/notesMaster1.xml" Id="R4a62540a317a442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b02ef787337444d" /><Relationship Type="http://schemas.openxmlformats.org/officeDocument/2006/relationships/notesMaster" Target="/ppt/notesMasters/notesMaster1.xml" Id="Re190e5de531b463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2462774b8ea409a" /><Relationship Type="http://schemas.openxmlformats.org/officeDocument/2006/relationships/notesMaster" Target="/ppt/notesMasters/notesMaster1.xml" Id="R17a4343eabf7490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a525164b8024718" /><Relationship Type="http://schemas.openxmlformats.org/officeDocument/2006/relationships/notesMaster" Target="/ppt/notesMasters/notesMaster1.xml" Id="Rea787a70a19848c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c4d573bcfeb4905" /><Relationship Type="http://schemas.openxmlformats.org/officeDocument/2006/relationships/notesMaster" Target="/ppt/notesMasters/notesMaster1.xml" Id="R1a72e98a883d4d9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550aeebbff348e0" /><Relationship Type="http://schemas.openxmlformats.org/officeDocument/2006/relationships/notesMaster" Target="/ppt/notesMasters/notesMaster1.xml" Id="R0214ec380fd24bd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7eb055ffa9248da" /><Relationship Type="http://schemas.openxmlformats.org/officeDocument/2006/relationships/notesMaster" Target="/ppt/notesMasters/notesMaster1.xml" Id="R9f3bebeeddbe407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3431915dfd34ea2" /><Relationship Type="http://schemas.openxmlformats.org/officeDocument/2006/relationships/notesMaster" Target="/ppt/notesMasters/notesMaster1.xml" Id="Rf6022c42ddf74db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5a05d9a503a4763" /><Relationship Type="http://schemas.openxmlformats.org/officeDocument/2006/relationships/notesMaster" Target="/ppt/notesMasters/notesMaster1.xml" Id="R3d5072c970ef497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c5dc838be3b4a54" /><Relationship Type="http://schemas.openxmlformats.org/officeDocument/2006/relationships/notesMaster" Target="/ppt/notesMasters/notesMaster1.xml" Id="Ra51635586aee44a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83bd20b3edf47bf" /><Relationship Type="http://schemas.openxmlformats.org/officeDocument/2006/relationships/notesMaster" Target="/ppt/notesMasters/notesMaster1.xml" Id="R03d4616c989342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“AI generatif untuk dokumen rasmi tidak terperingkat”.</a:t>
            </a:r>
          </a:p>
          <a:p xmlns:a="http://schemas.openxmlformats.org/drawingml/2006/main">
            <a:r>
              <a:t>Mesej utama: Surat rasmi · minit tindakan · kawalan rekod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Terangkan bahawa latihan menggunakan data rekaan dan AI hanya sebagai pembantu penyediaan draf.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2/02-Kandungan-Slaid.md, Slaid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“Hasil akhir sesi”.</a:t>
            </a:r>
          </a:p>
          <a:p xmlns:a="http://schemas.openxmlformats.org/drawingml/2006/main">
            <a:r>
              <a:t>Mesej utama: Setiap kumpulan menghasilkan lima bukti pembelajaran yang boleh disemak.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Hasil dinilai berdasarkan ketepatan dan kawalan, bukan kecantikan bahasa sahaja.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2/02-Kandungan-Slaid.md, Slaid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“Daripada masalah kepada rekod rasmi”.</a:t>
            </a:r>
          </a:p>
          <a:p xmlns:a="http://schemas.openxmlformats.org/drawingml/2006/main">
            <a:r>
              <a:t>Mesej utama: Peluang produktiviti Modul 1 menjadi konteks penggunaan AI pada peringkat draf.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Tekankan bahawa setiap langkah mesti boleh dijejak kepada fakta dan pemilik keputusan.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2/02-Kandungan-Slaid.md, Slaid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“AI bukan pegawai penyedia atau pelulus”.</a:t>
            </a:r>
          </a:p>
          <a:p xmlns:a="http://schemas.openxmlformats.org/drawingml/2006/main">
            <a:r>
              <a:t>Mesej utama: Gunakan istilah “draf berbantukan AI”, bukan “surat dikeluarkan oleh AI”.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Minta peserta memberikan satu contoh keputusan yang tidak boleh diserahkan kepada AI.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2/02-Kandungan-Slaid.md, Slaid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“Sempadan latihan”.</a:t>
            </a:r>
          </a:p>
          <a:p xmlns:a="http://schemas.openxmlformats.org/drawingml/2006/main">
            <a:r>
              <a:t>Mesej utama: Gunakan hanya bahan simulasi dan dokumen tidak terperingkat.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Jangan minta peserta membuka dokumen sebenar atau sejarah chat semasa latihan.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2/02-Kandungan-Slaid.md, Slaid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“Lampu isyarat maklumat”.</a:t>
            </a:r>
          </a:p>
          <a:p xmlns:a="http://schemas.openxmlformats.org/drawingml/2006/main">
            <a:r>
              <a:t>Mesej utama: Nilai maklumat sebelum menaip atau menampalnya ke platform 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Paparkan beberapa contoh dan minta peserta memilih warna secara pantas.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2/02-Kandungan-Slaid.md, Slaid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“Satu kaedah, tiga platform percuma”.</a:t>
            </a:r>
          </a:p>
          <a:p xmlns:a="http://schemas.openxmlformats.org/drawingml/2006/main">
            <a:r>
              <a:t>Mesej utama: Latihan teras hanya memerlukan input teks dan tidak bergantung pada pelan berbayar.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Peserta boleh memilih satu platform. Jangan habiskan masa membandingkan ciri berbayar.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https://chatgpt.com/</a:t>
            </a:r>
          </a:p>
          <a:p xmlns:a="http://schemas.openxmlformats.org/drawingml/2006/main">
            <a:r>
              <a:t>- https://gemini.google.com/app</a:t>
            </a:r>
          </a:p>
          <a:p xmlns:a="http://schemas.openxmlformats.org/drawingml/2006/main">
            <a:r>
              <a:t>- https://claude.ai/new</a:t>
            </a:r>
          </a:p>
          <a:p xmlns:a="http://schemas.openxmlformats.org/drawingml/2006/main">
            <a:r>
              <a:t>- Bahan dalaman latihan: Modul 2/02-Kandungan-Slaid.md, Slaid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“Mengapa hasil AI berbeza?”.</a:t>
            </a:r>
          </a:p>
          <a:p xmlns:a="http://schemas.openxmlformats.org/drawingml/2006/main">
            <a:r>
              <a:t>Mesej utama: Jawapan yang lancar masih boleh mengandungi kesilapan.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Variasi ialah sebab fakta terkawal dan rubrik diperlukan.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2/02-Kandungan-Slaid.md, Slaid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“Prompt lemah menghasilkan ruang meneka”.</a:t>
            </a:r>
          </a:p>
          <a:p xmlns:a="http://schemas.openxmlformats.org/drawingml/2006/main">
            <a:r>
              <a:t>Mesej utama: “Tulis surat rasmi tentang kalibrasi alat makmal.”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Minta peserta menyebut maklumat yang hilang sebelum menunjukkan kerangka K–T–B–F–S.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2/02-Kandungan-Slaid.md, Slaid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“Kerangka lima bahagian K–T–B–F–S”.</a:t>
            </a:r>
          </a:p>
          <a:p xmlns:a="http://schemas.openxmlformats.org/drawingml/2006/main">
            <a:r>
              <a:t>Mesej utama: Prompt lengkap mengecilkan ruang AI mencipta andaian.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Gunakan mnemonik K–T–B–F–S sepanjang aktiviti surat dan minit.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2/02-Kandungan-Slaid.md, Slaid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“Prompt asas neutral platform”.</a:t>
            </a:r>
          </a:p>
          <a:p xmlns:a="http://schemas.openxmlformats.org/drawingml/2006/main">
            <a:r>
              <a:t>Mesej utama: Salin struktur ini dan gantikan hanya fakta simulasi yang dibenarkan.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Buka pustaka prompt dan tunjuk cara menyalin prompt lengkap.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2/02-Kandungan-Slaid.md, Slaid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“Fakta, cadangan dan keputusan”.</a:t>
            </a:r>
          </a:p>
          <a:p xmlns:a="http://schemas.openxmlformats.org/drawingml/2006/main">
            <a:r>
              <a:t>Mesej utama: Labelkan setiap unsur hasil AI sebelum ia digunakan.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Gunakan satu perenggan contoh dan minta peserta mengenal pasti tiga label.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2/02-Kandungan-Slaid.md, Slaid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“Anatomi surat rasmi”.</a:t>
            </a:r>
          </a:p>
          <a:p xmlns:a="http://schemas.openxmlformats.org/drawingml/2006/main">
            <a:r>
              <a:t>Mesej utama: Bahasa yang baik tidak menggantikan elemen dokumen yang wajib.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Rujuk tatacara surat kerajaan yang berkuat kuasa di jabatan.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2/02-Kandungan-Slaid.md, Slaid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“Kes latihan surat”.</a:t>
            </a:r>
          </a:p>
          <a:p xmlns:a="http://schemas.openxmlformats.org/drawingml/2006/main">
            <a:r>
              <a:t>Mesej utama: Pemakluman dan pengesahan jadual kalibrasi peralatan MPE — data rekaan.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Pastikan semua kumpulan menggunakan lembaran fakta yang sama.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2/02-Kandungan-Slaid.md, Slaid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“Aktiviti surat · 25 minit”.</a:t>
            </a:r>
          </a:p>
          <a:p xmlns:a="http://schemas.openxmlformats.org/drawingml/2006/main">
            <a:r>
              <a:t>Mesej utama: Daripada fakta diluluskan kepada draf yang telah diaudit.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Beri amaran masa pada minit 10, 17 dan 22.</a:t>
            </a:r>
          </a:p>
          <a:p xmlns:a="http://schemas.openxmlformats.org/drawingml/2006/main">
            <a:r>
              <a:t>- Berikan arahan, nyatakan bukti siap dan tetapkan pemasa sebelum peserta bermula.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4–8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2/02-Kandungan-Slaid.md, Slaid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“Jangan minta AI “pastikan semuanya betul””.</a:t>
            </a:r>
          </a:p>
          <a:p xmlns:a="http://schemas.openxmlformats.org/drawingml/2006/main">
            <a:r>
              <a:t>Mesej utama: Semakan yang baik mempunyai kriteria dan bukti.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Bandingkan arahan umum dengan arahan audit yang boleh diuji.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2/02-Kandungan-Slaid.md, Slaid 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“Prompt audit surat”.</a:t>
            </a:r>
          </a:p>
          <a:p xmlns:a="http://schemas.openxmlformats.org/drawingml/2006/main">
            <a:r>
              <a:t>Mesej utama: Audit dahulu; jangan tulis semula sebelum isu dikenal pasti.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Minta setiap kumpulan menunjukkan sekurang-kurangnya satu baris audit.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2/02-Kandungan-Slaid.md, Slaid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“Daripada catatan kepada minit tindakan”.</a:t>
            </a:r>
          </a:p>
          <a:p xmlns:a="http://schemas.openxmlformats.org/drawingml/2006/main">
            <a:r>
              <a:t>Mesej utama: AI tidak boleh menaik taraf cadangan menjadi keputusan.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Tunjukkan bahawa ruang kosong perlu ditanda untuk pengesahan, bukan diteka.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2/02-Kandungan-Slaid.md, Slaid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“Enam peraturan emas minit”.</a:t>
            </a:r>
          </a:p>
          <a:p xmlns:a="http://schemas.openxmlformats.org/drawingml/2006/main">
            <a:r>
              <a:t>Mesej utama: Kekalkan maksud asal dan nyatakan ketidakpastian.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Minit akhir tetap perlu disemak urus setia atau pengerusi.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2/02-Kandungan-Slaid.md, Slaid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“Aktiviti minit · 20 minit”.</a:t>
            </a:r>
          </a:p>
          <a:p xmlns:a="http://schemas.openxmlformats.org/drawingml/2006/main">
            <a:r>
              <a:t>Mesej utama: Hasilkan ringkasan, keputusan dan sekurang-kurangnya empat tindakan.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Pastikan peserta tidak memasukkan catatan mesyuarat sebenar.</a:t>
            </a:r>
          </a:p>
          <a:p xmlns:a="http://schemas.openxmlformats.org/drawingml/2006/main">
            <a:r>
              <a:t>- Berikan arahan, nyatakan bukti siap dan tetapkan pemasa sebelum peserta bermula.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4–8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2/02-Kandungan-Slaid.md, Slaid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“Struktur daftar tindakan”.</a:t>
            </a:r>
          </a:p>
          <a:p xmlns:a="http://schemas.openxmlformats.org/drawingml/2006/main">
            <a:r>
              <a:t>Mesej utama: Jika pemilik atau tarikh tidak disebut, tulis [PERLU PENGESAHAN].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Tekankan bahawa daftar tindakan ialah rekod terkawal, bukan sekadar ringkasan teks.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2/02-Kandungan-Slaid.md, Slaid 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“Galeri tiga platform”.</a:t>
            </a:r>
          </a:p>
          <a:p xmlns:a="http://schemas.openxmlformats.org/drawingml/2006/main">
            <a:r>
              <a:t>Mesej utama: Nama platform bukan komponen skor.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Minta peserta menilai output secara buta jika masa membenarkan.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2/02-Kandungan-Slaid.md, Slaid 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“Versi dokumen”.</a:t>
            </a:r>
          </a:p>
          <a:p xmlns:a="http://schemas.openxmlformats.org/drawingml/2006/main">
            <a:r>
              <a:t>Mesej utama: Status versi mesti jelas sebelum dokumen bergerak.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Sesuaikan konvensyen nama fail dengan arahan jabatan untuk penggunaan sebenar.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2/02-Kandungan-Slaid.md, Slaid 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“AI bukan sistem rekod”.</a:t>
            </a:r>
          </a:p>
          <a:p xmlns:a="http://schemas.openxmlformats.org/drawingml/2006/main">
            <a:r>
              <a:t>Mesej utama: Sejarah chat tidak menggantikan repositori rasmi jabatan.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Pastikan peserta boleh menyatakan lokasi rekod rasmi yang dibenarkan oleh jabatan.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2/02-Kandungan-Slaid.md, Slaid 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“Sebelum dokumen bergerak”.</a:t>
            </a:r>
          </a:p>
          <a:p xmlns:a="http://schemas.openxmlformats.org/drawingml/2006/main">
            <a:r>
              <a:t>Mesej utama: Enam pintu semakan sebelum dokumen digunakan atau dihantar.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Jadikan slaid ini senarai semak lisan sebelum penutup.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2/02-Kandungan-Slaid.md, Slaid 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“Tiga prinsip untuk dibawa pulang”.</a:t>
            </a:r>
          </a:p>
          <a:p xmlns:a="http://schemas.openxmlformats.org/drawingml/2006/main">
            <a:r>
              <a:t>Mesej utama: Bantuan AI mesti berakhir dengan semakan manusia dan rekod rasmi.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Minta peserta melengkapkan kuiz, exit ticket dan bukti penyempurnaan sebelum Modul 3.</a:t>
            </a:r>
          </a:p>
          <a:p xmlns:a="http://schemas.openxmlformats.org/drawingml/2006/main">
            <a:r>
              <a:t>- Minta peserta menyatakan satu tindakan susulan atau satu batasan yang mesti dikawal.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2/02-Kandungan-Slaid.md, Slaid 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2b3405497643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b6df1eab774fca" /><Relationship Type="http://schemas.openxmlformats.org/officeDocument/2006/relationships/slideLayout" Target="/ppt/slideLayouts/slideLayout1.xml" Id="R6abb7966012543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bb7966012543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549db16ad4642" /><Relationship Type="http://schemas.openxmlformats.org/officeDocument/2006/relationships/notesSlide" Target="/ppt/notesSlides/notesSlide1.xml" Id="R755b4f19277e49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84286373648b4" /><Relationship Type="http://schemas.openxmlformats.org/officeDocument/2006/relationships/notesSlide" Target="/ppt/notesSlides/notesSlide2.xml" Id="R4f752194b19644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093edd8fa4d83" /><Relationship Type="http://schemas.openxmlformats.org/officeDocument/2006/relationships/notesSlide" Target="/ppt/notesSlides/notesSlide3.xml" Id="R30d11ed73f2d45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23f1418e541f7" /><Relationship Type="http://schemas.openxmlformats.org/officeDocument/2006/relationships/notesSlide" Target="/ppt/notesSlides/notesSlide4.xml" Id="R1302d6b0b65842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b366e10a84f43" /><Relationship Type="http://schemas.openxmlformats.org/officeDocument/2006/relationships/notesSlide" Target="/ppt/notesSlides/notesSlide5.xml" Id="Rda0cf49191fa43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e06097cad4faf" /><Relationship Type="http://schemas.openxmlformats.org/officeDocument/2006/relationships/notesSlide" Target="/ppt/notesSlides/notesSlide6.xml" Id="R9fbcf50030ff40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87c7077314996" /><Relationship Type="http://schemas.openxmlformats.org/officeDocument/2006/relationships/notesSlide" Target="/ppt/notesSlides/notesSlide7.xml" Id="Rc21abefcdd434b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3e54caad84836" /><Relationship Type="http://schemas.openxmlformats.org/officeDocument/2006/relationships/notesSlide" Target="/ppt/notesSlides/notesSlide8.xml" Id="Rc88d5647a30745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8899c9efa4e69" /><Relationship Type="http://schemas.openxmlformats.org/officeDocument/2006/relationships/notesSlide" Target="/ppt/notesSlides/notesSlide9.xml" Id="Rebdcfb64e7ce44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d096740664927" /><Relationship Type="http://schemas.openxmlformats.org/officeDocument/2006/relationships/notesSlide" Target="/ppt/notesSlides/notesSlide10.xml" Id="Rd4e2105e4f9b41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d5e9e99cc4eac" /><Relationship Type="http://schemas.openxmlformats.org/officeDocument/2006/relationships/notesSlide" Target="/ppt/notesSlides/notesSlide11.xml" Id="R5328e094c04947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18e07622e42c8" /><Relationship Type="http://schemas.openxmlformats.org/officeDocument/2006/relationships/notesSlide" Target="/ppt/notesSlides/notesSlide12.xml" Id="R89ea48bb41204cf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b9be30bd54b2c" /><Relationship Type="http://schemas.openxmlformats.org/officeDocument/2006/relationships/notesSlide" Target="/ppt/notesSlides/notesSlide13.xml" Id="R8e06c53391394a7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b884c81174837" /><Relationship Type="http://schemas.openxmlformats.org/officeDocument/2006/relationships/notesSlide" Target="/ppt/notesSlides/notesSlide14.xml" Id="R2437015b01a84e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0f8cb21d74c9a" /><Relationship Type="http://schemas.openxmlformats.org/officeDocument/2006/relationships/notesSlide" Target="/ppt/notesSlides/notesSlide15.xml" Id="R5fcbaa18e4de4c6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81a0b58e34a4c" /><Relationship Type="http://schemas.openxmlformats.org/officeDocument/2006/relationships/notesSlide" Target="/ppt/notesSlides/notesSlide16.xml" Id="R9f938140e31740e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75a04d8894cbe" /><Relationship Type="http://schemas.openxmlformats.org/officeDocument/2006/relationships/notesSlide" Target="/ppt/notesSlides/notesSlide17.xml" Id="Rd27715ebc980479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efdef44fe4839" /><Relationship Type="http://schemas.openxmlformats.org/officeDocument/2006/relationships/notesSlide" Target="/ppt/notesSlides/notesSlide18.xml" Id="R78c86283fad146b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d0f15e15c41b5" /><Relationship Type="http://schemas.openxmlformats.org/officeDocument/2006/relationships/notesSlide" Target="/ppt/notesSlides/notesSlide19.xml" Id="Ra1dcd6ebda79478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3d1c8699c4886" /><Relationship Type="http://schemas.openxmlformats.org/officeDocument/2006/relationships/notesSlide" Target="/ppt/notesSlides/notesSlide20.xml" Id="R061d87fa24084d2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86cc36e0740d3" /><Relationship Type="http://schemas.openxmlformats.org/officeDocument/2006/relationships/notesSlide" Target="/ppt/notesSlides/notesSlide21.xml" Id="R29c33482a54f4e4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9f8dc1a62438f" /><Relationship Type="http://schemas.openxmlformats.org/officeDocument/2006/relationships/notesSlide" Target="/ppt/notesSlides/notesSlide22.xml" Id="R9b1b9a7ac91043a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811413460490f" /><Relationship Type="http://schemas.openxmlformats.org/officeDocument/2006/relationships/notesSlide" Target="/ppt/notesSlides/notesSlide23.xml" Id="Rd950e6c989ca425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63abc44a44d89" /><Relationship Type="http://schemas.openxmlformats.org/officeDocument/2006/relationships/notesSlide" Target="/ppt/notesSlides/notesSlide24.xml" Id="Rf545b2f2f39c4a4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774e6aec54c26" /><Relationship Type="http://schemas.openxmlformats.org/officeDocument/2006/relationships/notesSlide" Target="/ppt/notesSlides/notesSlide25.xml" Id="Rb462ac581a5c400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0ea4f02104aa9" /><Relationship Type="http://schemas.openxmlformats.org/officeDocument/2006/relationships/notesSlide" Target="/ppt/notesSlides/notesSlide26.xml" Id="R530d5b6decb046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1">
            <a:extLst xmlns:a="http://schemas.openxmlformats.org/drawingml/2006/main">
              <a:ext uri="{FF2B5EF4-FFF2-40B4-BE49-F238E27FC236}">
                <a16:creationId xmlns:a16="http://schemas.microsoft.com/office/drawing/2014/main" id="{8F44F1A7-D9DE-4DB9-ADE5-044C84E6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2 · PEMBUKAAN</a:t>
            </a:r>
          </a:p>
        </p:txBody>
      </p:sp>
      <p:sp>
        <p:nvSpPr>
          <p:cNvPr id="2" name="number-1">
            <a:extLst xmlns:a="http://schemas.openxmlformats.org/drawingml/2006/main">
              <a:ext uri="{FF2B5EF4-FFF2-40B4-BE49-F238E27FC236}">
                <a16:creationId xmlns:a16="http://schemas.microsoft.com/office/drawing/2014/main" id="{2053ACF9-24FF-4EE9-9F5E-44F1F04B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9903B-0A33-422F-9146-6C873E6B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2F70EE54-4981-4E05-B266-2F4D69EE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1">
            <a:extLst xmlns:a="http://schemas.openxmlformats.org/drawingml/2006/main">
              <a:ext uri="{FF2B5EF4-FFF2-40B4-BE49-F238E27FC236}">
                <a16:creationId xmlns:a16="http://schemas.microsoft.com/office/drawing/2014/main" id="{D1AB60E4-8E94-447A-8ED0-7FE8C3DC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1/26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62315-FF37-4438-957C-0D4799BA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40"/>
          </a:solidFill>
          <a:ln xmlns:a="http://schemas.openxmlformats.org/drawingml/2006/main" w="9525">
            <a:solidFill>
              <a:srgbClr val="4B6970"/>
            </a:solidFill>
            <a:prstDash val="solid"/>
          </a:ln>
        </p:spPr>
      </p:sp>
      <p:sp>
        <p:nvSpPr>
          <p:cNvPr id="7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FE8AB456-5B81-4264-992C-CCC91A0B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049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2</a:t>
            </a:r>
          </a:p>
        </p:txBody>
      </p:sp>
      <p:sp>
        <p:nvSpPr>
          <p:cNvPr id="8" name="deck-title">
            <a:extLst xmlns:a="http://schemas.openxmlformats.org/drawingml/2006/main">
              <a:ext uri="{FF2B5EF4-FFF2-40B4-BE49-F238E27FC236}">
                <a16:creationId xmlns:a16="http://schemas.microsoft.com/office/drawing/2014/main" id="{9EB63431-A3BF-410B-A393-3BD453AA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generatif untuk dokumen rasmi tidak terperingkat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15ACE-C395-4313-B68C-49A64BC5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7810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ck-lead">
            <a:extLst xmlns:a="http://schemas.openxmlformats.org/drawingml/2006/main">
              <a:ext uri="{FF2B5EF4-FFF2-40B4-BE49-F238E27FC236}">
                <a16:creationId xmlns:a16="http://schemas.microsoft.com/office/drawing/2014/main" id="{B254580D-79ED-4ED6-999E-5FDA9948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Surat rasmi · minit tindakan · kawalan rekod</a:t>
            </a:r>
          </a:p>
        </p:txBody>
      </p:sp>
      <p:sp>
        <p:nvSpPr>
          <p:cNvPr id="11" name="presenter">
            <a:extLst xmlns:a="http://schemas.openxmlformats.org/drawingml/2006/main">
              <a:ext uri="{FF2B5EF4-FFF2-40B4-BE49-F238E27FC236}">
                <a16:creationId xmlns:a16="http://schemas.microsoft.com/office/drawing/2014/main" id="{CDD80934-5A0F-465F-96BF-E97B3608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Prof. Madya Dr. Mohd Murtadha Mohamad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28 Julai 2026 · CREaTE JKR</a:t>
            </a:r>
          </a:p>
        </p:txBody>
      </p:sp>
      <p:sp>
        <p:nvSpPr>
          <p:cNvPr id="12" name="duration">
            <a:extLst xmlns:a="http://schemas.openxmlformats.org/drawingml/2006/main">
              <a:ext uri="{FF2B5EF4-FFF2-40B4-BE49-F238E27FC236}">
                <a16:creationId xmlns:a16="http://schemas.microsoft.com/office/drawing/2014/main" id="{8B527621-46A7-410C-89D0-4B95BB01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578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120 MINIT</a:t>
            </a:r>
          </a:p>
        </p:txBody>
      </p:sp>
    </p:spTree>
    <p:extLst>
      <p:ext uri="{BB962C8B-B14F-4D97-AF65-F5344CB8AC3E}">
        <p14:creationId xmlns:p14="http://schemas.microsoft.com/office/powerpoint/2010/main" val="10130922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2">
            <a:extLst xmlns:a="http://schemas.openxmlformats.org/drawingml/2006/main">
              <a:ext uri="{FF2B5EF4-FFF2-40B4-BE49-F238E27FC236}">
                <a16:creationId xmlns:a16="http://schemas.microsoft.com/office/drawing/2014/main" id="{C489D09E-8FBE-4CEB-878B-5E7BBFC3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PEMBUKAAN</a:t>
            </a:r>
          </a:p>
        </p:txBody>
      </p:sp>
      <p:sp>
        <p:nvSpPr>
          <p:cNvPr id="2" name="number-2">
            <a:extLst xmlns:a="http://schemas.openxmlformats.org/drawingml/2006/main">
              <a:ext uri="{FF2B5EF4-FFF2-40B4-BE49-F238E27FC236}">
                <a16:creationId xmlns:a16="http://schemas.microsoft.com/office/drawing/2014/main" id="{AF8D044C-ABA6-4B0D-83F9-93082905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74F14-E8DA-492D-8319-70E0FFF1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E32AF253-860C-495F-BA93-1C6D0310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2">
            <a:extLst xmlns:a="http://schemas.openxmlformats.org/drawingml/2006/main">
              <a:ext uri="{FF2B5EF4-FFF2-40B4-BE49-F238E27FC236}">
                <a16:creationId xmlns:a16="http://schemas.microsoft.com/office/drawing/2014/main" id="{251694A3-B9C4-43AF-99D9-4E58B670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2/26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DA9C0A-1D5B-448F-AA43-039FD00D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Hasil akhir sesi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19B4F3D4-B998-415D-98D2-588F77E9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Setiap kumpulan menghasilkan lima bukti pembelajaran yang boleh disemak.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ED69A-14F8-4360-AE56-38704729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F50C0-6FED-49C6-98BF-8A3A41BD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C1F55016-58ED-47F9-A38A-59386702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9069A17A-9FD1-4C86-A589-9085DE1E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66497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Prompt surat</a:t>
            </a:r>
          </a:p>
        </p:txBody>
      </p:sp>
      <p:sp>
        <p:nvSpPr>
          <p:cNvPr id="12" name="card-body-0">
            <a:extLst xmlns:a="http://schemas.openxmlformats.org/drawingml/2006/main">
              <a:ext uri="{FF2B5EF4-FFF2-40B4-BE49-F238E27FC236}">
                <a16:creationId xmlns:a16="http://schemas.microsoft.com/office/drawing/2014/main" id="{EB15EAA4-C8B2-46E7-B3F8-3CB8C4EB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66497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Boleh digunakan semula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616FD-CF44-4047-9B1C-1BD24A2E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E68C9-F3A9-4597-8480-822F3EB9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6481304F-6C69-4047-B536-C0BD5CD9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634FDA60-FF6F-4284-A1F7-E545F517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743200"/>
            <a:ext cx="166497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Draf surat</a:t>
            </a:r>
          </a:p>
        </p:txBody>
      </p:sp>
      <p:sp>
        <p:nvSpPr>
          <p:cNvPr id="17" name="card-body-1">
            <a:extLst xmlns:a="http://schemas.openxmlformats.org/drawingml/2006/main">
              <a:ext uri="{FF2B5EF4-FFF2-40B4-BE49-F238E27FC236}">
                <a16:creationId xmlns:a16="http://schemas.microsoft.com/office/drawing/2014/main" id="{DFB87505-035A-458C-9DB0-4C9B3454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3429000"/>
            <a:ext cx="166497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Telah diaudit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1AB4C6-B605-4019-91C2-CFAC54A4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284999-C170-45C2-9D5E-3A08B287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710BBE6A-3300-42F2-BA99-DB5284B6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66882B5D-2585-4DFD-A846-AD012533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743200"/>
            <a:ext cx="166497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Draf minit</a:t>
            </a:r>
          </a:p>
        </p:txBody>
      </p:sp>
      <p:sp>
        <p:nvSpPr>
          <p:cNvPr id="22" name="card-body-2">
            <a:extLst xmlns:a="http://schemas.openxmlformats.org/drawingml/2006/main">
              <a:ext uri="{FF2B5EF4-FFF2-40B4-BE49-F238E27FC236}">
                <a16:creationId xmlns:a16="http://schemas.microsoft.com/office/drawing/2014/main" id="{E61C5CBD-72BB-4CD8-870B-F22BE7D8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3429000"/>
            <a:ext cx="166497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Berserta tindakan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764033-270B-46DE-96F4-77830B9B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767B78-6B66-4AC3-81F2-5861C3BE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695BE70E-1661-4226-BFB1-1A7E8395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6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E8DAEA80-9974-47FA-9A02-5A30BEF9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743200"/>
            <a:ext cx="166497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Kawalan rekod</a:t>
            </a:r>
          </a:p>
        </p:txBody>
      </p:sp>
      <p:sp>
        <p:nvSpPr>
          <p:cNvPr id="27" name="card-body-3">
            <a:extLst xmlns:a="http://schemas.openxmlformats.org/drawingml/2006/main">
              <a:ext uri="{FF2B5EF4-FFF2-40B4-BE49-F238E27FC236}">
                <a16:creationId xmlns:a16="http://schemas.microsoft.com/office/drawing/2014/main" id="{13EACAC0-D9A3-4C5C-A856-54127E97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3429000"/>
            <a:ext cx="166497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Senarai semak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EDFF6B-B5D8-485E-9ACC-7E5F9F35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B6BD7C-6975-4D13-8F9D-F091F2F2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15DD5ED9-2ED8-455B-B1E1-BA8AFD52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1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7A560939-B629-4C86-89E7-03B7364B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743200"/>
            <a:ext cx="166497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Amalan selamat</a:t>
            </a:r>
          </a:p>
        </p:txBody>
      </p:sp>
      <p:sp>
        <p:nvSpPr>
          <p:cNvPr id="32" name="card-body-4">
            <a:extLst xmlns:a="http://schemas.openxmlformats.org/drawingml/2006/main">
              <a:ext uri="{FF2B5EF4-FFF2-40B4-BE49-F238E27FC236}">
                <a16:creationId xmlns:a16="http://schemas.microsoft.com/office/drawing/2014/main" id="{54D0267C-455E-454C-9294-C054456E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3429000"/>
            <a:ext cx="166497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Untuk tempat kerja</a:t>
            </a:r>
          </a:p>
        </p:txBody>
      </p:sp>
    </p:spTree>
    <p:extLst>
      <p:ext uri="{BB962C8B-B14F-4D97-AF65-F5344CB8AC3E}">
        <p14:creationId xmlns:p14="http://schemas.microsoft.com/office/powerpoint/2010/main" val="19861883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-3">
            <a:extLst xmlns:a="http://schemas.openxmlformats.org/drawingml/2006/main">
              <a:ext uri="{FF2B5EF4-FFF2-40B4-BE49-F238E27FC236}">
                <a16:creationId xmlns:a16="http://schemas.microsoft.com/office/drawing/2014/main" id="{C34A2541-B073-4413-AA3B-4D82D29A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PEMBUKAAN</a:t>
            </a:r>
          </a:p>
        </p:txBody>
      </p:sp>
      <p:sp>
        <p:nvSpPr>
          <p:cNvPr id="2" name="number-3">
            <a:extLst xmlns:a="http://schemas.openxmlformats.org/drawingml/2006/main">
              <a:ext uri="{FF2B5EF4-FFF2-40B4-BE49-F238E27FC236}">
                <a16:creationId xmlns:a16="http://schemas.microsoft.com/office/drawing/2014/main" id="{C93E4382-CE2F-4D48-B923-7121E969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D712E-01E2-439C-9726-8F9BC38E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BB05D959-23E1-41C0-A107-DE75EAC9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3">
            <a:extLst xmlns:a="http://schemas.openxmlformats.org/drawingml/2006/main">
              <a:ext uri="{FF2B5EF4-FFF2-40B4-BE49-F238E27FC236}">
                <a16:creationId xmlns:a16="http://schemas.microsoft.com/office/drawing/2014/main" id="{DB266D6C-AA1B-45EC-9AE4-D4E59797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3/26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C8693C-E4BA-47ED-84AB-D0B9D073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Daripada masalah kepada rekod rasmi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4117BEF8-26A2-4F04-871A-B45948CF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Peluang produktiviti Modul 1 menjadi konteks penggunaan AI pada peringkat draf.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6F193-A7CB-4621-8552-F1E01684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93593-8E87-4639-B462-B48C0771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5969785B-5D63-4893-B813-E69A8D49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697B34A2-33B2-4DD6-BD16-6A75A0DB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Masalah kerja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F6FF9-07FC-4348-94CB-2F0EF61F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9DF66-202C-4333-8A5E-9B05EA85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3DE26159-6E8E-4EFF-A8EC-4C704D93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80C4836C-ACCA-4D11-90EC-CEE6743E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7432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Fakta diluluskan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9D0818-826D-4731-A1FE-C3CD57A0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C23901-9429-4AA8-B801-7BE649C5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D15B8B68-1190-4D6B-A2C3-8C2B3FE9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D4C00CEE-467A-44AF-B39C-6CD81BB5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7432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Prompt berstruktur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CD1CAE-B3F0-418A-B140-6E6008A7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85E820-393F-4D18-B275-29A9D467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0D2A42F0-DF87-4B02-8ADA-7909EFC2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56466BFB-B010-4CC6-AD77-CBD60732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Draf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901885-2046-425A-A612-46AB2FFF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59CEA0-C058-457F-99BC-45981185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F592DA2B-F05C-4704-BF6F-D3EB10C0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314825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51C9AFEA-DD63-4FE7-8863-DEA2F078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6767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Semakan manusia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1F6BA6-AC28-43C3-97E0-ED05511E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FB0103-CBCD-42C8-BFBD-EE9AED68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5E6C5AC7-C966-49AF-8342-DB1A752E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314825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B0DA21BF-0243-4CFD-BCB8-A3F52D06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767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Dokumen + rekod</a:t>
            </a:r>
          </a:p>
        </p:txBody>
      </p:sp>
    </p:spTree>
    <p:extLst>
      <p:ext uri="{BB962C8B-B14F-4D97-AF65-F5344CB8AC3E}">
        <p14:creationId xmlns:p14="http://schemas.microsoft.com/office/powerpoint/2010/main" val="19046163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4">
            <a:extLst xmlns:a="http://schemas.openxmlformats.org/drawingml/2006/main">
              <a:ext uri="{FF2B5EF4-FFF2-40B4-BE49-F238E27FC236}">
                <a16:creationId xmlns:a16="http://schemas.microsoft.com/office/drawing/2014/main" id="{EF854184-8C3C-45D6-8923-E58BF933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PERANAN</a:t>
            </a:r>
          </a:p>
        </p:txBody>
      </p:sp>
      <p:sp>
        <p:nvSpPr>
          <p:cNvPr id="2" name="number-4">
            <a:extLst xmlns:a="http://schemas.openxmlformats.org/drawingml/2006/main">
              <a:ext uri="{FF2B5EF4-FFF2-40B4-BE49-F238E27FC236}">
                <a16:creationId xmlns:a16="http://schemas.microsoft.com/office/drawing/2014/main" id="{B8359DA0-BFF0-4F46-B753-8348127C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50778-6B0D-45E6-9D7C-DC9C28D9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7B0B46EF-EBB2-4FC7-AA18-C3B20027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4">
            <a:extLst xmlns:a="http://schemas.openxmlformats.org/drawingml/2006/main">
              <a:ext uri="{FF2B5EF4-FFF2-40B4-BE49-F238E27FC236}">
                <a16:creationId xmlns:a16="http://schemas.microsoft.com/office/drawing/2014/main" id="{40C67A64-73EA-4B6A-9ED3-3791263D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4/26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557C86-1B10-4BE0-AF86-6D4AF57A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bukan pegawai penyedia atau pelulus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E2D6DB0B-DE0C-4709-A476-6C589AC1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Gunakan istilah “draf berbantukan AI”, bukan “surat dikeluarkan oleh AI”.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51224-354E-43B5-8909-31081E46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5419725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881B5-0EE7-42E2-94F1-C9F2FBEE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99EF3E1C-DA33-40B4-ADD2-769DDACB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50196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boleh membantu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7329F81E-90AB-483A-9A67-3386E956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50196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Cadang struktur · gubal ayat · susun catatan · kesan kekurangan · ubah nada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D395D-24B2-441E-9C53-33C518E6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5419725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21464A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F5445-798B-46DF-8316-2AFB4B59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81B141FF-B651-4426-A07B-5F82364D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38400"/>
            <a:ext cx="50196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Manusia bertanggungjawab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6F76D23A-A500-4572-8075-C9A594EB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124200"/>
            <a:ext cx="50196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Tentukan fakta · sahkan ketepatan · tetapkan keputusan · nilai sensitiviti · semak dan lulus</a:t>
            </a:r>
          </a:p>
        </p:txBody>
      </p:sp>
    </p:spTree>
    <p:extLst>
      <p:ext uri="{BB962C8B-B14F-4D97-AF65-F5344CB8AC3E}">
        <p14:creationId xmlns:p14="http://schemas.microsoft.com/office/powerpoint/2010/main" val="19170964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5">
            <a:extLst xmlns:a="http://schemas.openxmlformats.org/drawingml/2006/main">
              <a:ext uri="{FF2B5EF4-FFF2-40B4-BE49-F238E27FC236}">
                <a16:creationId xmlns:a16="http://schemas.microsoft.com/office/drawing/2014/main" id="{20F85B37-0540-4E3B-AF55-7C0CF8FA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KESELAMATAN</a:t>
            </a:r>
          </a:p>
        </p:txBody>
      </p:sp>
      <p:sp>
        <p:nvSpPr>
          <p:cNvPr id="2" name="number-5">
            <a:extLst xmlns:a="http://schemas.openxmlformats.org/drawingml/2006/main">
              <a:ext uri="{FF2B5EF4-FFF2-40B4-BE49-F238E27FC236}">
                <a16:creationId xmlns:a16="http://schemas.microsoft.com/office/drawing/2014/main" id="{FC60AAF1-AC11-4340-B812-E24602A4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99685-85F8-4032-A16F-36B965AE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78FE1D86-207C-4E18-A219-7F53E04A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5">
            <a:extLst xmlns:a="http://schemas.openxmlformats.org/drawingml/2006/main">
              <a:ext uri="{FF2B5EF4-FFF2-40B4-BE49-F238E27FC236}">
                <a16:creationId xmlns:a16="http://schemas.microsoft.com/office/drawing/2014/main" id="{3B036134-7C0F-49F8-8554-874425C0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5/26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1B7C27-44F4-4C08-BBF4-79908905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Sempadan latihan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F5E8B53F-65E9-4684-813F-3928D6AA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Gunakan hanya bahan simulasi dan dokumen tidak terperingkat.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B698C-23E7-4E31-8FE1-327D7ABB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5419725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7A239-3A23-4A3E-8F08-09F03F6C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A2EDF8A6-A26A-41DF-B32F-2CDFE639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50196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Dalam skop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4254A0F5-E233-47CD-A586-5D4A222E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50196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Data simulasi · identiti rekaan · fakta latihan · platform percuma · input teks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B531A-0F89-4C92-A253-158FEE5F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5419725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1DBD5-E785-44F1-9864-85475713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084917AE-658E-46AF-BFE6-BAF91289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38400"/>
            <a:ext cx="50196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Di luar skop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0BD55172-0146-43E6-8BD9-D9DBC9D4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124200"/>
            <a:ext cx="50196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Dokumen terperingkat · data peribadi sebenar · operasi sebenar · keputusan teknikal · kelulusan rasmi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90583C-1F00-4394-84BF-67B99C76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0"/>
            <a:ext cx="857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itch">
            <a:extLst xmlns:a="http://schemas.openxmlformats.org/drawingml/2006/main">
              <a:ext uri="{FF2B5EF4-FFF2-40B4-BE49-F238E27FC236}">
                <a16:creationId xmlns:a16="http://schemas.microsoft.com/office/drawing/2014/main" id="{F597F66D-C2FB-42F7-BEB2-AE8C64BF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007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UNTUK LATIHAN · DATA REKAAN · TIDAK TERPERINGKAT</a:t>
            </a:r>
          </a:p>
        </p:txBody>
      </p:sp>
    </p:spTree>
    <p:extLst>
      <p:ext uri="{BB962C8B-B14F-4D97-AF65-F5344CB8AC3E}">
        <p14:creationId xmlns:p14="http://schemas.microsoft.com/office/powerpoint/2010/main" val="12928127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6">
            <a:extLst xmlns:a="http://schemas.openxmlformats.org/drawingml/2006/main">
              <a:ext uri="{FF2B5EF4-FFF2-40B4-BE49-F238E27FC236}">
                <a16:creationId xmlns:a16="http://schemas.microsoft.com/office/drawing/2014/main" id="{820AB7F5-03EB-44D9-A410-7E6AFB4C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KESELAMATAN</a:t>
            </a:r>
          </a:p>
        </p:txBody>
      </p:sp>
      <p:sp>
        <p:nvSpPr>
          <p:cNvPr id="2" name="number-6">
            <a:extLst xmlns:a="http://schemas.openxmlformats.org/drawingml/2006/main">
              <a:ext uri="{FF2B5EF4-FFF2-40B4-BE49-F238E27FC236}">
                <a16:creationId xmlns:a16="http://schemas.microsoft.com/office/drawing/2014/main" id="{A41F28F0-F14D-4D5A-9A92-CD2376FE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53736-2A50-483C-8923-B7B32C2D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1E6CAA9F-7B4D-467B-9C1B-64116234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6">
            <a:extLst xmlns:a="http://schemas.openxmlformats.org/drawingml/2006/main">
              <a:ext uri="{FF2B5EF4-FFF2-40B4-BE49-F238E27FC236}">
                <a16:creationId xmlns:a16="http://schemas.microsoft.com/office/drawing/2014/main" id="{E3606FAC-F73C-43AF-9D2F-A3BA372D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6/26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4483E6-ADA0-455E-A63B-A5183CE3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Lampu isyarat maklumat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F905ECA7-F63E-4157-B995-099841C0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Nilai maklumat sebelum menaip atau menampalnya ke platform 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3D08A-1FAE-4BC7-99A0-5BA677A6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67C42-3259-4383-85EE-75F15993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B7949312-7A9A-4445-B45A-BFD14BFD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HIJAU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E4CE3031-63B9-473C-8B45-5CD9B37F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Data simulasi yang disediakan dalam latihan.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3663B5-66DC-46F5-9446-7E851C93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98F05-AE47-49B7-B8AE-86209A36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556C68A4-C6EE-4309-BC33-C250E43F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KUNING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6960DA39-79C9-44D8-9D1E-67FCA823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Format awam atau bahan yang memerlukan semakan dasar.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F6754-3B53-44EB-B7B3-81233F18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21464A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5E959-6220-4C23-82D3-DA50335B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4C83C41A-0830-401F-8F76-923CFA8A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MERAH</a:t>
            </a:r>
          </a:p>
        </p:txBody>
      </p:sp>
      <p:sp>
        <p:nvSpPr>
          <p:cNvPr id="19" name="card-body-2">
            <a:extLst xmlns:a="http://schemas.openxmlformats.org/drawingml/2006/main">
              <a:ext uri="{FF2B5EF4-FFF2-40B4-BE49-F238E27FC236}">
                <a16:creationId xmlns:a16="http://schemas.microsoft.com/office/drawing/2014/main" id="{1425B7B4-3A4B-420C-9E44-2FFED4E0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Dokumen terperingkat, data sebenar, kata laluan dan butiran keselamatan.</a:t>
            </a:r>
          </a:p>
        </p:txBody>
      </p:sp>
    </p:spTree>
    <p:extLst>
      <p:ext uri="{BB962C8B-B14F-4D97-AF65-F5344CB8AC3E}">
        <p14:creationId xmlns:p14="http://schemas.microsoft.com/office/powerpoint/2010/main" val="1702994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7">
            <a:extLst xmlns:a="http://schemas.openxmlformats.org/drawingml/2006/main">
              <a:ext uri="{FF2B5EF4-FFF2-40B4-BE49-F238E27FC236}">
                <a16:creationId xmlns:a16="http://schemas.microsoft.com/office/drawing/2014/main" id="{4B9B8C10-38E3-468C-BB5E-D1B41F14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PLATFORM</a:t>
            </a:r>
          </a:p>
        </p:txBody>
      </p:sp>
      <p:sp>
        <p:nvSpPr>
          <p:cNvPr id="2" name="number-7">
            <a:extLst xmlns:a="http://schemas.openxmlformats.org/drawingml/2006/main">
              <a:ext uri="{FF2B5EF4-FFF2-40B4-BE49-F238E27FC236}">
                <a16:creationId xmlns:a16="http://schemas.microsoft.com/office/drawing/2014/main" id="{3DF4D1C4-C86E-41A3-91DF-C6526E26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A1878-C189-4C34-892A-688178E6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2A077C67-A9DF-4C36-821A-0A075676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7">
            <a:extLst xmlns:a="http://schemas.openxmlformats.org/drawingml/2006/main">
              <a:ext uri="{FF2B5EF4-FFF2-40B4-BE49-F238E27FC236}">
                <a16:creationId xmlns:a16="http://schemas.microsoft.com/office/drawing/2014/main" id="{FF3B3680-1800-4452-A28C-7CAB7715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7/26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3E40F3-13E8-4634-85CA-F0831754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Satu kaedah, tiga platform percuma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EE648826-4FE8-4084-92C3-6E13AEA0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Latihan teras hanya memerlukan input teks dan tidak bergantung pada pelan berbayar.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66343-38D7-4931-931C-5D66ECB1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1B54E-3BF4-4719-A94B-500B61F3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D33626B2-F648-4EB9-919C-2F605DA0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ChatGPT Free ↗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D1F34BFD-9701-46B3-A8CF-3D8E3DE3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31559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Gunakan prompt neutral platform.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CB894-06EA-4963-B39E-25883B62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18A90-5F98-4E89-8D96-20A0550F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E1193356-7AEC-40E9-A5B7-FFFCA029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Gemini ↗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04192252-2D68-4608-A2CE-82534F5C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24200"/>
            <a:ext cx="31559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Bandingkan hasil dengan rubrik sama.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583ED-B82A-4FA7-ADAB-13B5417A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2FD714-0214-43F3-8ED0-0CE4FBA2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CBD07283-0350-476C-8280-C1CD49D9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Claude Free ↗</a:t>
            </a:r>
          </a:p>
        </p:txBody>
      </p:sp>
      <p:sp>
        <p:nvSpPr>
          <p:cNvPr id="19" name="card-body-2">
            <a:extLst xmlns:a="http://schemas.openxmlformats.org/drawingml/2006/main">
              <a:ext uri="{FF2B5EF4-FFF2-40B4-BE49-F238E27FC236}">
                <a16:creationId xmlns:a16="http://schemas.microsoft.com/office/drawing/2014/main" id="{884A2D68-7ABD-46DF-9C28-E8D89D72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124200"/>
            <a:ext cx="31559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Had penggunaan boleh berubah.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7DC0FA-D0E4-4E5E-8670-55C7F2DD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0"/>
            <a:ext cx="857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itch">
            <a:extLst xmlns:a="http://schemas.openxmlformats.org/drawingml/2006/main">
              <a:ext uri="{FF2B5EF4-FFF2-40B4-BE49-F238E27FC236}">
                <a16:creationId xmlns:a16="http://schemas.microsoft.com/office/drawing/2014/main" id="{D7AF6057-6DE3-499F-85CD-9F7D8B9D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007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Satu kaedah prompt · tiga platform · satu rubrik semakan</a:t>
            </a:r>
          </a:p>
        </p:txBody>
      </p:sp>
    </p:spTree>
    <p:extLst>
      <p:ext uri="{BB962C8B-B14F-4D97-AF65-F5344CB8AC3E}">
        <p14:creationId xmlns:p14="http://schemas.microsoft.com/office/powerpoint/2010/main" val="16855995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8">
            <a:extLst xmlns:a="http://schemas.openxmlformats.org/drawingml/2006/main">
              <a:ext uri="{FF2B5EF4-FFF2-40B4-BE49-F238E27FC236}">
                <a16:creationId xmlns:a16="http://schemas.microsoft.com/office/drawing/2014/main" id="{4371777F-0985-4F84-8DD0-C4E67D8F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ASAS AI</a:t>
            </a:r>
          </a:p>
        </p:txBody>
      </p:sp>
      <p:sp>
        <p:nvSpPr>
          <p:cNvPr id="2" name="number-8">
            <a:extLst xmlns:a="http://schemas.openxmlformats.org/drawingml/2006/main">
              <a:ext uri="{FF2B5EF4-FFF2-40B4-BE49-F238E27FC236}">
                <a16:creationId xmlns:a16="http://schemas.microsoft.com/office/drawing/2014/main" id="{15BA2F29-41AE-4193-A8C8-A714BD7E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E7FEE-7C88-4FBE-B4A5-63BDEA52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90DDC38F-F125-4A29-B12A-505EFD64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8">
            <a:extLst xmlns:a="http://schemas.openxmlformats.org/drawingml/2006/main">
              <a:ext uri="{FF2B5EF4-FFF2-40B4-BE49-F238E27FC236}">
                <a16:creationId xmlns:a16="http://schemas.microsoft.com/office/drawing/2014/main" id="{258D02FD-B775-4974-989A-503C2DBE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8/26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2A5BAD-3F71-4BEC-BA6D-5E6D91C0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Mengapa hasil AI berbeza?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ED7F293C-7418-4B19-842A-4DA177EF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Jawapan yang lancar masih boleh mengandungi kesilapan.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172B2-C160-4F23-BDD9-E0ECDE38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55745-DB2D-47E6-B767-F3EEF00F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D344A633-023A-400E-9BD6-E81D59BD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0F8E49F0-97C3-419A-8511-99ACEA9D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Model berbeza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4B828-69B8-4B39-AD20-DC08EF49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FFA39-08E5-4F7C-A9E7-24146527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E60D64F7-2321-4EAC-943C-63E0EFCE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090ACF10-F700-4956-95C6-9C815DAA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Arahan ditafsir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202CC2-0131-434C-A235-324EBE6D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22761F-C2F6-43D0-A371-AE2439D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2E6A0001-8A0B-4120-A869-E99DA3F2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59FB92A9-1221-468F-80FC-4A40AED9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Konteks chat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EBD234-90C3-4C58-AB55-58A7292E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8A1F97-1F96-402C-8130-56B11AD0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3EC77276-CE54-4567-A9D6-645CEB07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F76968C0-7726-4559-A710-6CBC112B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Pilihan kebarangkalian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51774A-F3E2-4318-AF70-F98FADC1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F2285A-99E9-46EF-811D-564AB3C0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B37BF93A-E3D5-4281-BBF5-F076551F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48AF5178-41D7-4520-ADFF-4F8BC329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Kesilapan boleh lancar</a:t>
            </a:r>
          </a:p>
        </p:txBody>
      </p:sp>
    </p:spTree>
    <p:extLst>
      <p:ext uri="{BB962C8B-B14F-4D97-AF65-F5344CB8AC3E}">
        <p14:creationId xmlns:p14="http://schemas.microsoft.com/office/powerpoint/2010/main" val="8807983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9">
            <a:extLst xmlns:a="http://schemas.openxmlformats.org/drawingml/2006/main">
              <a:ext uri="{FF2B5EF4-FFF2-40B4-BE49-F238E27FC236}">
                <a16:creationId xmlns:a16="http://schemas.microsoft.com/office/drawing/2014/main" id="{45A365F5-D456-41BE-B8F9-27C618B3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2" name="number-9">
            <a:extLst xmlns:a="http://schemas.openxmlformats.org/drawingml/2006/main">
              <a:ext uri="{FF2B5EF4-FFF2-40B4-BE49-F238E27FC236}">
                <a16:creationId xmlns:a16="http://schemas.microsoft.com/office/drawing/2014/main" id="{2062D2E9-673D-4662-9794-4EF0C86C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FFD95-9C1E-40C4-BF09-6D201125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9">
            <a:extLst xmlns:a="http://schemas.openxmlformats.org/drawingml/2006/main">
              <a:ext uri="{FF2B5EF4-FFF2-40B4-BE49-F238E27FC236}">
                <a16:creationId xmlns:a16="http://schemas.microsoft.com/office/drawing/2014/main" id="{556DD9F4-7E73-45E6-8EEE-BDFAAA0E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9">
            <a:extLst xmlns:a="http://schemas.openxmlformats.org/drawingml/2006/main">
              <a:ext uri="{FF2B5EF4-FFF2-40B4-BE49-F238E27FC236}">
                <a16:creationId xmlns:a16="http://schemas.microsoft.com/office/drawing/2014/main" id="{D3347CD4-8DA7-4F28-81CC-B977CEA6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9/26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A1C99B-2DB0-4C01-8FB5-2473E33B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Prompt lemah menghasilkan ruang meneka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CC4BC42D-08F2-4B08-B969-7FA04D4C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“Tulis surat rasmi tentang kalibrasi alat makmal.”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E6747-39D4-4AC7-8A29-CFDAFB0B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7725F-CB78-46F1-9F5C-B498D370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36D86193-F139-457C-AD22-5A0242CF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Siapa penerima?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954C9-6818-48D5-AA43-1532F4A1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48B77-B785-46FE-AB0D-EF891A0E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722CE6A0-D110-4A78-A031-6FD7825A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4384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Apakah tujuan?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08F96-F414-44A9-92F5-DD3C3890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68F670-7603-4E3F-89F5-F3AE160E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9E8F7A1D-2B6D-45DA-941E-72696FD3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4384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Fakta dan tarikh?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6246DA-CEEB-476B-A04A-68ED3815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6422FF-2EA0-45E5-B427-21BACAE4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A088DDF2-B057-498C-9B7A-0C586668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Tindakan diminta?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7BFCD8-FAC5-4A08-A0E1-C5ED95FB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AF397-6A1A-4739-9080-2A2677AD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21978C3E-18C4-48B5-8612-0FF3AFAC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3719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Format dan panjang?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9C3247-D843-4D14-894C-BC007C4E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FAE39C-243B-4960-BAD2-FA4438C9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C6F848A3-AF20-4C42-AA23-8A857D0C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3719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Apa yang dilarang?</a:t>
            </a:r>
          </a:p>
        </p:txBody>
      </p:sp>
    </p:spTree>
    <p:extLst>
      <p:ext uri="{BB962C8B-B14F-4D97-AF65-F5344CB8AC3E}">
        <p14:creationId xmlns:p14="http://schemas.microsoft.com/office/powerpoint/2010/main" val="10916521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10">
            <a:extLst xmlns:a="http://schemas.openxmlformats.org/drawingml/2006/main">
              <a:ext uri="{FF2B5EF4-FFF2-40B4-BE49-F238E27FC236}">
                <a16:creationId xmlns:a16="http://schemas.microsoft.com/office/drawing/2014/main" id="{49B5A2DB-0BED-4B5F-8293-153073A2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2" name="number-10">
            <a:extLst xmlns:a="http://schemas.openxmlformats.org/drawingml/2006/main">
              <a:ext uri="{FF2B5EF4-FFF2-40B4-BE49-F238E27FC236}">
                <a16:creationId xmlns:a16="http://schemas.microsoft.com/office/drawing/2014/main" id="{ACB079FD-A7D1-47A5-BD15-3EA65ED8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2ED42-E51F-400C-B404-06821740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0">
            <a:extLst xmlns:a="http://schemas.openxmlformats.org/drawingml/2006/main">
              <a:ext uri="{FF2B5EF4-FFF2-40B4-BE49-F238E27FC236}">
                <a16:creationId xmlns:a16="http://schemas.microsoft.com/office/drawing/2014/main" id="{3FB11500-A598-46B7-BD02-223DBF6C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10">
            <a:extLst xmlns:a="http://schemas.openxmlformats.org/drawingml/2006/main">
              <a:ext uri="{FF2B5EF4-FFF2-40B4-BE49-F238E27FC236}">
                <a16:creationId xmlns:a16="http://schemas.microsoft.com/office/drawing/2014/main" id="{8E85A979-AC1E-45AD-A40B-4AF33C09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10/26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0D278A-F715-428B-997F-8FA86018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Kerangka lima bahagian K–T–B–F–S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2FE877D1-AB56-4D56-9888-303A2B20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Prompt lengkap mengecilkan ruang AI mencipta andaian.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3960F-8B63-4C41-9DA7-B5628EB6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0C0E9-AC02-453E-8740-C3847AFE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78329EF4-C14F-4B8B-8FAF-D6C34B32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K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63E72500-10CF-4B63-B990-60DAE3DB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66497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Konteks</a:t>
            </a:r>
          </a:p>
        </p:txBody>
      </p:sp>
      <p:sp>
        <p:nvSpPr>
          <p:cNvPr id="12" name="card-body-0">
            <a:extLst xmlns:a="http://schemas.openxmlformats.org/drawingml/2006/main">
              <a:ext uri="{FF2B5EF4-FFF2-40B4-BE49-F238E27FC236}">
                <a16:creationId xmlns:a16="http://schemas.microsoft.com/office/drawing/2014/main" id="{C8F736A1-8D81-4600-AFC2-1E5092AA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66497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Siapa dan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23524-044A-4695-9678-031C764D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CEBF0-2E22-46AF-A40B-AFB4EF86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5DAEB7CE-F9E9-44EB-8D43-40973851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16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21F88C6B-3AC3-4CC5-9DC5-5905B9ED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743200"/>
            <a:ext cx="166497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Tugas</a:t>
            </a:r>
          </a:p>
        </p:txBody>
      </p:sp>
      <p:sp>
        <p:nvSpPr>
          <p:cNvPr id="17" name="card-body-1">
            <a:extLst xmlns:a="http://schemas.openxmlformats.org/drawingml/2006/main">
              <a:ext uri="{FF2B5EF4-FFF2-40B4-BE49-F238E27FC236}">
                <a16:creationId xmlns:a16="http://schemas.microsoft.com/office/drawing/2014/main" id="{47CD7C76-4839-44BC-A214-5308B24C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3429000"/>
            <a:ext cx="166497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Hasil khusus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44767F-0E20-4F04-A5F2-C6B5C684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EEC19F-ACC7-4564-AC00-1EFE96DE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8627FFCF-565C-4105-903D-02F3CFD4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21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713A061C-858A-40E8-9537-7B2482FB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743200"/>
            <a:ext cx="166497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Bahan</a:t>
            </a:r>
          </a:p>
        </p:txBody>
      </p:sp>
      <p:sp>
        <p:nvSpPr>
          <p:cNvPr id="22" name="card-body-2">
            <a:extLst xmlns:a="http://schemas.openxmlformats.org/drawingml/2006/main">
              <a:ext uri="{FF2B5EF4-FFF2-40B4-BE49-F238E27FC236}">
                <a16:creationId xmlns:a16="http://schemas.microsoft.com/office/drawing/2014/main" id="{98B8F591-470A-4F8A-A1DE-96991E59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3429000"/>
            <a:ext cx="166497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Fakta dibenarkan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DD8AF9-38F0-4CF6-A946-0DF0798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D8F8FD-A41E-46A0-9E30-B5F17443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50367E96-2B1F-48DA-AFBC-6382997D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26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21C1E48B-1444-49B7-AB08-C2B016B0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743200"/>
            <a:ext cx="166497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Format</a:t>
            </a:r>
          </a:p>
        </p:txBody>
      </p:sp>
      <p:sp>
        <p:nvSpPr>
          <p:cNvPr id="27" name="card-body-3">
            <a:extLst xmlns:a="http://schemas.openxmlformats.org/drawingml/2006/main">
              <a:ext uri="{FF2B5EF4-FFF2-40B4-BE49-F238E27FC236}">
                <a16:creationId xmlns:a16="http://schemas.microsoft.com/office/drawing/2014/main" id="{DE1241B0-2CE7-4A7B-94EE-4303C0A5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3429000"/>
            <a:ext cx="166497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Struktur dan bahasa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62DF26-5094-41E5-AB33-3DA324A7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9C614F-1D7F-4EDB-A301-EEF9B1D9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989977E7-7BC2-4170-8C6F-F63A07D3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31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D9D2312D-C416-4A37-A307-E9C343E6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743200"/>
            <a:ext cx="166497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Semakan</a:t>
            </a:r>
          </a:p>
        </p:txBody>
      </p:sp>
      <p:sp>
        <p:nvSpPr>
          <p:cNvPr id="32" name="card-body-4">
            <a:extLst xmlns:a="http://schemas.openxmlformats.org/drawingml/2006/main">
              <a:ext uri="{FF2B5EF4-FFF2-40B4-BE49-F238E27FC236}">
                <a16:creationId xmlns:a16="http://schemas.microsoft.com/office/drawing/2014/main" id="{348B976B-BC1F-4127-AA0C-0D523E9A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3429000"/>
            <a:ext cx="166497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Larangan dan kriteria</a:t>
            </a:r>
          </a:p>
        </p:txBody>
      </p:sp>
    </p:spTree>
    <p:extLst>
      <p:ext uri="{BB962C8B-B14F-4D97-AF65-F5344CB8AC3E}">
        <p14:creationId xmlns:p14="http://schemas.microsoft.com/office/powerpoint/2010/main" val="15270447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11">
            <a:extLst xmlns:a="http://schemas.openxmlformats.org/drawingml/2006/main">
              <a:ext uri="{FF2B5EF4-FFF2-40B4-BE49-F238E27FC236}">
                <a16:creationId xmlns:a16="http://schemas.microsoft.com/office/drawing/2014/main" id="{8FCE3C8F-E9CD-4FBF-A2A0-B9ECEC3A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2" name="number-11">
            <a:extLst xmlns:a="http://schemas.openxmlformats.org/drawingml/2006/main">
              <a:ext uri="{FF2B5EF4-FFF2-40B4-BE49-F238E27FC236}">
                <a16:creationId xmlns:a16="http://schemas.microsoft.com/office/drawing/2014/main" id="{A2AAD501-D215-4EA3-BEBF-0A1F0977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4E36B-AB79-43F0-8684-FFAA74F6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1">
            <a:extLst xmlns:a="http://schemas.openxmlformats.org/drawingml/2006/main">
              <a:ext uri="{FF2B5EF4-FFF2-40B4-BE49-F238E27FC236}">
                <a16:creationId xmlns:a16="http://schemas.microsoft.com/office/drawing/2014/main" id="{A5A677C0-B755-489E-96DA-7EB672BA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11">
            <a:extLst xmlns:a="http://schemas.openxmlformats.org/drawingml/2006/main">
              <a:ext uri="{FF2B5EF4-FFF2-40B4-BE49-F238E27FC236}">
                <a16:creationId xmlns:a16="http://schemas.microsoft.com/office/drawing/2014/main" id="{29B2B352-DB1E-49BC-97B6-E8F33B83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11/26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90B070-FEF2-43E9-9CD2-34087206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Prompt asas neutral platform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C7673AF8-0ECF-496A-A701-2278E2D6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Salin struktur ini dan gantikan hanya fakta simulasi yang dibenarkan.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C1F38-91DA-41DD-8149-4FC6330D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0363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main-content">
            <a:extLst xmlns:a="http://schemas.openxmlformats.org/drawingml/2006/main">
              <a:ext uri="{FF2B5EF4-FFF2-40B4-BE49-F238E27FC236}">
                <a16:creationId xmlns:a16="http://schemas.microsoft.com/office/drawing/2014/main" id="{51F6B3D3-8CFD-4F87-A591-EF5CF257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19400"/>
            <a:ext cx="9486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KONTEKS: Draf dokumen tidak terperingkat.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TUGAS: Hasilkan draf surat rasmi.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BAHAN: Gunakan hanya fakta berikut.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FORMAT: Bahasa Melayu rasmi dan ringkas.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SEMAKAN: Jangan cipta fakta; tanda [PERLU PENGESAHAN].</a:t>
            </a:r>
          </a:p>
        </p:txBody>
      </p:sp>
    </p:spTree>
    <p:extLst>
      <p:ext uri="{BB962C8B-B14F-4D97-AF65-F5344CB8AC3E}">
        <p14:creationId xmlns:p14="http://schemas.microsoft.com/office/powerpoint/2010/main" val="1615306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12">
            <a:extLst xmlns:a="http://schemas.openxmlformats.org/drawingml/2006/main">
              <a:ext uri="{FF2B5EF4-FFF2-40B4-BE49-F238E27FC236}">
                <a16:creationId xmlns:a16="http://schemas.microsoft.com/office/drawing/2014/main" id="{AB1D6162-EE01-4C3F-B734-0A827149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SEMAKAN</a:t>
            </a:r>
          </a:p>
        </p:txBody>
      </p:sp>
      <p:sp>
        <p:nvSpPr>
          <p:cNvPr id="2" name="number-12">
            <a:extLst xmlns:a="http://schemas.openxmlformats.org/drawingml/2006/main">
              <a:ext uri="{FF2B5EF4-FFF2-40B4-BE49-F238E27FC236}">
                <a16:creationId xmlns:a16="http://schemas.microsoft.com/office/drawing/2014/main" id="{BF4546AE-361A-4A95-AEE3-DFEBF9D2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D0CAB-6B7F-47D9-B1AC-AD54FF7D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2">
            <a:extLst xmlns:a="http://schemas.openxmlformats.org/drawingml/2006/main">
              <a:ext uri="{FF2B5EF4-FFF2-40B4-BE49-F238E27FC236}">
                <a16:creationId xmlns:a16="http://schemas.microsoft.com/office/drawing/2014/main" id="{21157AAE-C2CB-48FE-9B61-63D8B527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12">
            <a:extLst xmlns:a="http://schemas.openxmlformats.org/drawingml/2006/main">
              <a:ext uri="{FF2B5EF4-FFF2-40B4-BE49-F238E27FC236}">
                <a16:creationId xmlns:a16="http://schemas.microsoft.com/office/drawing/2014/main" id="{C8F213E0-CEAE-4B4A-92E0-32AB8960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12/26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37E063-42C5-4BA3-AE6D-4348A985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Fakta, cadangan dan keputusan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2FFC6377-C232-4FDA-9744-F34B028C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Labelkan setiap unsur hasil AI sebelum ia digunakan.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33087-1E9A-46A7-BB9B-907650DC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B3B08-AECD-4944-843A-8FBC4196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37EDF9D3-5A21-4A66-9D7E-C1ED92FF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FAKTA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795FFCD9-50D7-45D7-A60C-2E7AB1F6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Boleh dijejak kepada lembaran input.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D2422-86C8-4714-A366-762E8F2F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D645C-4826-41B7-8299-1C3E6BAF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ABB3FCF1-81D1-45ED-895F-B1A7FCEF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CADANGAN BAHASA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C8BC4CCB-0079-488E-9AFD-9DA35AE0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Boleh diterima, diubah atau ditolak.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4863F5-3072-4E3E-AF20-C971F0A5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31461-B9F0-49DA-9024-E68256E4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41A017EF-5378-48A8-84FC-264F1FAC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19" name="card-body-2">
            <a:extLst xmlns:a="http://schemas.openxmlformats.org/drawingml/2006/main">
              <a:ext uri="{FF2B5EF4-FFF2-40B4-BE49-F238E27FC236}">
                <a16:creationId xmlns:a16="http://schemas.microsoft.com/office/drawing/2014/main" id="{1354A4EA-044C-4B0E-9503-A30D7493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Hanya manusia diberi kuasa boleh menetapkan.</a:t>
            </a:r>
          </a:p>
        </p:txBody>
      </p:sp>
    </p:spTree>
    <p:extLst>
      <p:ext uri="{BB962C8B-B14F-4D97-AF65-F5344CB8AC3E}">
        <p14:creationId xmlns:p14="http://schemas.microsoft.com/office/powerpoint/2010/main" val="4174634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13">
            <a:extLst xmlns:a="http://schemas.openxmlformats.org/drawingml/2006/main">
              <a:ext uri="{FF2B5EF4-FFF2-40B4-BE49-F238E27FC236}">
                <a16:creationId xmlns:a16="http://schemas.microsoft.com/office/drawing/2014/main" id="{21FB8F0A-A8EE-4124-B13B-4D687670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SURAT RASMI</a:t>
            </a:r>
          </a:p>
        </p:txBody>
      </p:sp>
      <p:sp>
        <p:nvSpPr>
          <p:cNvPr id="2" name="number-13">
            <a:extLst xmlns:a="http://schemas.openxmlformats.org/drawingml/2006/main">
              <a:ext uri="{FF2B5EF4-FFF2-40B4-BE49-F238E27FC236}">
                <a16:creationId xmlns:a16="http://schemas.microsoft.com/office/drawing/2014/main" id="{DA7B1259-9541-40CD-B2D9-BA8386A1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A06A5-1532-4363-9917-72744E37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3">
            <a:extLst xmlns:a="http://schemas.openxmlformats.org/drawingml/2006/main">
              <a:ext uri="{FF2B5EF4-FFF2-40B4-BE49-F238E27FC236}">
                <a16:creationId xmlns:a16="http://schemas.microsoft.com/office/drawing/2014/main" id="{EA945419-1191-444A-B580-CA1F40AF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13">
            <a:extLst xmlns:a="http://schemas.openxmlformats.org/drawingml/2006/main">
              <a:ext uri="{FF2B5EF4-FFF2-40B4-BE49-F238E27FC236}">
                <a16:creationId xmlns:a16="http://schemas.microsoft.com/office/drawing/2014/main" id="{16C5000C-322B-45FD-BF63-F978D424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13/26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03F8E6-DB56-42BE-9B0D-1018C83B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Anatomi surat rasmi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23865EAF-89F6-41AC-A42E-6F264CA2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Bahasa yang baik tidak menggantikan elemen dokumen yang wajib.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72043-DD38-421C-A9A2-1EB0BA25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51690-3093-441B-9AD2-D5866F5C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E9D0F17D-F4FB-48AD-A8A1-79C6C6C9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774F88EC-7A9C-4DA1-88EF-A7D0FCAF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Alamat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307C4-4577-4023-AD0C-718D380F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3FDA8-9761-4E7F-AEF8-351296BD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2A623E92-CF2B-4A4C-A156-E6F46C4F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CE61C3CB-F24F-49E7-8404-3C83AECA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Rujukan &amp; tarikh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F9E8B-2AE1-4C32-940B-EBA18DCD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6F811D-4146-4DAC-A2BC-B0CB5865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436C6F6C-1E5A-4579-A0E2-7ECAAD8E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1EFF3034-1AC1-400E-BEB3-272EE222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Tajuk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5BFB97-B324-469E-A3FD-F52985D2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62DF2-6BCC-4888-99FF-0A05B4EE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B750467B-6D53-49AD-B4D9-615A2925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52FEDE45-5275-49BB-996D-A96B0A90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Tujuan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318E68-1BB1-4147-A5AC-70C1CF57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280D8A-94DD-416C-8654-5E6B00C3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4D947318-68DA-478A-8CE5-2E6EA591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96C299E8-2E0A-4141-A04C-AEE0211A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Tindakan penerima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4AAEF3-AD3C-4C97-8915-6057AC27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9BAB2B-755C-40E8-9482-7F405074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801632FB-A999-4F37-BDC2-5834317F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9F22AEBA-5F3A-4678-93A8-A88C85A2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Penomboran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6EEFEE-31E8-4B74-B9F0-8A820F53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095BB6-2078-4A12-82CA-588F6797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ard-number-6">
            <a:extLst xmlns:a="http://schemas.openxmlformats.org/drawingml/2006/main">
              <a:ext uri="{FF2B5EF4-FFF2-40B4-BE49-F238E27FC236}">
                <a16:creationId xmlns:a16="http://schemas.microsoft.com/office/drawing/2014/main" id="{A1110939-3B17-48A7-9DD5-401555A6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5" name="card-title-6">
            <a:extLst xmlns:a="http://schemas.openxmlformats.org/drawingml/2006/main">
              <a:ext uri="{FF2B5EF4-FFF2-40B4-BE49-F238E27FC236}">
                <a16:creationId xmlns:a16="http://schemas.microsoft.com/office/drawing/2014/main" id="{BC267088-4CB0-4F3B-8E23-A09111F2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Lampiran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AE839C-D804-4556-994F-0F367740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4AFF54-D014-4429-8004-08BC6552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ard-number-7">
            <a:extLst xmlns:a="http://schemas.openxmlformats.org/drawingml/2006/main">
              <a:ext uri="{FF2B5EF4-FFF2-40B4-BE49-F238E27FC236}">
                <a16:creationId xmlns:a16="http://schemas.microsoft.com/office/drawing/2014/main" id="{77B2ACDF-E21C-45F1-84C7-D06363A3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9" name="card-title-7">
            <a:extLst xmlns:a="http://schemas.openxmlformats.org/drawingml/2006/main">
              <a:ext uri="{FF2B5EF4-FFF2-40B4-BE49-F238E27FC236}">
                <a16:creationId xmlns:a16="http://schemas.microsoft.com/office/drawing/2014/main" id="{D3E81B08-FAC7-498C-8276-DEFFD7B6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Nama &amp; kuasa</a:t>
            </a:r>
          </a:p>
        </p:txBody>
      </p:sp>
    </p:spTree>
    <p:extLst>
      <p:ext uri="{BB962C8B-B14F-4D97-AF65-F5344CB8AC3E}">
        <p14:creationId xmlns:p14="http://schemas.microsoft.com/office/powerpoint/2010/main" val="1278195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14">
            <a:extLst xmlns:a="http://schemas.openxmlformats.org/drawingml/2006/main">
              <a:ext uri="{FF2B5EF4-FFF2-40B4-BE49-F238E27FC236}">
                <a16:creationId xmlns:a16="http://schemas.microsoft.com/office/drawing/2014/main" id="{AB8FE1DE-C1E1-49C5-902E-B9AC19F7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SURAT RASMI</a:t>
            </a:r>
          </a:p>
        </p:txBody>
      </p:sp>
      <p:sp>
        <p:nvSpPr>
          <p:cNvPr id="2" name="number-14">
            <a:extLst xmlns:a="http://schemas.openxmlformats.org/drawingml/2006/main">
              <a:ext uri="{FF2B5EF4-FFF2-40B4-BE49-F238E27FC236}">
                <a16:creationId xmlns:a16="http://schemas.microsoft.com/office/drawing/2014/main" id="{63C069F6-7E6A-4986-80A7-2AF7B6D2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13575-A24F-4FE2-A490-C9362FBB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4">
            <a:extLst xmlns:a="http://schemas.openxmlformats.org/drawingml/2006/main">
              <a:ext uri="{FF2B5EF4-FFF2-40B4-BE49-F238E27FC236}">
                <a16:creationId xmlns:a16="http://schemas.microsoft.com/office/drawing/2014/main" id="{4FEA9B94-DD12-422B-B971-F6DD730C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14">
            <a:extLst xmlns:a="http://schemas.openxmlformats.org/drawingml/2006/main">
              <a:ext uri="{FF2B5EF4-FFF2-40B4-BE49-F238E27FC236}">
                <a16:creationId xmlns:a16="http://schemas.microsoft.com/office/drawing/2014/main" id="{BCEA5A7B-58D5-45BD-95C8-9102FCFE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14/26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EC5656-4EDB-4108-B942-2F445F49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Kes latihan surat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1A3B9E61-8326-4138-8265-C2D0748D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Pemakluman dan pengesahan jadual kalibrasi peralatan MPE — data rekaan.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7B8A1-CA35-4F0B-9302-AED33507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65849-E45D-4FBA-BAED-06F1F9A5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8E1A822C-E295-44FF-B9CD-7DD9FC3D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B89D9CB6-A53B-466E-B1F6-77F71147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31559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Tiga peralatan · tarikh cadangan · tempat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7512C-C51F-4286-9B88-A6FEE4E8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44524-DBC1-4022-A38F-578CFF94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66598A14-CBE6-4494-BA00-8EC2B4C8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Tindakan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7DF4FE00-6A6B-48FB-AE83-54F241C5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24200"/>
            <a:ext cx="31559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Pengesahan penerima · tarikh maklum balas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6B3E0B-1886-4E3C-9A2A-64AD615C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968FE-DB8C-4009-B471-36D2764E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592B5C6B-A837-46C9-9C6D-6375D373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19" name="card-body-2">
            <a:extLst xmlns:a="http://schemas.openxmlformats.org/drawingml/2006/main">
              <a:ext uri="{FF2B5EF4-FFF2-40B4-BE49-F238E27FC236}">
                <a16:creationId xmlns:a16="http://schemas.microsoft.com/office/drawing/2014/main" id="{5C6530DD-6FB8-4B11-98E9-F8FBC77E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124200"/>
            <a:ext cx="31559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Draf maksimum satu setengah halaman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037F12-1AC1-4F24-88C2-C49C6D93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0"/>
            <a:ext cx="857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itch">
            <a:extLst xmlns:a="http://schemas.openxmlformats.org/drawingml/2006/main">
              <a:ext uri="{FF2B5EF4-FFF2-40B4-BE49-F238E27FC236}">
                <a16:creationId xmlns:a16="http://schemas.microsoft.com/office/drawing/2014/main" id="{FF5E6C4C-78CA-4A72-8B83-1781F2BC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007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Identiti dan nombor rujukan mestilah rekaan.</a:t>
            </a:r>
          </a:p>
        </p:txBody>
      </p:sp>
    </p:spTree>
    <p:extLst>
      <p:ext uri="{BB962C8B-B14F-4D97-AF65-F5344CB8AC3E}">
        <p14:creationId xmlns:p14="http://schemas.microsoft.com/office/powerpoint/2010/main" val="12982196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15">
            <a:extLst xmlns:a="http://schemas.openxmlformats.org/drawingml/2006/main">
              <a:ext uri="{FF2B5EF4-FFF2-40B4-BE49-F238E27FC236}">
                <a16:creationId xmlns:a16="http://schemas.microsoft.com/office/drawing/2014/main" id="{315CE242-8B8C-4ACA-948D-7C582F45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AKTIVITI</a:t>
            </a:r>
          </a:p>
        </p:txBody>
      </p:sp>
      <p:sp>
        <p:nvSpPr>
          <p:cNvPr id="2" name="number-15">
            <a:extLst xmlns:a="http://schemas.openxmlformats.org/drawingml/2006/main">
              <a:ext uri="{FF2B5EF4-FFF2-40B4-BE49-F238E27FC236}">
                <a16:creationId xmlns:a16="http://schemas.microsoft.com/office/drawing/2014/main" id="{0759B8DB-63B2-4C03-808F-6CD236B3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D9B0D-9DF6-44B9-BE35-92A5AA3D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5">
            <a:extLst xmlns:a="http://schemas.openxmlformats.org/drawingml/2006/main">
              <a:ext uri="{FF2B5EF4-FFF2-40B4-BE49-F238E27FC236}">
                <a16:creationId xmlns:a16="http://schemas.microsoft.com/office/drawing/2014/main" id="{74C8FAE6-B33C-43C8-B35B-E0309CED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15">
            <a:extLst xmlns:a="http://schemas.openxmlformats.org/drawingml/2006/main">
              <a:ext uri="{FF2B5EF4-FFF2-40B4-BE49-F238E27FC236}">
                <a16:creationId xmlns:a16="http://schemas.microsoft.com/office/drawing/2014/main" id="{9BCD36A9-EDAB-4FFE-8710-FD83574E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15/26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EDB3E6-BB9E-4A7D-AE3E-6A449EBA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Aktiviti surat · 25 minit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FBD693B8-E829-4BB2-9A37-414D180A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Daripada fakta diluluskan kepada draf yang telah diaudit.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89ED5-2C0B-4788-A1D5-EE146029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065020" cy="28194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D7003-A4F4-4374-ADEC-A57DF8F1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2846CA23-CEF1-4193-84CA-4E865A34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0–5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02EEA5FB-AFE2-4A24-8549-AA11370C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66497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Semak fakta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432AF-5F29-41CA-BCF5-04DDB8A2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2065020" cy="28194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7E653-8F0B-4B28-AA46-9C71B1CE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3195728E-C84C-465F-AD92-D20FA336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5–10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30D76020-F07D-4306-872B-44EB7218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743200"/>
            <a:ext cx="166497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Jana draf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B717B1-CA9E-4F85-A16E-F5CBEC19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2065020" cy="28194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1DE26-6663-4191-A2A6-18BBC286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EA1ADC3C-F83D-4AC5-B2AA-F40E3F93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10–17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90D643D9-27A5-4807-A031-E0653895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743200"/>
            <a:ext cx="166497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F8BF08-C21B-44CC-B1E6-2DEBFA5B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2065020" cy="28194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CA7FE3-B393-4602-BF27-150E7E60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CF788C85-49E5-4161-84E6-9CE22150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17–22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7097F602-6751-45D0-A5EE-BCFEC942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743200"/>
            <a:ext cx="166497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Sunting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CF69D5-D75B-468F-A61E-AC9E2E8F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2065020" cy="28194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459DF1-0F2B-4C54-90D7-A99A7A8D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3032477D-1E0E-4B9B-A430-A87F6214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22–25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CC8983D9-9C36-4F60-B018-C9E565BE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743200"/>
            <a:ext cx="166497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Label versi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867622-A112-48C1-B403-8F21A29B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0"/>
            <a:ext cx="857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tch">
            <a:extLst xmlns:a="http://schemas.openxmlformats.org/drawingml/2006/main">
              <a:ext uri="{FF2B5EF4-FFF2-40B4-BE49-F238E27FC236}">
                <a16:creationId xmlns:a16="http://schemas.microsoft.com/office/drawing/2014/main" id="{C29326EA-625F-41E4-B78A-8C8293BA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007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D27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D272B"/>
                </a:solidFill>
                <a:latin typeface="Aptos"/>
                <a:ea typeface="Aptos"/>
                <a:cs typeface="Aptos"/>
              </a:rPr>
              <a:t>Hasil: v0.1-DRAF-AI → v0.2-SEMAKAN-PEGAWAI</a:t>
            </a:r>
          </a:p>
        </p:txBody>
      </p:sp>
    </p:spTree>
    <p:extLst>
      <p:ext uri="{BB962C8B-B14F-4D97-AF65-F5344CB8AC3E}">
        <p14:creationId xmlns:p14="http://schemas.microsoft.com/office/powerpoint/2010/main" val="19980655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16">
            <a:extLst xmlns:a="http://schemas.openxmlformats.org/drawingml/2006/main">
              <a:ext uri="{FF2B5EF4-FFF2-40B4-BE49-F238E27FC236}">
                <a16:creationId xmlns:a16="http://schemas.microsoft.com/office/drawing/2014/main" id="{B619B3FC-376D-4152-861D-F6863BC7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2" name="number-16">
            <a:extLst xmlns:a="http://schemas.openxmlformats.org/drawingml/2006/main">
              <a:ext uri="{FF2B5EF4-FFF2-40B4-BE49-F238E27FC236}">
                <a16:creationId xmlns:a16="http://schemas.microsoft.com/office/drawing/2014/main" id="{5D54834C-02EC-49E3-AB4F-18301F0A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EBF69-057E-42E0-8DFB-EF58323D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6">
            <a:extLst xmlns:a="http://schemas.openxmlformats.org/drawingml/2006/main">
              <a:ext uri="{FF2B5EF4-FFF2-40B4-BE49-F238E27FC236}">
                <a16:creationId xmlns:a16="http://schemas.microsoft.com/office/drawing/2014/main" id="{D39F5A53-234C-47AB-9505-ECD8FA44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16">
            <a:extLst xmlns:a="http://schemas.openxmlformats.org/drawingml/2006/main">
              <a:ext uri="{FF2B5EF4-FFF2-40B4-BE49-F238E27FC236}">
                <a16:creationId xmlns:a16="http://schemas.microsoft.com/office/drawing/2014/main" id="{2C02F323-CA03-4CA8-847C-DF6A1DB0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16/26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D9F09F-89C9-460D-A111-B569199A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Jangan minta AI “pastikan semuanya betul”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F490AB0F-16E3-4159-B104-FC5DC242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Semakan yang baik mempunyai kriteria dan bukti.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BCFCF-074F-413E-9A72-E1D7F719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6BDBF-0744-486B-823C-0AFA1930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4A08AB5B-F4BC-4267-A4AD-729250BD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38AA8236-C732-421E-A4E0-8A791717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Senarai fakta &amp; sumber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EC42E-F3B2-4A74-BE56-FA54EF7E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647764-AB13-43C3-B669-A7B3627C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4CF186B3-A277-4BC9-AAFA-6E849241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4784A5F0-C67B-4A89-BB11-4064B4E6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Tanda nombor tiada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69CA8A-830E-4717-9EBD-C4DF36A4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29F7A-D161-45BA-9463-BCC36752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68D6C896-148A-4E1D-8F49-CC36AB1B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F4A626AE-DC8A-4729-AB0A-83958787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Semak elemen surat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BAE14B-249C-4F3D-A28A-474C77C0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AFC0F2-15C1-4C00-891C-21B6FF12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2C8386FD-1C0E-42FB-8BF5-A22D6A96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108321E6-45D2-47B7-842D-59265DDD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Kesan makna kabur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13F985-5EEC-42DE-B098-5A1AD342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0F1124-9180-4630-BF3C-4B8E7DC4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DD935B1D-FBFE-49D8-B97F-2D6B117F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741F28A6-4E57-4B95-B463-8B4A7213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Asing wajib vs gaya</a:t>
            </a:r>
          </a:p>
        </p:txBody>
      </p:sp>
    </p:spTree>
    <p:extLst>
      <p:ext uri="{BB962C8B-B14F-4D97-AF65-F5344CB8AC3E}">
        <p14:creationId xmlns:p14="http://schemas.microsoft.com/office/powerpoint/2010/main" val="20088867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17">
            <a:extLst xmlns:a="http://schemas.openxmlformats.org/drawingml/2006/main">
              <a:ext uri="{FF2B5EF4-FFF2-40B4-BE49-F238E27FC236}">
                <a16:creationId xmlns:a16="http://schemas.microsoft.com/office/drawing/2014/main" id="{4E2E66DD-CEA5-4811-B645-687179DB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2" name="number-17">
            <a:extLst xmlns:a="http://schemas.openxmlformats.org/drawingml/2006/main">
              <a:ext uri="{FF2B5EF4-FFF2-40B4-BE49-F238E27FC236}">
                <a16:creationId xmlns:a16="http://schemas.microsoft.com/office/drawing/2014/main" id="{F7464DE4-15EB-45E7-ADF4-BB0B7A7F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37F81-B567-422A-BD0E-0B3890DF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7">
            <a:extLst xmlns:a="http://schemas.openxmlformats.org/drawingml/2006/main">
              <a:ext uri="{FF2B5EF4-FFF2-40B4-BE49-F238E27FC236}">
                <a16:creationId xmlns:a16="http://schemas.microsoft.com/office/drawing/2014/main" id="{D7D535A2-FDB3-4308-825E-5A5547CE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17">
            <a:extLst xmlns:a="http://schemas.openxmlformats.org/drawingml/2006/main">
              <a:ext uri="{FF2B5EF4-FFF2-40B4-BE49-F238E27FC236}">
                <a16:creationId xmlns:a16="http://schemas.microsoft.com/office/drawing/2014/main" id="{20DBDD9F-8D78-4866-93F3-806F9A5C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17/26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2FCF10-09EC-41DD-9BFA-8422BE19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Prompt audit surat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D8EDEFCB-47B2-4E50-99E8-F57AAA56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Audit dahulu; jangan tulis semula sebelum isu dikenal pasti.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7AD50-63ED-4C6A-AC88-2224A4E9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0363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main-content">
            <a:extLst xmlns:a="http://schemas.openxmlformats.org/drawingml/2006/main">
              <a:ext uri="{FF2B5EF4-FFF2-40B4-BE49-F238E27FC236}">
                <a16:creationId xmlns:a16="http://schemas.microsoft.com/office/drawing/2014/main" id="{5EB1B318-2D6B-42A1-9BFA-7B9073F9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19400"/>
            <a:ext cx="9486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Audit draf terhadap FAKTA DILULUSKAN.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Sediakan jadual: Petikan | Status | Bukti input | Pembetulan.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Status: DISOKONG · TIDAK DISOKONG · PERLU PENGESAHAN.</a:t>
            </a:r>
          </a:p>
        </p:txBody>
      </p:sp>
    </p:spTree>
    <p:extLst>
      <p:ext uri="{BB962C8B-B14F-4D97-AF65-F5344CB8AC3E}">
        <p14:creationId xmlns:p14="http://schemas.microsoft.com/office/powerpoint/2010/main" val="19948422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-18">
            <a:extLst xmlns:a="http://schemas.openxmlformats.org/drawingml/2006/main">
              <a:ext uri="{FF2B5EF4-FFF2-40B4-BE49-F238E27FC236}">
                <a16:creationId xmlns:a16="http://schemas.microsoft.com/office/drawing/2014/main" id="{151B01F0-7137-4C93-9DA0-596A5763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MINIT</a:t>
            </a:r>
          </a:p>
        </p:txBody>
      </p:sp>
      <p:sp>
        <p:nvSpPr>
          <p:cNvPr id="2" name="number-18">
            <a:extLst xmlns:a="http://schemas.openxmlformats.org/drawingml/2006/main">
              <a:ext uri="{FF2B5EF4-FFF2-40B4-BE49-F238E27FC236}">
                <a16:creationId xmlns:a16="http://schemas.microsoft.com/office/drawing/2014/main" id="{AA86AA5F-0213-40FF-8955-D162A0A2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C8B9B-382B-46D7-9C24-13BC00B1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8">
            <a:extLst xmlns:a="http://schemas.openxmlformats.org/drawingml/2006/main">
              <a:ext uri="{FF2B5EF4-FFF2-40B4-BE49-F238E27FC236}">
                <a16:creationId xmlns:a16="http://schemas.microsoft.com/office/drawing/2014/main" id="{D491BFCB-1675-48DF-B1A2-210DB8B7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18">
            <a:extLst xmlns:a="http://schemas.openxmlformats.org/drawingml/2006/main">
              <a:ext uri="{FF2B5EF4-FFF2-40B4-BE49-F238E27FC236}">
                <a16:creationId xmlns:a16="http://schemas.microsoft.com/office/drawing/2014/main" id="{A6E6E9E6-2F2D-4F16-8521-2BE753AD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18/26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9F461D-EC77-4130-B8DE-AB39BC0B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Daripada catatan kepada minit tindakan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0DDEE882-43A5-4392-805E-2C93D19B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AI tidak boleh menaik taraf cadangan menjadi keputusan.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C9999-085F-411F-B9A6-F217FC4F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07A76-48D4-49C0-8FE7-2CF81E41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31482770-A01D-422B-A662-12CCE69C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4643D04E-BCD4-4165-AC48-1F826A78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Catatan mentah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1F548-0D4A-4637-A803-E8DF5E80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EDF617-1197-45ED-BDE3-0DB55E4B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E933E046-B716-4561-8419-436F5451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69ED4D4D-82FA-4101-AC48-9AE63B16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7432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Perbincangan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D80D4D-05E2-4190-AFBD-B88C7594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A394D1-BA48-4EB9-B606-C854891A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763FABAB-B9B2-424C-BD3A-CBEDFD76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01FE7FD5-932A-4D0A-9EE9-F9DDEB0E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7432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5E832C-C99E-442C-B307-E03CE71A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AB8330-136E-4D3B-B6B9-8703120C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EE8FDAC7-6D13-485E-B85C-D0EA7AFA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9344C9D5-711B-4E20-BFA4-797844BD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Tindakan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B94B73-3758-4269-B47C-87441F8F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F136CD-1A4D-4763-9706-92FEC772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D7D78F4C-EC30-4049-A19E-3A53EC38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314825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7ED0682B-F547-44A3-A564-D8E5A8E4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6767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Pemilik &amp; tarikh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A57889-40FD-4369-866A-9065CA7A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827DFE-8FE9-4EFA-BEBD-72DB435B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C4687680-E0C4-4FFB-867E-38B0E0D5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314825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1CF948EA-62E9-4F2B-87C6-B538232F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767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Minit + daftar</a:t>
            </a:r>
          </a:p>
        </p:txBody>
      </p:sp>
    </p:spTree>
    <p:extLst>
      <p:ext uri="{BB962C8B-B14F-4D97-AF65-F5344CB8AC3E}">
        <p14:creationId xmlns:p14="http://schemas.microsoft.com/office/powerpoint/2010/main" val="13870360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-19">
            <a:extLst xmlns:a="http://schemas.openxmlformats.org/drawingml/2006/main">
              <a:ext uri="{FF2B5EF4-FFF2-40B4-BE49-F238E27FC236}">
                <a16:creationId xmlns:a16="http://schemas.microsoft.com/office/drawing/2014/main" id="{1DB4A79B-59E2-40FE-ACBF-F1942974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MINIT</a:t>
            </a:r>
          </a:p>
        </p:txBody>
      </p:sp>
      <p:sp>
        <p:nvSpPr>
          <p:cNvPr id="2" name="number-19">
            <a:extLst xmlns:a="http://schemas.openxmlformats.org/drawingml/2006/main">
              <a:ext uri="{FF2B5EF4-FFF2-40B4-BE49-F238E27FC236}">
                <a16:creationId xmlns:a16="http://schemas.microsoft.com/office/drawing/2014/main" id="{3BF37AEF-4DA8-4694-9F1B-98FE76D9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A4A4C-ABFC-4609-A20D-21EAFC52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9">
            <a:extLst xmlns:a="http://schemas.openxmlformats.org/drawingml/2006/main">
              <a:ext uri="{FF2B5EF4-FFF2-40B4-BE49-F238E27FC236}">
                <a16:creationId xmlns:a16="http://schemas.microsoft.com/office/drawing/2014/main" id="{36BDA194-B7ED-4826-A7CF-1B173D02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19">
            <a:extLst xmlns:a="http://schemas.openxmlformats.org/drawingml/2006/main">
              <a:ext uri="{FF2B5EF4-FFF2-40B4-BE49-F238E27FC236}">
                <a16:creationId xmlns:a16="http://schemas.microsoft.com/office/drawing/2014/main" id="{738FDF7E-3E19-4697-86F6-B24F5807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19/26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854115-C4B0-40DB-A436-CEC8C43C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Enam peraturan emas minit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933DE16E-ECF7-4B15-8D06-58E20BFF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Kekalkan maksud asal dan nyatakan ketidakpastian.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B6CA2-0381-45D4-AFFF-A0E255DB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EA27C-0505-40A9-9E1B-47E04709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6EB85515-D2E2-4CDD-8C16-D8CE0FAB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33125AD2-2459-4F95-9FED-7DB78F77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Jangan tambah kehadiran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A884C-F944-4125-98F5-507A33B7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7F136C-85CD-4AFE-86CD-C02CDCEC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3112FE99-3256-4DFA-BCCF-17BEABB7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4C672781-A700-4F0A-8F71-C1F15C2E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7432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Jangan cipta keputusan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E245F8-F03B-44F9-AB2B-C7AC121D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A8A7B7-32EE-44EE-825E-3D728B42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387726FC-6FF1-40A1-AF7F-EC934875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DF2DEAB9-01CA-4415-8A34-E25FCB2B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7432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Jangan teka pemilik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EBAEB9-941E-41D5-825B-667FD439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E9318B-CA6F-46AA-ACC6-57176550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9556349F-CAA5-44F7-A1B4-F3DDF59E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906F6627-69A2-408B-B037-3BF8C8E0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Jangan teka tarikh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309B85-5BA1-43AE-91FA-572935B1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CE76DC-76E7-4EC0-89C6-87E233A2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EBE53845-7794-4E0C-9BAA-2BEC8448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314825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A8605536-11EA-4ABF-8E70-07690E1B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6767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Kekalkan istilah teknikal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D357D8-965E-412B-A2E7-B5116968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7ECEE4-383D-4E13-8E66-58C70C1E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0FD16F40-0897-4340-8853-3D2CEEB7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314825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FC85AD46-DC33-4F83-8A28-ACF3DA84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767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Tanda [PERLU PENGESAHAN]</a:t>
            </a:r>
          </a:p>
        </p:txBody>
      </p:sp>
    </p:spTree>
    <p:extLst>
      <p:ext uri="{BB962C8B-B14F-4D97-AF65-F5344CB8AC3E}">
        <p14:creationId xmlns:p14="http://schemas.microsoft.com/office/powerpoint/2010/main" val="15326128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20">
            <a:extLst xmlns:a="http://schemas.openxmlformats.org/drawingml/2006/main">
              <a:ext uri="{FF2B5EF4-FFF2-40B4-BE49-F238E27FC236}">
                <a16:creationId xmlns:a16="http://schemas.microsoft.com/office/drawing/2014/main" id="{4FF08416-92E3-4663-8E23-2BD55FFD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AKTIVITI</a:t>
            </a:r>
          </a:p>
        </p:txBody>
      </p:sp>
      <p:sp>
        <p:nvSpPr>
          <p:cNvPr id="2" name="number-20">
            <a:extLst xmlns:a="http://schemas.openxmlformats.org/drawingml/2006/main">
              <a:ext uri="{FF2B5EF4-FFF2-40B4-BE49-F238E27FC236}">
                <a16:creationId xmlns:a16="http://schemas.microsoft.com/office/drawing/2014/main" id="{65A85DA6-C323-4447-AFA9-37C945C5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FBFB0-6C78-4AEB-90EE-127B3D3F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0">
            <a:extLst xmlns:a="http://schemas.openxmlformats.org/drawingml/2006/main">
              <a:ext uri="{FF2B5EF4-FFF2-40B4-BE49-F238E27FC236}">
                <a16:creationId xmlns:a16="http://schemas.microsoft.com/office/drawing/2014/main" id="{0921B146-05BA-4976-9002-EFEA1FA9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20">
            <a:extLst xmlns:a="http://schemas.openxmlformats.org/drawingml/2006/main">
              <a:ext uri="{FF2B5EF4-FFF2-40B4-BE49-F238E27FC236}">
                <a16:creationId xmlns:a16="http://schemas.microsoft.com/office/drawing/2014/main" id="{62D9BC2A-C0C8-4E5E-8D35-16FCC8C1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20/26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0F2E48-F8F6-47A3-8C6D-68A02FC2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Aktiviti minit · 20 minit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C513593F-7FE0-4ADE-9B87-E3EA5287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Hasilkan ringkasan, keputusan dan sekurang-kurangnya empat tindakan.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5BF63-CC47-4B4B-B8D1-4DC349EC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28194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F200A-CF23-4056-B91C-BF614C0B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7A972BF6-CF52-4B97-8299-F7898181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D75AEB15-98CC-4224-9A8C-6FDD4C38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4088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Salin 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12FBD-F0FC-4AD1-8297-55BC9EE2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28194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3C6EBA-F85F-4D9D-9D44-FCA5751F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E78E9449-549B-4507-AF36-88B27C3E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F51908CF-2B37-42C9-B6C8-0192E3F3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743200"/>
            <a:ext cx="2224088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Tampal catatan simulasi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0E6154-D8E3-410C-B727-680CB31D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28194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FAE76A-F678-46FC-94D9-E7CCE8C4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1E4F05EF-7412-4156-B926-415DA20E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30052F3E-7BF1-4EF2-87BE-6906287D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224088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Jana tiga bahagian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1DD850-953C-4714-B364-7EC6431B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28194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E7BA7B-0113-4AEF-8FEC-82ADF752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88972D83-A223-478E-B0B3-C881F380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0C6528CD-5598-43C6-872B-63117865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743200"/>
            <a:ext cx="2224088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Tanda ketidakpastian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6B838F-0D67-42F4-A8B4-BF04ACC4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0"/>
            <a:ext cx="857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itch">
            <a:extLst xmlns:a="http://schemas.openxmlformats.org/drawingml/2006/main">
              <a:ext uri="{FF2B5EF4-FFF2-40B4-BE49-F238E27FC236}">
                <a16:creationId xmlns:a16="http://schemas.microsoft.com/office/drawing/2014/main" id="{671D5AA6-BD99-4BE4-944E-737DC970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007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D27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D272B"/>
                </a:solidFill>
                <a:latin typeface="Aptos"/>
                <a:ea typeface="Aptos"/>
                <a:cs typeface="Aptos"/>
              </a:rPr>
              <a:t>Bandingkan hasil dengan kumpulan lain menggunakan rubrik yang sama.</a:t>
            </a:r>
          </a:p>
        </p:txBody>
      </p:sp>
    </p:spTree>
    <p:extLst>
      <p:ext uri="{BB962C8B-B14F-4D97-AF65-F5344CB8AC3E}">
        <p14:creationId xmlns:p14="http://schemas.microsoft.com/office/powerpoint/2010/main" val="9735253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ection-21">
            <a:extLst xmlns:a="http://schemas.openxmlformats.org/drawingml/2006/main">
              <a:ext uri="{FF2B5EF4-FFF2-40B4-BE49-F238E27FC236}">
                <a16:creationId xmlns:a16="http://schemas.microsoft.com/office/drawing/2014/main" id="{D4500531-1A8E-4371-8233-E05A23F9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TINDAKAN</a:t>
            </a:r>
          </a:p>
        </p:txBody>
      </p:sp>
      <p:sp>
        <p:nvSpPr>
          <p:cNvPr id="2" name="number-21">
            <a:extLst xmlns:a="http://schemas.openxmlformats.org/drawingml/2006/main">
              <a:ext uri="{FF2B5EF4-FFF2-40B4-BE49-F238E27FC236}">
                <a16:creationId xmlns:a16="http://schemas.microsoft.com/office/drawing/2014/main" id="{EBEE505C-A546-419B-B359-09A7C858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C1A7A-C9E8-4818-9199-F46648A3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1">
            <a:extLst xmlns:a="http://schemas.openxmlformats.org/drawingml/2006/main">
              <a:ext uri="{FF2B5EF4-FFF2-40B4-BE49-F238E27FC236}">
                <a16:creationId xmlns:a16="http://schemas.microsoft.com/office/drawing/2014/main" id="{55823703-1140-4CF7-8ED6-09D72849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21">
            <a:extLst xmlns:a="http://schemas.openxmlformats.org/drawingml/2006/main">
              <a:ext uri="{FF2B5EF4-FFF2-40B4-BE49-F238E27FC236}">
                <a16:creationId xmlns:a16="http://schemas.microsoft.com/office/drawing/2014/main" id="{A2C1CFB4-AD0F-4041-86B6-9301A52E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21/26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567586-4220-432F-AFB8-3DD22047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Struktur daftar tindakan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70497221-643A-41D9-A3A9-95519438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Jika pemilik atau tarikh tidak disebut, tulis [PERLU PENGESAHAN].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5D445-D7BA-4058-B9EF-E1276229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1323975"/>
          </a:xfrm>
          <a:prstGeom xmlns:a="http://schemas.openxmlformats.org/drawingml/2006/main" prst="roundRect">
            <a:avLst>
              <a:gd name="adj" fmla="val 8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8C812-5032-4594-896D-16581AD0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A9DF10C5-F22C-4EFB-86F4-5B13F476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1E67F9EF-3C57-4AD5-AEDB-C0207D95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31559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0FAA1-6525-4829-A4F7-48DFDE54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1323975"/>
          </a:xfrm>
          <a:prstGeom xmlns:a="http://schemas.openxmlformats.org/drawingml/2006/main" prst="roundRect">
            <a:avLst>
              <a:gd name="adj" fmla="val 8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7FE18-14A6-4618-849F-D8AFA875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6D7EB7D0-7139-45B0-87FF-0D3B6575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B9336F33-5B06-4C65-AE83-89DD1991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743200"/>
            <a:ext cx="31559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Tindakan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9DCD3-3CB0-44CB-92A5-E1972DDE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1323975"/>
          </a:xfrm>
          <a:prstGeom xmlns:a="http://schemas.openxmlformats.org/drawingml/2006/main" prst="roundRect">
            <a:avLst>
              <a:gd name="adj" fmla="val 8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32645-90C5-4047-B2B9-D7635924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6CAF0512-8A64-449F-9DDE-48F9A37C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616DABB1-30D9-402A-AF71-84CD7EF0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743200"/>
            <a:ext cx="31559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Pemilik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78F8A1-2465-4D34-B403-F6AC00DE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05225"/>
            <a:ext cx="3556000" cy="1323975"/>
          </a:xfrm>
          <a:prstGeom xmlns:a="http://schemas.openxmlformats.org/drawingml/2006/main" prst="roundRect">
            <a:avLst>
              <a:gd name="adj" fmla="val 8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495499-EC1C-405D-8685-25677EB6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05225"/>
            <a:ext cx="6667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5236CA14-2B53-4BDA-A29F-558CA2F1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35678474-5D27-4D95-87D3-40D11EB7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31559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Tarikh sasaran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EDF8F9-7302-4A01-9510-F195BE99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3705225"/>
            <a:ext cx="3556000" cy="1323975"/>
          </a:xfrm>
          <a:prstGeom xmlns:a="http://schemas.openxmlformats.org/drawingml/2006/main" prst="roundRect">
            <a:avLst>
              <a:gd name="adj" fmla="val 8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9EF9D4-F4A6-4B1A-96A3-27128AF6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3705225"/>
            <a:ext cx="6667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288A5B68-9D99-40DD-BC95-67564306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876675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370C89C1-A3D4-4C37-9CF6-78DC9AB1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238625"/>
            <a:ext cx="31559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Bukti siap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DDF8E8-6DB2-43BF-A71C-C934D9B7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3705225"/>
            <a:ext cx="3556000" cy="1323975"/>
          </a:xfrm>
          <a:prstGeom xmlns:a="http://schemas.openxmlformats.org/drawingml/2006/main" prst="roundRect">
            <a:avLst>
              <a:gd name="adj" fmla="val 8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CB25F5-CEDE-4EC6-9665-AA2D36FB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3705225"/>
            <a:ext cx="6667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892DE294-4672-4CB2-9415-9C1612EC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876675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295E6E6C-C08E-48CC-BB73-B3137EC9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38625"/>
            <a:ext cx="31559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E18916-B5C7-45AA-9274-B5B433B5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0"/>
            <a:ext cx="857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itch">
            <a:extLst xmlns:a="http://schemas.openxmlformats.org/drawingml/2006/main">
              <a:ext uri="{FF2B5EF4-FFF2-40B4-BE49-F238E27FC236}">
                <a16:creationId xmlns:a16="http://schemas.microsoft.com/office/drawing/2014/main" id="{94CF775D-A98D-4978-8CFC-90405360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007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T01 · Tindakan · Pemilik · Tarikh · Bukti · Belum mula</a:t>
            </a:r>
          </a:p>
        </p:txBody>
      </p:sp>
    </p:spTree>
    <p:extLst>
      <p:ext uri="{BB962C8B-B14F-4D97-AF65-F5344CB8AC3E}">
        <p14:creationId xmlns:p14="http://schemas.microsoft.com/office/powerpoint/2010/main" val="36559332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22">
            <a:extLst xmlns:a="http://schemas.openxmlformats.org/drawingml/2006/main">
              <a:ext uri="{FF2B5EF4-FFF2-40B4-BE49-F238E27FC236}">
                <a16:creationId xmlns:a16="http://schemas.microsoft.com/office/drawing/2014/main" id="{0A94FE1E-C4DA-49A8-AFFE-13E87ED9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PERBANDINGAN</a:t>
            </a:r>
          </a:p>
        </p:txBody>
      </p:sp>
      <p:sp>
        <p:nvSpPr>
          <p:cNvPr id="2" name="number-22">
            <a:extLst xmlns:a="http://schemas.openxmlformats.org/drawingml/2006/main">
              <a:ext uri="{FF2B5EF4-FFF2-40B4-BE49-F238E27FC236}">
                <a16:creationId xmlns:a16="http://schemas.microsoft.com/office/drawing/2014/main" id="{12A30D77-1259-4C47-A3E2-6C6BA0EA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BDF07-1F3E-451F-9CE9-9DE3D0DE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2">
            <a:extLst xmlns:a="http://schemas.openxmlformats.org/drawingml/2006/main">
              <a:ext uri="{FF2B5EF4-FFF2-40B4-BE49-F238E27FC236}">
                <a16:creationId xmlns:a16="http://schemas.microsoft.com/office/drawing/2014/main" id="{1219776A-94A6-4CA8-85D8-B1C44102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22">
            <a:extLst xmlns:a="http://schemas.openxmlformats.org/drawingml/2006/main">
              <a:ext uri="{FF2B5EF4-FFF2-40B4-BE49-F238E27FC236}">
                <a16:creationId xmlns:a16="http://schemas.microsoft.com/office/drawing/2014/main" id="{F2B07678-30E0-41C4-ACAA-BAC15A21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22/26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71B889-D766-458C-899B-42AE1F68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Galeri tiga platform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49D568A6-68E9-40C2-9ED4-FFEF42B7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Nama platform bukan komponen skor.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2D05C-F7FE-4BF0-82D2-C4E92203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065020" cy="28194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3FE5D-92D3-48BA-AE4B-8C30D766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C3DF3FBB-DCF1-4127-98E8-9B0655F4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0–2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82D59D79-7C30-4D9B-AAA9-08A8C3F2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66497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Ketepatan fakta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9A419F-308D-4710-A02F-D39EE376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2065020" cy="28194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78B0A-8BCC-45FC-97E3-2A9827AF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A5BA10B0-D343-45A1-9A55-BDB351B4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0–2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C702EE53-3CCF-4A1E-A6B2-6A43F3A4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743200"/>
            <a:ext cx="166497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Pematuhan arahan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02792-2296-4EEB-A761-23A3F302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2065020" cy="28194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8FE7A-DF86-46E8-B3D0-43CD9DAA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1089E7FF-B159-4BEC-8797-90C43EF5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0–2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70449B91-B33D-4C24-9146-52BE4176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743200"/>
            <a:ext cx="166497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Kejelasan bahasa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467DE9-B1ED-43ED-A7F6-6E815DEB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2065020" cy="28194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F6EB63-E7BC-4247-8787-BFB6DCDA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F175B1E0-DDF2-476F-92E0-6D166EDF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0–2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67EE579C-6389-4E2B-851F-8F46D7D2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743200"/>
            <a:ext cx="166497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Tanda ketidakpastian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4772D0-FDA4-4B14-B0AC-E92FFCFC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2065020" cy="28194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6DAE97-1FCB-4960-B525-BB35E1BF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9A8C1D3C-4D27-4E05-A7F0-64CE9DD8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0–2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4A2AB506-AF4A-4A04-88C2-363CF9D0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743200"/>
            <a:ext cx="166497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Boleh guna selepas semakan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29619F-8E91-47D6-8E44-F90C028B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0"/>
            <a:ext cx="857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tch">
            <a:extLst xmlns:a="http://schemas.openxmlformats.org/drawingml/2006/main">
              <a:ext uri="{FF2B5EF4-FFF2-40B4-BE49-F238E27FC236}">
                <a16:creationId xmlns:a16="http://schemas.microsoft.com/office/drawing/2014/main" id="{E7CB5AE6-E14C-4A2F-8904-552BA896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007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Jumlah maksimum: 10</a:t>
            </a:r>
          </a:p>
        </p:txBody>
      </p:sp>
    </p:spTree>
    <p:extLst>
      <p:ext uri="{BB962C8B-B14F-4D97-AF65-F5344CB8AC3E}">
        <p14:creationId xmlns:p14="http://schemas.microsoft.com/office/powerpoint/2010/main" val="9854267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23">
            <a:extLst xmlns:a="http://schemas.openxmlformats.org/drawingml/2006/main">
              <a:ext uri="{FF2B5EF4-FFF2-40B4-BE49-F238E27FC236}">
                <a16:creationId xmlns:a16="http://schemas.microsoft.com/office/drawing/2014/main" id="{B51553EA-489A-411C-9AFB-5C18B7BD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REKOD</a:t>
            </a:r>
          </a:p>
        </p:txBody>
      </p:sp>
      <p:sp>
        <p:nvSpPr>
          <p:cNvPr id="2" name="number-23">
            <a:extLst xmlns:a="http://schemas.openxmlformats.org/drawingml/2006/main">
              <a:ext uri="{FF2B5EF4-FFF2-40B4-BE49-F238E27FC236}">
                <a16:creationId xmlns:a16="http://schemas.microsoft.com/office/drawing/2014/main" id="{29377341-7EC9-47DD-8160-BA88C12C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5C4C8-9F56-4285-A601-7EE58861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3">
            <a:extLst xmlns:a="http://schemas.openxmlformats.org/drawingml/2006/main">
              <a:ext uri="{FF2B5EF4-FFF2-40B4-BE49-F238E27FC236}">
                <a16:creationId xmlns:a16="http://schemas.microsoft.com/office/drawing/2014/main" id="{9CE95E62-8CEE-448C-8279-6304608E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23">
            <a:extLst xmlns:a="http://schemas.openxmlformats.org/drawingml/2006/main">
              <a:ext uri="{FF2B5EF4-FFF2-40B4-BE49-F238E27FC236}">
                <a16:creationId xmlns:a16="http://schemas.microsoft.com/office/drawing/2014/main" id="{88635347-7F28-4EDC-9CFD-BE8D130A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23/26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BE53B9-F463-4B59-A06A-532B6626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Versi dokumen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6C67A674-58DF-412A-941E-E87AE047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Status versi mesti jelas sebelum dokumen bergerak.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89874-5A50-434F-B09A-9904F5B7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28194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C0E69-36C8-4553-BF27-66FE5692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1FCBFD30-8EB3-4DAA-82ED-FC2D3756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v0.1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5770CF72-4310-43F7-BE57-7316CD49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4088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Draf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D3643-CE97-4548-AD97-601726D0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28194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EF83B0-D75C-438B-A1CE-E1E0993F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D35218AE-2FFE-4772-87F6-5090EE83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v0.2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B6E57451-FB1B-4A62-9477-EBC8E674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743200"/>
            <a:ext cx="2224088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Semakan penyedia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874CF-82C7-47B2-8F9F-6CD4BF0B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28194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5B0FA0-8135-466B-B0F9-693FDEB3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2701BBD5-1A1F-4719-8488-0142B175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v0.3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FD9E45A5-D24C-4468-A961-9E947BE6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224088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Semakan pegawai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09031-2C29-4238-949D-9EA9C51C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28194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7C0B0B-E49F-4D01-8890-ABE9E784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372502B7-DA53-4046-BDC9-4690111F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v1.0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C085E2A5-C458-4F36-AB30-E08AE26E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743200"/>
            <a:ext cx="2224088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Diluluskan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75926-15AD-446C-9282-8FF9C6F0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0"/>
            <a:ext cx="857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itch">
            <a:extLst xmlns:a="http://schemas.openxmlformats.org/drawingml/2006/main">
              <a:ext uri="{FF2B5EF4-FFF2-40B4-BE49-F238E27FC236}">
                <a16:creationId xmlns:a16="http://schemas.microsoft.com/office/drawing/2014/main" id="{A1823AB4-D8CE-4EC9-96A4-F5A3CB72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007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MPE-Surat-Kalibrasi-20260728-v1.0-DILULUSKAN.pdf</a:t>
            </a:r>
          </a:p>
        </p:txBody>
      </p:sp>
    </p:spTree>
    <p:extLst>
      <p:ext uri="{BB962C8B-B14F-4D97-AF65-F5344CB8AC3E}">
        <p14:creationId xmlns:p14="http://schemas.microsoft.com/office/powerpoint/2010/main" val="6631926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24">
            <a:extLst xmlns:a="http://schemas.openxmlformats.org/drawingml/2006/main">
              <a:ext uri="{FF2B5EF4-FFF2-40B4-BE49-F238E27FC236}">
                <a16:creationId xmlns:a16="http://schemas.microsoft.com/office/drawing/2014/main" id="{E835AB12-D7C8-4F04-901C-89D2AE77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REKOD</a:t>
            </a:r>
          </a:p>
        </p:txBody>
      </p:sp>
      <p:sp>
        <p:nvSpPr>
          <p:cNvPr id="2" name="number-24">
            <a:extLst xmlns:a="http://schemas.openxmlformats.org/drawingml/2006/main">
              <a:ext uri="{FF2B5EF4-FFF2-40B4-BE49-F238E27FC236}">
                <a16:creationId xmlns:a16="http://schemas.microsoft.com/office/drawing/2014/main" id="{E73A151F-5ADC-4585-9EE3-AC7B8D3B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BF4C9-7E59-4403-AE99-B917682C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4">
            <a:extLst xmlns:a="http://schemas.openxmlformats.org/drawingml/2006/main">
              <a:ext uri="{FF2B5EF4-FFF2-40B4-BE49-F238E27FC236}">
                <a16:creationId xmlns:a16="http://schemas.microsoft.com/office/drawing/2014/main" id="{C78DAAFE-CF14-46E6-B746-474B46EB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24">
            <a:extLst xmlns:a="http://schemas.openxmlformats.org/drawingml/2006/main">
              <a:ext uri="{FF2B5EF4-FFF2-40B4-BE49-F238E27FC236}">
                <a16:creationId xmlns:a16="http://schemas.microsoft.com/office/drawing/2014/main" id="{4FD23D6D-CC06-4E1B-A66E-62725992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24/26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329566-5548-46F3-BE8D-288F4282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bukan sistem rekod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E82ECEB7-71EF-4DD8-B9C6-4067ADE8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Sejarah chat tidak menggantikan repositori rasmi jabatan.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DC60F-D597-46ED-8D5C-883392D2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1BDA6-1497-4B74-8C5F-8574D53F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D35CDE94-6329-46DE-8459-CD7EFBEA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B0D6125C-B1A0-4EB4-B7A2-A3C3CBF5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Simpan di lokasi rasmi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229A7-92C5-4FE0-B2E2-ED31BAA7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0CBD94-C81E-4D39-939C-3E3778C3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75E769CD-73A4-474F-A328-D7A0F40B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17312DBB-1EE9-494B-8065-7957D1BD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Kait nombor rujukan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7C541-B3FB-4996-B06B-14543F82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7C2147-247D-46CF-95E1-1A2BA27A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233F5982-BB8F-4F91-AF59-481A1662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FEC25DAB-71A8-4AAB-9FD7-AF853280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Rekod peranan &amp; tarikh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516DFC-CA2F-4E85-B931-32E5AD09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E37AAB-093F-420A-9E44-D3C0F6CB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DEEFC1A5-14EE-49ED-A738-68DD5549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F4824AA3-06F1-4D79-B030-B7B15476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Lindungi versi lulus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C5AE47-2BFB-43D2-8BCB-AA2E7772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4B0DC4-5D82-4B7B-B178-7B27C3B1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790C5157-48D7-4E70-8762-8C00B889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C3442EB2-A7EA-445E-A6FC-99027CB9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Ikut tempoh simpanan</a:t>
            </a:r>
          </a:p>
        </p:txBody>
      </p:sp>
    </p:spTree>
    <p:extLst>
      <p:ext uri="{BB962C8B-B14F-4D97-AF65-F5344CB8AC3E}">
        <p14:creationId xmlns:p14="http://schemas.microsoft.com/office/powerpoint/2010/main" val="11503648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-25">
            <a:extLst xmlns:a="http://schemas.openxmlformats.org/drawingml/2006/main">
              <a:ext uri="{FF2B5EF4-FFF2-40B4-BE49-F238E27FC236}">
                <a16:creationId xmlns:a16="http://schemas.microsoft.com/office/drawing/2014/main" id="{85DC0FC2-979D-49E1-AEFD-A6D7B772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SEMAKAN AKHIR</a:t>
            </a:r>
          </a:p>
        </p:txBody>
      </p:sp>
      <p:sp>
        <p:nvSpPr>
          <p:cNvPr id="2" name="number-25">
            <a:extLst xmlns:a="http://schemas.openxmlformats.org/drawingml/2006/main">
              <a:ext uri="{FF2B5EF4-FFF2-40B4-BE49-F238E27FC236}">
                <a16:creationId xmlns:a16="http://schemas.microsoft.com/office/drawing/2014/main" id="{1C09A5CB-562C-45C6-ACEE-819FCF99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DCAFD-61AA-4617-B1E4-9FF74BC6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5">
            <a:extLst xmlns:a="http://schemas.openxmlformats.org/drawingml/2006/main">
              <a:ext uri="{FF2B5EF4-FFF2-40B4-BE49-F238E27FC236}">
                <a16:creationId xmlns:a16="http://schemas.microsoft.com/office/drawing/2014/main" id="{D0A80D7E-91F2-45CB-858D-BCB926E8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25">
            <a:extLst xmlns:a="http://schemas.openxmlformats.org/drawingml/2006/main">
              <a:ext uri="{FF2B5EF4-FFF2-40B4-BE49-F238E27FC236}">
                <a16:creationId xmlns:a16="http://schemas.microsoft.com/office/drawing/2014/main" id="{38893112-3C05-4079-AB73-D04B8760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25/26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1D63A2-BCD2-4892-B9D7-4BB5AFAE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Sebelum dokumen bergerak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8C732A42-0221-4679-B72C-C15BF666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Enam pintu semakan sebelum dokumen digunakan atau dihantar.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E8AD2-CEEC-4C4C-BFFB-D78AAD93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85032-18AA-4C1D-A8DA-325B335F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1514E3AC-3372-4B06-865E-540586E8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Fakta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6ADEEEA7-FFF0-40A5-AB60-7F54DD2B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3155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Boleh dijejak?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A30F7-E257-4286-92E9-98AEC4EA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A53112-E614-41A7-9EA4-35A18C80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0164CB6C-E954-42A9-8DCB-EF623E0D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Format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9DD66A73-BE85-4546-9D67-FC16E1FC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24200"/>
            <a:ext cx="3155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Elemen lengkap?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496B2-85DB-4A2C-9171-45CF4B7C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88202-68E4-49DA-8DAF-39CC07DB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C8A9D2F9-C50B-40E4-B07A-A291E9AE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Bahasa</a:t>
            </a:r>
          </a:p>
        </p:txBody>
      </p:sp>
      <p:sp>
        <p:nvSpPr>
          <p:cNvPr id="19" name="card-body-2">
            <a:extLst xmlns:a="http://schemas.openxmlformats.org/drawingml/2006/main">
              <a:ext uri="{FF2B5EF4-FFF2-40B4-BE49-F238E27FC236}">
                <a16:creationId xmlns:a16="http://schemas.microsoft.com/office/drawing/2014/main" id="{86365A3F-7B94-4CB2-809E-37D0FE03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124200"/>
            <a:ext cx="3155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Jelas dan tepat?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1013CA-D4CD-4E9C-96A3-841B4352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E15671-BEC1-420C-96F2-B9933B47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0D2741D9-6183-44AC-B8AF-4E7F0EC9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Keselamatan</a:t>
            </a:r>
          </a:p>
        </p:txBody>
      </p:sp>
      <p:sp>
        <p:nvSpPr>
          <p:cNvPr id="23" name="card-body-3">
            <a:extLst xmlns:a="http://schemas.openxmlformats.org/drawingml/2006/main">
              <a:ext uri="{FF2B5EF4-FFF2-40B4-BE49-F238E27FC236}">
                <a16:creationId xmlns:a16="http://schemas.microsoft.com/office/drawing/2014/main" id="{5DF348E6-AE93-4CD8-8B97-2A92ADFE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57775"/>
            <a:ext cx="3155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Sensitiviti disemak?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827B78-54C4-48A8-A03A-4C1A5807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CF6E93-D0BE-498D-91E8-4CB814C8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DAE04DF7-BC75-4267-9035-6F754844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371975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Kuasa</a:t>
            </a:r>
          </a:p>
        </p:txBody>
      </p:sp>
      <p:sp>
        <p:nvSpPr>
          <p:cNvPr id="27" name="card-body-4">
            <a:extLst xmlns:a="http://schemas.openxmlformats.org/drawingml/2006/main">
              <a:ext uri="{FF2B5EF4-FFF2-40B4-BE49-F238E27FC236}">
                <a16:creationId xmlns:a16="http://schemas.microsoft.com/office/drawing/2014/main" id="{F9BF2CB0-0FDB-4132-A6FF-421AA828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5057775"/>
            <a:ext cx="3155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Penyemak betul?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A6DCB5-E5CD-4BAE-8597-23BFCD72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3169AF-3413-4CF6-B529-DAC2997C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B2F536E4-52B9-47A1-83F5-483D6EA7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371975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Rekod</a:t>
            </a:r>
          </a:p>
        </p:txBody>
      </p:sp>
      <p:sp>
        <p:nvSpPr>
          <p:cNvPr id="31" name="card-body-5">
            <a:extLst xmlns:a="http://schemas.openxmlformats.org/drawingml/2006/main">
              <a:ext uri="{FF2B5EF4-FFF2-40B4-BE49-F238E27FC236}">
                <a16:creationId xmlns:a16="http://schemas.microsoft.com/office/drawing/2014/main" id="{0ECF7296-5FD6-4298-ADCA-DD901B93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5057775"/>
            <a:ext cx="3155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Versi dan lokasi jelas?</a:t>
            </a:r>
          </a:p>
        </p:txBody>
      </p:sp>
    </p:spTree>
    <p:extLst>
      <p:ext uri="{BB962C8B-B14F-4D97-AF65-F5344CB8AC3E}">
        <p14:creationId xmlns:p14="http://schemas.microsoft.com/office/powerpoint/2010/main" val="75543490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26">
            <a:extLst xmlns:a="http://schemas.openxmlformats.org/drawingml/2006/main">
              <a:ext uri="{FF2B5EF4-FFF2-40B4-BE49-F238E27FC236}">
                <a16:creationId xmlns:a16="http://schemas.microsoft.com/office/drawing/2014/main" id="{5909C1AE-2E02-479F-9F2E-DF31CBFF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PENUTUP</a:t>
            </a:r>
          </a:p>
        </p:txBody>
      </p:sp>
      <p:sp>
        <p:nvSpPr>
          <p:cNvPr id="2" name="number-26">
            <a:extLst xmlns:a="http://schemas.openxmlformats.org/drawingml/2006/main">
              <a:ext uri="{FF2B5EF4-FFF2-40B4-BE49-F238E27FC236}">
                <a16:creationId xmlns:a16="http://schemas.microsoft.com/office/drawing/2014/main" id="{34E6A2E9-F3A6-4576-8617-E47925AB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49DB2-2B71-4B27-917B-482C9A3B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6">
            <a:extLst xmlns:a="http://schemas.openxmlformats.org/drawingml/2006/main">
              <a:ext uri="{FF2B5EF4-FFF2-40B4-BE49-F238E27FC236}">
                <a16:creationId xmlns:a16="http://schemas.microsoft.com/office/drawing/2014/main" id="{1DB6B504-EF29-432C-8FEA-DE732D74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2 · CREaTE JKR · 2026</a:t>
            </a:r>
          </a:p>
        </p:txBody>
      </p:sp>
      <p:sp>
        <p:nvSpPr>
          <p:cNvPr id="5" name="progress-26">
            <a:extLst xmlns:a="http://schemas.openxmlformats.org/drawingml/2006/main">
              <a:ext uri="{FF2B5EF4-FFF2-40B4-BE49-F238E27FC236}">
                <a16:creationId xmlns:a16="http://schemas.microsoft.com/office/drawing/2014/main" id="{6C5B2E48-17F9-4C73-BAA0-8D1485C6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26/26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D61738-E4A0-4865-BEF5-A1776193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Tiga prinsip untuk dibawa pulang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29818239-5785-4D37-9F00-4B2BD339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Bantuan AI mesti berakhir dengan semakan manusia dan rekod rasmi.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FAE2D-1EA1-4BE6-9E60-1AA89F9B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B8C48-BCAE-47C8-930E-C6E8B5E2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7B297D34-BD82-482F-BEA1-6347F3B0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BE1B1278-B88E-4E6E-AE59-88FFD7F9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31559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Berikan fakta, bukan dokumen sensitif.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58EAFC-6F14-46E5-8D03-F3EFF83E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31666-20ED-47E7-9EA9-B170996B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57B82DEA-7D54-4E8E-B750-0AD14494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BDDC89E8-4C67-4D30-AE0C-845C39F9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743200"/>
            <a:ext cx="31559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Minta draf, bukan keputusan.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68F338-98EC-4E23-AD66-7FA122EE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21464A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643016-75ED-4500-9D7C-25024CB7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EF676006-C7E3-4164-9091-558AA3C5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FB104EF7-A9BF-4747-B822-8ED619C2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743200"/>
            <a:ext cx="31559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Sahkan dan rekod sebelum digunakan.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865B49-87C7-44C3-A0D0-4846327E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0"/>
            <a:ext cx="857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itch">
            <a:extLst xmlns:a="http://schemas.openxmlformats.org/drawingml/2006/main">
              <a:ext uri="{FF2B5EF4-FFF2-40B4-BE49-F238E27FC236}">
                <a16:creationId xmlns:a16="http://schemas.microsoft.com/office/drawing/2014/main" id="{C0CE816F-CF32-4BB3-9256-02F7AF0A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007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D27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D272B"/>
                </a:solidFill>
                <a:latin typeface="Aptos"/>
                <a:ea typeface="Aptos"/>
                <a:cs typeface="Aptos"/>
              </a:rPr>
              <a:t>Exit ticket: prompt berguna · risiko dikawal · semakan manusia</a:t>
            </a:r>
          </a:p>
        </p:txBody>
      </p:sp>
    </p:spTree>
    <p:extLst>
      <p:ext uri="{BB962C8B-B14F-4D97-AF65-F5344CB8AC3E}">
        <p14:creationId xmlns:p14="http://schemas.microsoft.com/office/powerpoint/2010/main" val="20909240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2026-07-26T03:12:34.8390000Z</dcterms:created>
  <dcterms:modified xsi:type="dcterms:W3CDTF">2026-07-26T03:12:34.8400000Z</dcterms:modified>
</coreProperties>
</file>