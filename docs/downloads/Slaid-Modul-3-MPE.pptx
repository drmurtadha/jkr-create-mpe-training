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ec82b58ce2499e" /><Relationship Type="http://schemas.openxmlformats.org/officeDocument/2006/relationships/extended-properties" Target="/docProps/app.xml" Id="R4384d6c02cc74bb7" /><Relationship Type="http://schemas.openxmlformats.org/officeDocument/2006/relationships/officeDocument" Target="/ppt/presentation.xml" Id="R87ed6558afc441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dafd1ffda24b9d"/>
  </p:sldMasterIdLst>
  <p:notesMasterIdLst>
    <p:notesMasterId xmlns:r="http://schemas.openxmlformats.org/officeDocument/2006/relationships" r:id="R67562e59b3ac4265"/>
  </p:notesMasterIdLst>
  <p:sldIdLst>
    <p:sldId xmlns:r="http://schemas.openxmlformats.org/officeDocument/2006/relationships" id="256" r:id="R06c79e958ad648ab"/>
    <p:sldId xmlns:r="http://schemas.openxmlformats.org/officeDocument/2006/relationships" id="257" r:id="R10a404cbf14847ca"/>
    <p:sldId xmlns:r="http://schemas.openxmlformats.org/officeDocument/2006/relationships" id="258" r:id="Rf25ee2d831674b99"/>
    <p:sldId xmlns:r="http://schemas.openxmlformats.org/officeDocument/2006/relationships" id="259" r:id="R1000c25e1a304b22"/>
    <p:sldId xmlns:r="http://schemas.openxmlformats.org/officeDocument/2006/relationships" id="260" r:id="R266c49bb805942ab"/>
    <p:sldId xmlns:r="http://schemas.openxmlformats.org/officeDocument/2006/relationships" id="261" r:id="Rd77d1101e94846ef"/>
    <p:sldId xmlns:r="http://schemas.openxmlformats.org/officeDocument/2006/relationships" id="262" r:id="R27148e4b4bc14015"/>
    <p:sldId xmlns:r="http://schemas.openxmlformats.org/officeDocument/2006/relationships" id="263" r:id="R4814226456114c23"/>
    <p:sldId xmlns:r="http://schemas.openxmlformats.org/officeDocument/2006/relationships" id="264" r:id="Re6a58b9dd35b456d"/>
    <p:sldId xmlns:r="http://schemas.openxmlformats.org/officeDocument/2006/relationships" id="265" r:id="R48993e80bd134266"/>
    <p:sldId xmlns:r="http://schemas.openxmlformats.org/officeDocument/2006/relationships" id="266" r:id="R0f0eaef40e334c91"/>
    <p:sldId xmlns:r="http://schemas.openxmlformats.org/officeDocument/2006/relationships" id="267" r:id="Rd31a09d44c2f417c"/>
    <p:sldId xmlns:r="http://schemas.openxmlformats.org/officeDocument/2006/relationships" id="268" r:id="R53e9d0f73c09434e"/>
    <p:sldId xmlns:r="http://schemas.openxmlformats.org/officeDocument/2006/relationships" id="269" r:id="R8ed10b096adf4e19"/>
    <p:sldId xmlns:r="http://schemas.openxmlformats.org/officeDocument/2006/relationships" id="270" r:id="R16a4b71a42af4f81"/>
    <p:sldId xmlns:r="http://schemas.openxmlformats.org/officeDocument/2006/relationships" id="271" r:id="R059c9971aba64b37"/>
    <p:sldId xmlns:r="http://schemas.openxmlformats.org/officeDocument/2006/relationships" id="272" r:id="R0e48503be4b347ee"/>
    <p:sldId xmlns:r="http://schemas.openxmlformats.org/officeDocument/2006/relationships" id="273" r:id="Ra1aa2f034b574ca5"/>
    <p:sldId xmlns:r="http://schemas.openxmlformats.org/officeDocument/2006/relationships" id="274" r:id="R99a2d5e855574d66"/>
    <p:sldId xmlns:r="http://schemas.openxmlformats.org/officeDocument/2006/relationships" id="275" r:id="Rdd46700d96504409"/>
    <p:sldId xmlns:r="http://schemas.openxmlformats.org/officeDocument/2006/relationships" id="276" r:id="R771003792e484223"/>
    <p:sldId xmlns:r="http://schemas.openxmlformats.org/officeDocument/2006/relationships" id="277" r:id="Rfe6f77e17f004233"/>
    <p:sldId xmlns:r="http://schemas.openxmlformats.org/officeDocument/2006/relationships" id="278" r:id="Rb1dcc366237a4028"/>
    <p:sldId xmlns:r="http://schemas.openxmlformats.org/officeDocument/2006/relationships" id="279" r:id="Ra4a6391e757a4562"/>
    <p:sldId xmlns:r="http://schemas.openxmlformats.org/officeDocument/2006/relationships" id="280" r:id="R5db3c2af76da4acc"/>
    <p:sldId xmlns:r="http://schemas.openxmlformats.org/officeDocument/2006/relationships" id="281" r:id="R7a2b9cee352545ef"/>
    <p:sldId xmlns:r="http://schemas.openxmlformats.org/officeDocument/2006/relationships" id="282" r:id="R24454f8945c64475"/>
    <p:sldId xmlns:r="http://schemas.openxmlformats.org/officeDocument/2006/relationships" id="283" r:id="R0a440e3962a142fd"/>
    <p:sldId xmlns:r="http://schemas.openxmlformats.org/officeDocument/2006/relationships" id="284" r:id="R5d1af90eab9a447f"/>
    <p:sldId xmlns:r="http://schemas.openxmlformats.org/officeDocument/2006/relationships" id="285" r:id="R93dabc46a8ce4b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794c928b5a7460e" /><Relationship Type="http://schemas.openxmlformats.org/officeDocument/2006/relationships/slideMaster" Target="/ppt/slideMasters/slideMaster1.xml" Id="R69dafd1ffda24b9d" /><Relationship Type="http://schemas.openxmlformats.org/officeDocument/2006/relationships/notesMaster" Target="/ppt/notesMasters/notesMaster1.xml" Id="R67562e59b3ac4265" /><Relationship Type="http://schemas.openxmlformats.org/officeDocument/2006/relationships/presProps" Target="/ppt/presProps.xml" Id="Rbfc32ff73eea43fc" /><Relationship Type="http://schemas.openxmlformats.org/officeDocument/2006/relationships/tableStyles" Target="/ppt/tableStyles.xml" Id="R8bd5d4255f6b4812" /><Relationship Type="http://schemas.openxmlformats.org/officeDocument/2006/relationships/slide" Target="/ppt/slides/slide1.xml" Id="R06c79e958ad648ab" /><Relationship Type="http://schemas.openxmlformats.org/officeDocument/2006/relationships/slide" Target="/ppt/slides/slide2.xml" Id="R10a404cbf14847ca" /><Relationship Type="http://schemas.openxmlformats.org/officeDocument/2006/relationships/slide" Target="/ppt/slides/slide3.xml" Id="Rf25ee2d831674b99" /><Relationship Type="http://schemas.openxmlformats.org/officeDocument/2006/relationships/slide" Target="/ppt/slides/slide4.xml" Id="R1000c25e1a304b22" /><Relationship Type="http://schemas.openxmlformats.org/officeDocument/2006/relationships/slide" Target="/ppt/slides/slide5.xml" Id="R266c49bb805942ab" /><Relationship Type="http://schemas.openxmlformats.org/officeDocument/2006/relationships/slide" Target="/ppt/slides/slide6.xml" Id="Rd77d1101e94846ef" /><Relationship Type="http://schemas.openxmlformats.org/officeDocument/2006/relationships/slide" Target="/ppt/slides/slide7.xml" Id="R27148e4b4bc14015" /><Relationship Type="http://schemas.openxmlformats.org/officeDocument/2006/relationships/slide" Target="/ppt/slides/slide8.xml" Id="R4814226456114c23" /><Relationship Type="http://schemas.openxmlformats.org/officeDocument/2006/relationships/slide" Target="/ppt/slides/slide9.xml" Id="Re6a58b9dd35b456d" /><Relationship Type="http://schemas.openxmlformats.org/officeDocument/2006/relationships/slide" Target="/ppt/slides/slide10.xml" Id="R48993e80bd134266" /><Relationship Type="http://schemas.openxmlformats.org/officeDocument/2006/relationships/slide" Target="/ppt/slides/slide11.xml" Id="R0f0eaef40e334c91" /><Relationship Type="http://schemas.openxmlformats.org/officeDocument/2006/relationships/slide" Target="/ppt/slides/slide12.xml" Id="Rd31a09d44c2f417c" /><Relationship Type="http://schemas.openxmlformats.org/officeDocument/2006/relationships/slide" Target="/ppt/slides/slide13.xml" Id="R53e9d0f73c09434e" /><Relationship Type="http://schemas.openxmlformats.org/officeDocument/2006/relationships/slide" Target="/ppt/slides/slide14.xml" Id="R8ed10b096adf4e19" /><Relationship Type="http://schemas.openxmlformats.org/officeDocument/2006/relationships/slide" Target="/ppt/slides/slide15.xml" Id="R16a4b71a42af4f81" /><Relationship Type="http://schemas.openxmlformats.org/officeDocument/2006/relationships/slide" Target="/ppt/slides/slide16.xml" Id="R059c9971aba64b37" /><Relationship Type="http://schemas.openxmlformats.org/officeDocument/2006/relationships/slide" Target="/ppt/slides/slide17.xml" Id="R0e48503be4b347ee" /><Relationship Type="http://schemas.openxmlformats.org/officeDocument/2006/relationships/slide" Target="/ppt/slides/slide18.xml" Id="Ra1aa2f034b574ca5" /><Relationship Type="http://schemas.openxmlformats.org/officeDocument/2006/relationships/slide" Target="/ppt/slides/slide19.xml" Id="R99a2d5e855574d66" /><Relationship Type="http://schemas.openxmlformats.org/officeDocument/2006/relationships/slide" Target="/ppt/slides/slide20.xml" Id="Rdd46700d96504409" /><Relationship Type="http://schemas.openxmlformats.org/officeDocument/2006/relationships/slide" Target="/ppt/slides/slide21.xml" Id="R771003792e484223" /><Relationship Type="http://schemas.openxmlformats.org/officeDocument/2006/relationships/slide" Target="/ppt/slides/slide22.xml" Id="Rfe6f77e17f004233" /><Relationship Type="http://schemas.openxmlformats.org/officeDocument/2006/relationships/slide" Target="/ppt/slides/slide23.xml" Id="Rb1dcc366237a4028" /><Relationship Type="http://schemas.openxmlformats.org/officeDocument/2006/relationships/slide" Target="/ppt/slides/slide24.xml" Id="Ra4a6391e757a4562" /><Relationship Type="http://schemas.openxmlformats.org/officeDocument/2006/relationships/slide" Target="/ppt/slides/slide25.xml" Id="R5db3c2af76da4acc" /><Relationship Type="http://schemas.openxmlformats.org/officeDocument/2006/relationships/slide" Target="/ppt/slides/slide26.xml" Id="R7a2b9cee352545ef" /><Relationship Type="http://schemas.openxmlformats.org/officeDocument/2006/relationships/slide" Target="/ppt/slides/slide27.xml" Id="R24454f8945c64475" /><Relationship Type="http://schemas.openxmlformats.org/officeDocument/2006/relationships/slide" Target="/ppt/slides/slide28.xml" Id="R0a440e3962a142fd" /><Relationship Type="http://schemas.openxmlformats.org/officeDocument/2006/relationships/slide" Target="/ppt/slides/slide29.xml" Id="R5d1af90eab9a447f" /><Relationship Type="http://schemas.openxmlformats.org/officeDocument/2006/relationships/slide" Target="/ppt/slides/slide30.xml" Id="R93dabc46a8ce4b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71f8f1a9854f5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b6a6a560b1478e" /><Relationship Type="http://schemas.openxmlformats.org/officeDocument/2006/relationships/notesMaster" Target="/ppt/notesMasters/notesMaster1.xml" Id="R720ee77396ff40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caa3e01c08e4870" /><Relationship Type="http://schemas.openxmlformats.org/officeDocument/2006/relationships/notesMaster" Target="/ppt/notesMasters/notesMaster1.xml" Id="Rf3c45a8063e348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23898cef11b476f" /><Relationship Type="http://schemas.openxmlformats.org/officeDocument/2006/relationships/notesMaster" Target="/ppt/notesMasters/notesMaster1.xml" Id="R0c966116d2c349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7b16155e964379" /><Relationship Type="http://schemas.openxmlformats.org/officeDocument/2006/relationships/notesMaster" Target="/ppt/notesMasters/notesMaster1.xml" Id="Re9345fb821ed473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f07c6dd29849cb" /><Relationship Type="http://schemas.openxmlformats.org/officeDocument/2006/relationships/notesMaster" Target="/ppt/notesMasters/notesMaster1.xml" Id="R416ab615e33543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d51821433c4481" /><Relationship Type="http://schemas.openxmlformats.org/officeDocument/2006/relationships/notesMaster" Target="/ppt/notesMasters/notesMaster1.xml" Id="R758069cd25784d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e915875bebd4642" /><Relationship Type="http://schemas.openxmlformats.org/officeDocument/2006/relationships/notesMaster" Target="/ppt/notesMasters/notesMaster1.xml" Id="R7658d44fc918494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394aa9581f4319" /><Relationship Type="http://schemas.openxmlformats.org/officeDocument/2006/relationships/notesMaster" Target="/ppt/notesMasters/notesMaster1.xml" Id="Rab000c895a78443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6c5cef90c04b9b" /><Relationship Type="http://schemas.openxmlformats.org/officeDocument/2006/relationships/notesMaster" Target="/ppt/notesMasters/notesMaster1.xml" Id="Rf48da46553134f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2c14f8ebf73468d" /><Relationship Type="http://schemas.openxmlformats.org/officeDocument/2006/relationships/notesMaster" Target="/ppt/notesMasters/notesMaster1.xml" Id="R3cf70e11e3fe46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a9a7580cc841fe" /><Relationship Type="http://schemas.openxmlformats.org/officeDocument/2006/relationships/notesMaster" Target="/ppt/notesMasters/notesMaster1.xml" Id="Rbbb7490c76c0497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ca83fec8c94202" /><Relationship Type="http://schemas.openxmlformats.org/officeDocument/2006/relationships/notesMaster" Target="/ppt/notesMasters/notesMaster1.xml" Id="R5bc15e1786874f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b092de94ed84b00" /><Relationship Type="http://schemas.openxmlformats.org/officeDocument/2006/relationships/notesMaster" Target="/ppt/notesMasters/notesMaster1.xml" Id="R4dfaa1f7ae2a400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fe1230b0dc34ce3" /><Relationship Type="http://schemas.openxmlformats.org/officeDocument/2006/relationships/notesMaster" Target="/ppt/notesMasters/notesMaster1.xml" Id="Rc1db932cbe5d464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4a75ecfc9624c1c" /><Relationship Type="http://schemas.openxmlformats.org/officeDocument/2006/relationships/notesMaster" Target="/ppt/notesMasters/notesMaster1.xml" Id="R7a909331eb58460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c0157430af8493d" /><Relationship Type="http://schemas.openxmlformats.org/officeDocument/2006/relationships/notesMaster" Target="/ppt/notesMasters/notesMaster1.xml" Id="R642f1058028341c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113f106fd7d4377" /><Relationship Type="http://schemas.openxmlformats.org/officeDocument/2006/relationships/notesMaster" Target="/ppt/notesMasters/notesMaster1.xml" Id="R1475d1410a3d42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060679626347a9" /><Relationship Type="http://schemas.openxmlformats.org/officeDocument/2006/relationships/notesMaster" Target="/ppt/notesMasters/notesMaster1.xml" Id="Rbc73dbd1872a47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b3fcdd553fd4339" /><Relationship Type="http://schemas.openxmlformats.org/officeDocument/2006/relationships/notesMaster" Target="/ppt/notesMasters/notesMaster1.xml" Id="Rb8e543f1d9bb487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8ad262f39640b3" /><Relationship Type="http://schemas.openxmlformats.org/officeDocument/2006/relationships/notesMaster" Target="/ppt/notesMasters/notesMaster1.xml" Id="Ra9dceb5aae0c49e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a94a81295764dc1" /><Relationship Type="http://schemas.openxmlformats.org/officeDocument/2006/relationships/notesMaster" Target="/ppt/notesMasters/notesMaster1.xml" Id="R833f9401e3604ad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0526fbd826540d2" /><Relationship Type="http://schemas.openxmlformats.org/officeDocument/2006/relationships/notesMaster" Target="/ppt/notesMasters/notesMaster1.xml" Id="Rc5fe7e6a84c04a8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87f19558bab46ea" /><Relationship Type="http://schemas.openxmlformats.org/officeDocument/2006/relationships/notesMaster" Target="/ppt/notesMasters/notesMaster1.xml" Id="Rb94546d21d934f4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72b7ae8e3104ff7" /><Relationship Type="http://schemas.openxmlformats.org/officeDocument/2006/relationships/notesMaster" Target="/ppt/notesMasters/notesMaster1.xml" Id="R857099c3c03a420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eab766fdf174177" /><Relationship Type="http://schemas.openxmlformats.org/officeDocument/2006/relationships/notesMaster" Target="/ppt/notesMasters/notesMaster1.xml" Id="Rbc058250845846b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c34e65db6d4e58" /><Relationship Type="http://schemas.openxmlformats.org/officeDocument/2006/relationships/notesMaster" Target="/ppt/notesMasters/notesMaster1.xml" Id="Ra2ff6ed874314c6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56dadb3149240f7" /><Relationship Type="http://schemas.openxmlformats.org/officeDocument/2006/relationships/notesMaster" Target="/ppt/notesMasters/notesMaster1.xml" Id="R351df72aa97d4e09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80a53f11ef24e75" /><Relationship Type="http://schemas.openxmlformats.org/officeDocument/2006/relationships/notesMaster" Target="/ppt/notesMasters/notesMaster1.xml" Id="Ree8ee2ec17bf4b01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2e928910c9654480" /><Relationship Type="http://schemas.openxmlformats.org/officeDocument/2006/relationships/notesMaster" Target="/ppt/notesMasters/notesMaster1.xml" Id="R22a3e626fb9943e1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5e0e5ba730c04111" /><Relationship Type="http://schemas.openxmlformats.org/officeDocument/2006/relationships/notesMaster" Target="/ppt/notesMasters/notesMaster1.xml" Id="Ra447e1ba3524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“Pendekatan sistematik dalam analisis data”.</a:t>
            </a:r>
          </a:p>
          <a:p xmlns:a="http://schemas.openxmlformats.org/drawingml/2006/main">
            <a:r>
              <a:t>Mesej utama: Daripada soalan yang jelas kepada hasil yang boleh diaudit.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Terangkan pembahagian Modul 3A dan 3B. Sesi pertama menumpukan analisis data; sesi kedua menumpukan rekod teknikal.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“Apa yang peserta hasilkan dalam 3A?”.</a:t>
            </a:r>
          </a:p>
          <a:p xmlns:a="http://schemas.openxmlformats.org/drawingml/2006/main">
            <a:r>
              <a:t>Mesej utama: Setiap hasil mesti mempunyai sumber, kaedah, semakan dan batasan.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Tunjukkan bahawa carta hanyalah satu daripada beberapa hasil, bukan titik mula.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“AI membantu; manusia mengesahkan”.</a:t>
            </a:r>
          </a:p>
          <a:p xmlns:a="http://schemas.openxmlformats.org/drawingml/2006/main">
            <a:r>
              <a:t>Mesej utama: AI boleh meneroka dan menyusun, tetapi tidak boleh mengesahkan data atau meluluskan rekod.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menyebut satu kesilapan AI yang sukar dikesan jika data sumber tidak diperiksa.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“Tujuh langkah yang boleh dijejak”.</a:t>
            </a:r>
          </a:p>
          <a:p xmlns:a="http://schemas.openxmlformats.org/drawingml/2006/main">
            <a:r>
              <a:t>Mesej utama: Tanya → Kenal → Semak → Bersih → Analisis → Sah → Rekod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Gunakan singkatan TKSBASR sebagai peta proses sepanjang kedua-dua sesi.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“Had dan kawalan keselamatan platform percuma”.</a:t>
            </a:r>
          </a:p>
          <a:p xmlns:a="http://schemas.openxmlformats.org/drawingml/2006/main">
            <a:r>
              <a:t>Mesej utama: Kaedah latihan tidak bergantung pada satu platform atau fungsi muat naik.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Jika muat naik fail tidak tersedia, tampal 10–20 baris dan teruskan kaedah yang sama.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“Prompt kabur, hasil kabur”.</a:t>
            </a:r>
          </a:p>
          <a:p xmlns:a="http://schemas.openxmlformats.org/drawingml/2006/main">
            <a:r>
              <a:t>Mesej utama: “Analisis data ini dan beri insight.”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Jalankan prompt kabur terlebih dahulu. Jangan terus membetulkan output; minta peserta mengenal pasti masalah.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“Tanya: keputusan apa yang perlu disokong?”.</a:t>
            </a:r>
          </a:p>
          <a:p xmlns:a="http://schemas.openxmlformats.org/drawingml/2006/main">
            <a:r>
              <a:t>Mesej utama: Soalan analisis mesti menyatakan tempoh, kategori, pengguna dan tujuan.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Berikan 5 minit kepada kumpulan untuk melengkapkan templat soalan.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“Kenal: fahami data sebelum mengira”.</a:t>
            </a:r>
          </a:p>
          <a:p xmlns:a="http://schemas.openxmlformats.org/drawingml/2006/main">
            <a:r>
              <a:t>Mesej utama: Satu nama lajur tidak semestinya menerangkan definisi, unit atau kategori agregat.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Buka halaman metadata Penggunaan Elektrik Bulanan dan sahkan unit serta kaveat data sementara.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“Dataset kerajaan: Penggunaan Elektrik Bulanan”.</a:t>
            </a:r>
          </a:p>
          <a:p xmlns:a="http://schemas.openxmlformats.org/drawingml/2006/main">
            <a:r>
              <a:t>Mesej utama: Contoh neutral untuk mengajar metadata, trend dan batasan sumber.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Jelaskan bahawa data sementara perlu disebut dalam batasan dan versi sumber.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https://data.gov.my/ms-MY/data-catalogue/electricity_consumption</a:t>
            </a:r>
          </a:p>
          <a:p xmlns:a="http://schemas.openxmlformats.org/drawingml/2006/main">
            <a:r>
              <a:t>- https://storage.data.gov.my/energy/electricity_consumption.csv</a:t>
            </a:r>
          </a:p>
          <a:p xmlns:a="http://schemas.openxmlformats.org/drawingml/2006/main">
            <a:r>
              <a:t>- Bahan dalaman latihan: Modul 3/02-Kandungan-Slaid.md, Slaid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“Semak: lengkap, sah, konsisten dan unik”.</a:t>
            </a:r>
          </a:p>
          <a:p xmlns:a="http://schemas.openxmlformats.org/drawingml/2006/main">
            <a:r>
              <a:t>Mesej utama: Minta laporan kualiti dengan bukti baris dan lajur, bukan kenyataan “data bersih”.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Tekankan bahawa nilai luar biasa perlu disiasat, bukan terus dipadam.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“Bersih: jangan ubah fail sumber”.</a:t>
            </a:r>
          </a:p>
          <a:p xmlns:a="http://schemas.openxmlformats.org/drawingml/2006/main">
            <a:r>
              <a:t>Mesej utama: Simpan salinan kerja dan rekod setiap perubahan atau keputusan tidak mengubah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Tunjukkan contoh satu baris log perubahan dan satu contoh isu yang perlu dirujuk kepada pemilik data.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“Analisis: kira hanya yang menjawab soalan”.</a:t>
            </a:r>
          </a:p>
          <a:p xmlns:a="http://schemas.openxmlformats.org/drawingml/2006/main">
            <a:r>
              <a:t>Mesej utama: Jadual dan carta mesti berkait terus dengan keputusan yang hendak disokong.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AI menerangkan formula, penapis dan pengendalian nilai kosong.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“Carta yang jujur menjawab satu soalan”.</a:t>
            </a:r>
          </a:p>
          <a:p xmlns:a="http://schemas.openxmlformats.org/drawingml/2006/main">
            <a:r>
              <a:t>Mesej utama: Tajuk, paksi, unit, tempoh, sumber dan kaveat mesti jelas.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menyatakan soalan yang dijawab oleh carta mereka dalam satu ayat.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“Sah: audit angka dan dakwaan”.</a:t>
            </a:r>
          </a:p>
          <a:p xmlns:a="http://schemas.openxmlformats.org/drawingml/2006/main">
            <a:r>
              <a:t>Mesej utama: Perkataan “meningkat” mesti mempunyai tempoh, nilai asas, nilai akhir dan unit.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memilih satu angka AI dan mengiranya semula secara manual.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“Rekod: bina pakej hasil yang boleh dijejak”.</a:t>
            </a:r>
          </a:p>
          <a:p xmlns:a="http://schemas.openxmlformats.org/drawingml/2006/main">
            <a:r>
              <a:t>Mesej utama: Pisahkan sumber asal, data kerja, log kualiti, analisis dan hasil disahkan.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Sesuaikan lokasi simpanan kepada repositori rasmi jabatan, bukan sejarah chat.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“Latihan kumpulan · aliran lengkap”.</a:t>
            </a:r>
          </a:p>
          <a:p xmlns:a="http://schemas.openxmlformats.org/drawingml/2006/main">
            <a:r>
              <a:t>Mesej utama: Tanya · Kenal · Semak · Bersih · Analisis · Sah · Rekod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Bergerak antara kumpulan dan semak skop, unit, kategori agregat dan bukti pengiraan.</a:t>
            </a:r>
          </a:p>
          <a:p xmlns:a="http://schemas.openxmlformats.org/drawingml/2006/main">
            <a:r>
              <a:t>- Berikan arahan, nyatakan bukti siap dan tetapkan pemasa sebelum peserta bermula.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4–8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“Bukti siap Modul 3A”.</a:t>
            </a:r>
          </a:p>
          <a:p xmlns:a="http://schemas.openxmlformats.org/drawingml/2006/main">
            <a:r>
              <a:t>Mesej utama: Jangan bergerak ke rekod teknikal tanpa bukti analisis yang boleh dijejak.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Simpan hasil kumpulan untuk digunakan semasa imbas kembali Modul 3B.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“Pengurusan rekod teknikal”.</a:t>
            </a:r>
          </a:p>
          <a:p xmlns:a="http://schemas.openxmlformats.org/drawingml/2006/main">
            <a:r>
              <a:t>Mesej utama: Daripada data kerja kepada rekod yang mempunyai identiti, autoriti, versi dan status.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Labelkan ini sebagai permulaan Modul 3B. Minta peserta menyebut tujuh langkah tanpa melihat nota.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“Tiga jenis rekod, satu fail latihan”.</a:t>
            </a:r>
          </a:p>
          <a:p xmlns:a="http://schemas.openxmlformats.org/drawingml/2006/main">
            <a:r>
              <a:t>Mesej utama: Semua data rekaan dan kesalahan dimasukkan dengan sengaja.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Tegaskan bahawa fail gabungan belum boleh dianggap sebagai rekod rasmi.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“Anatomi rekod teknikal”.</a:t>
            </a:r>
          </a:p>
          <a:p xmlns:a="http://schemas.openxmlformats.org/drawingml/2006/main">
            <a:r>
              <a:t>Mesej utama: Setiap rekod perlu boleh dikenal pasti, dijejak dan disemak.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Gunakan medan ini sebagai kamus data ringkas sebelum audit bermula.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“Audit dahulu, jangan terus membetulkan”.</a:t>
            </a:r>
          </a:p>
          <a:p xmlns:a="http://schemas.openxmlformats.org/drawingml/2006/main">
            <a:r>
              <a:t>Mesej utama: Cari isu dan petik nombor baris sebagai bukti.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AI menghasilkan senarai isu, bukan fail yang telah dibetulkan.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“Apabila rekod bercanggah, rujuk sumber autoritatif”.</a:t>
            </a:r>
          </a:p>
          <a:p xmlns:a="http://schemas.openxmlformats.org/drawingml/2006/main">
            <a:r>
              <a:t>Mesej utama: AI tidak boleh memilih rekod yang “paling masuk akal”.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kumpulan menyatakan sumber utama bagi satu konflik yang mereka temui.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“Cadangkan peraturan, kemudian semak”.</a:t>
            </a:r>
          </a:p>
          <a:p xmlns:a="http://schemas.openxmlformats.org/drawingml/2006/main">
            <a:r>
              <a:t>Mesej utama: Perubahan mekanikal dan pengesahan pemilik rekod mesti dibezakan.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Tekankan bahawa nilai hilang bukan sifar dan pendua mungkin mempunyai konteks sebenar.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“Jejak aset → ujian → tindakan”.</a:t>
            </a:r>
          </a:p>
          <a:p xmlns:a="http://schemas.openxmlformats.org/drawingml/2006/main">
            <a:r>
              <a:t>Mesej utama: ID aset dan sumber membolehkan rekod berkaitan disambungkan tanpa kehilangan konteks.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mencari satu jurang yang memutuskan jejak silang.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“Siapa boleh menetapkan status?”.</a:t>
            </a:r>
          </a:p>
          <a:p xmlns:a="http://schemas.openxmlformats.org/drawingml/2006/main">
            <a:r>
              <a:t>Mesej utama: AI tidak boleh menetapkan Disahkan atau Diluluskan.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Bezakan pengesahan fakta daripada kelulusan penggunaan rasmi.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“Struktur folder yang memelihara jejak”.</a:t>
            </a:r>
          </a:p>
          <a:p xmlns:a="http://schemas.openxmlformats.org/drawingml/2006/main">
            <a:r>
              <a:t>Mesej utama: Sumber asal, data kerja, draf dan rekod rasmi tidak sepatutnya bercampur.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Sesuaikan nama folder dengan sistem rekod jabatan sebenar.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“Latihan audit rekod · 55 minit”.</a:t>
            </a:r>
          </a:p>
          <a:p xmlns:a="http://schemas.openxmlformats.org/drawingml/2006/main">
            <a:r>
              <a:t>Mesej utama: Audit → standardisasi → hubung rekod → daftar → semakan silang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Pastikan setiap isu mempunyai bukti baris dan cadangan autoriti rujukan.</a:t>
            </a:r>
          </a:p>
          <a:p xmlns:a="http://schemas.openxmlformats.org/drawingml/2006/main">
            <a:r>
              <a:t>- Berikan arahan, nyatakan bukti siap dan tetapkan pemasa sebelum peserta bermula.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4–8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“Tanda bahaya dalam output AI”.</a:t>
            </a:r>
          </a:p>
          <a:p xmlns:a="http://schemas.openxmlformats.org/drawingml/2006/main">
            <a:r>
              <a:t>Mesej utama: Berhenti dan semak jika output melakukan mana-mana perkara ini.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setiap kumpulan memilih satu tanda bahaya dan menerangkan kawalannya.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“Bukti penyempurnaan Modul 3”.</a:t>
            </a:r>
          </a:p>
          <a:p xmlns:a="http://schemas.openxmlformats.org/drawingml/2006/main">
            <a:r>
              <a:t>Mesej utama: Hasil akhir mesti boleh disemak oleh orang lain tanpa sejarah chat.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Minta peserta menandakan bukti sebenar dalam exit ticket, bukan sekadar menyatakan semuanya siap.</a:t>
            </a:r>
          </a:p>
          <a:p xmlns:a="http://schemas.openxmlformats.org/drawingml/2006/main">
            <a:r>
              <a:t>- Ajukan satu soalan ringkas untuk menghubungkan isi slaid dengan pengalaman kerja peserta.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29.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Tujuan slaid: Membantu peserta memahami “Analisis yang baik meninggalkan jejak”.</a:t>
            </a:r>
          </a:p>
          <a:p xmlns:a="http://schemas.openxmlformats.org/drawingml/2006/main">
            <a:r>
              <a:t>Mesej utama: Soalan jelas · data difahami · pengiraan disahkan · rekod dikawal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Panduan penyampaian:</a:t>
            </a:r>
          </a:p>
          <a:p xmlns:a="http://schemas.openxmlformats.org/drawingml/2006/main">
            <a:r>
              <a:t>- Tutup dengan kuiz, exit ticket dan bukti penyempurnaan. Jambatankan hasil kepada Modul 4.</a:t>
            </a:r>
          </a:p>
          <a:p xmlns:a="http://schemas.openxmlformats.org/drawingml/2006/main">
            <a:r>
              <a:t>- Minta peserta menyatakan satu tindakan susulan atau satu batasan yang mesti dikawal.</a:t>
            </a:r>
          </a:p>
          <a:p xmlns:a="http://schemas.openxmlformats.org/drawingml/2006/main">
            <a:r>
              <a:t>- Tegaskan sempadan penggunaan data rekaan dan semakan manusia jika kandungan melibatkan AI, rekod atau automasi.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Masa cadangan: 2–4 minit.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Bahan dalaman latihan: Modul 3/02-Kandungan-Slaid.md, Slaid 30.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412c18431741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bf5f26fd3d428f" /><Relationship Type="http://schemas.openxmlformats.org/officeDocument/2006/relationships/slideLayout" Target="/ppt/slideLayouts/slideLayout1.xml" Id="Rc17620ea2e0a4b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7620ea2e0a4b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cbafc19f874224" /><Relationship Type="http://schemas.openxmlformats.org/officeDocument/2006/relationships/notesSlide" Target="/ppt/notesSlides/notesSlide1.xml" Id="Ra62c37ae128c43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e9deeda2b4c00" /><Relationship Type="http://schemas.openxmlformats.org/officeDocument/2006/relationships/notesSlide" Target="/ppt/notesSlides/notesSlide2.xml" Id="R07e64749261b47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74f8cb6a947fb" /><Relationship Type="http://schemas.openxmlformats.org/officeDocument/2006/relationships/notesSlide" Target="/ppt/notesSlides/notesSlide3.xml" Id="Rb91c66b19c704c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a379437efd4326" /><Relationship Type="http://schemas.openxmlformats.org/officeDocument/2006/relationships/notesSlide" Target="/ppt/notesSlides/notesSlide4.xml" Id="R8dfc1554d6e3486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b187effba84bcd" /><Relationship Type="http://schemas.openxmlformats.org/officeDocument/2006/relationships/notesSlide" Target="/ppt/notesSlides/notesSlide5.xml" Id="R32d88fd1a4924d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a923e4f7004dde" /><Relationship Type="http://schemas.openxmlformats.org/officeDocument/2006/relationships/notesSlide" Target="/ppt/notesSlides/notesSlide6.xml" Id="R6f1fbf3fe27d497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ad5cfbc2d4a10" /><Relationship Type="http://schemas.openxmlformats.org/officeDocument/2006/relationships/notesSlide" Target="/ppt/notesSlides/notesSlide7.xml" Id="R7788d9b6a64944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157e285b934bd2" /><Relationship Type="http://schemas.openxmlformats.org/officeDocument/2006/relationships/notesSlide" Target="/ppt/notesSlides/notesSlide8.xml" Id="R61fb65db794f45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0a1797fc5d4579" /><Relationship Type="http://schemas.openxmlformats.org/officeDocument/2006/relationships/notesSlide" Target="/ppt/notesSlides/notesSlide9.xml" Id="Re836985b5e5241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50c8663d14449" /><Relationship Type="http://schemas.openxmlformats.org/officeDocument/2006/relationships/notesSlide" Target="/ppt/notesSlides/notesSlide10.xml" Id="R00eabce6e03f451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f1b8674d5d4eb8" /><Relationship Type="http://schemas.openxmlformats.org/officeDocument/2006/relationships/notesSlide" Target="/ppt/notesSlides/notesSlide11.xml" Id="Rb59c7e20f7324e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e13c2516644159" /><Relationship Type="http://schemas.openxmlformats.org/officeDocument/2006/relationships/notesSlide" Target="/ppt/notesSlides/notesSlide12.xml" Id="Raae621d4060c47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fbbf6dd58745cb" /><Relationship Type="http://schemas.openxmlformats.org/officeDocument/2006/relationships/notesSlide" Target="/ppt/notesSlides/notesSlide13.xml" Id="Rce34cd7c02cd41e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cc289d3b448d6" /><Relationship Type="http://schemas.openxmlformats.org/officeDocument/2006/relationships/notesSlide" Target="/ppt/notesSlides/notesSlide14.xml" Id="R646939a60bb246b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7c766ac124854" /><Relationship Type="http://schemas.openxmlformats.org/officeDocument/2006/relationships/notesSlide" Target="/ppt/notesSlides/notesSlide15.xml" Id="Ra77d147d1dda4f8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9de33da87d4bb2" /><Relationship Type="http://schemas.openxmlformats.org/officeDocument/2006/relationships/notesSlide" Target="/ppt/notesSlides/notesSlide16.xml" Id="Rc3d0a703e9b048c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505cfbc77442f" /><Relationship Type="http://schemas.openxmlformats.org/officeDocument/2006/relationships/notesSlide" Target="/ppt/notesSlides/notesSlide17.xml" Id="R549690bf18744ef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6bc5ff64b405f" /><Relationship Type="http://schemas.openxmlformats.org/officeDocument/2006/relationships/notesSlide" Target="/ppt/notesSlides/notesSlide18.xml" Id="Rcf947fe1445b4a1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18c397321a4478" /><Relationship Type="http://schemas.openxmlformats.org/officeDocument/2006/relationships/notesSlide" Target="/ppt/notesSlides/notesSlide19.xml" Id="R42ff36810ee14b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56478910394efe" /><Relationship Type="http://schemas.openxmlformats.org/officeDocument/2006/relationships/notesSlide" Target="/ppt/notesSlides/notesSlide20.xml" Id="R421cd4a5c7f74a4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ff6b00966b4c4b" /><Relationship Type="http://schemas.openxmlformats.org/officeDocument/2006/relationships/notesSlide" Target="/ppt/notesSlides/notesSlide21.xml" Id="Re2377e5c5cc54112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fa64a2c4b94feb" /><Relationship Type="http://schemas.openxmlformats.org/officeDocument/2006/relationships/notesSlide" Target="/ppt/notesSlides/notesSlide22.xml" Id="R82e6d1253f3f4b6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5b11afff04181" /><Relationship Type="http://schemas.openxmlformats.org/officeDocument/2006/relationships/notesSlide" Target="/ppt/notesSlides/notesSlide23.xml" Id="Rb025aadbec354e1b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719d7894248dc" /><Relationship Type="http://schemas.openxmlformats.org/officeDocument/2006/relationships/notesSlide" Target="/ppt/notesSlides/notesSlide24.xml" Id="R0d6bf7345c6d476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8287b5b344914" /><Relationship Type="http://schemas.openxmlformats.org/officeDocument/2006/relationships/notesSlide" Target="/ppt/notesSlides/notesSlide25.xml" Id="R669113ebfc084c9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c9b8b7089465e" /><Relationship Type="http://schemas.openxmlformats.org/officeDocument/2006/relationships/notesSlide" Target="/ppt/notesSlides/notesSlide26.xml" Id="Raeabb0e113ff4ba7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6c8c2c79e644ec" /><Relationship Type="http://schemas.openxmlformats.org/officeDocument/2006/relationships/notesSlide" Target="/ppt/notesSlides/notesSlide27.xml" Id="Rf2095462a04d441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cb5aa847004b09" /><Relationship Type="http://schemas.openxmlformats.org/officeDocument/2006/relationships/notesSlide" Target="/ppt/notesSlides/notesSlide28.xml" Id="R69c1cb6cb2d64e2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872cd997f44837" /><Relationship Type="http://schemas.openxmlformats.org/officeDocument/2006/relationships/notesSlide" Target="/ppt/notesSlides/notesSlide29.xml" Id="R633c464026a64ee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758704d3494524" /><Relationship Type="http://schemas.openxmlformats.org/officeDocument/2006/relationships/notesSlide" Target="/ppt/notesSlides/notesSlide30.xml" Id="R76888a041280443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">
            <a:extLst xmlns:a="http://schemas.openxmlformats.org/drawingml/2006/main">
              <a:ext uri="{FF2B5EF4-FFF2-40B4-BE49-F238E27FC236}">
                <a16:creationId xmlns:a16="http://schemas.microsoft.com/office/drawing/2014/main" id="{6674C990-AA21-4902-B9E1-07A824F9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3A · PEMBUKAAN</a:t>
            </a:r>
          </a:p>
        </p:txBody>
      </p:sp>
      <p:sp>
        <p:nvSpPr>
          <p:cNvPr id="2" name="number-1">
            <a:extLst xmlns:a="http://schemas.openxmlformats.org/drawingml/2006/main">
              <a:ext uri="{FF2B5EF4-FFF2-40B4-BE49-F238E27FC236}">
                <a16:creationId xmlns:a16="http://schemas.microsoft.com/office/drawing/2014/main" id="{7851E030-C3D1-42B0-AD1C-A6853AE9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FEF2D-E331-47E7-AC02-C574740B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">
            <a:extLst xmlns:a="http://schemas.openxmlformats.org/drawingml/2006/main">
              <a:ext uri="{FF2B5EF4-FFF2-40B4-BE49-F238E27FC236}">
                <a16:creationId xmlns:a16="http://schemas.microsoft.com/office/drawing/2014/main" id="{BB37CFA8-188E-4272-8674-944252F2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">
            <a:extLst xmlns:a="http://schemas.openxmlformats.org/drawingml/2006/main">
              <a:ext uri="{FF2B5EF4-FFF2-40B4-BE49-F238E27FC236}">
                <a16:creationId xmlns:a16="http://schemas.microsoft.com/office/drawing/2014/main" id="{A37AF168-4E40-4138-99A9-25A687F0A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1/30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841F6D-5A34-435B-80B5-050F59A4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81050"/>
            <a:ext cx="110871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440"/>
          </a:solidFill>
          <a:ln xmlns:a="http://schemas.openxmlformats.org/drawingml/2006/main" w="9525">
            <a:solidFill>
              <a:srgbClr val="4B6970"/>
            </a:solidFill>
            <a:prstDash val="solid"/>
          </a:ln>
        </p:spPr>
      </p:sp>
      <p:sp>
        <p:nvSpPr>
          <p:cNvPr id="7" name="module-label">
            <a:extLst xmlns:a="http://schemas.openxmlformats.org/drawingml/2006/main">
              <a:ext uri="{FF2B5EF4-FFF2-40B4-BE49-F238E27FC236}">
                <a16:creationId xmlns:a16="http://schemas.microsoft.com/office/drawing/2014/main" id="{88E6C459-6658-4BE9-B03D-30BEBFB1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1049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</a:t>
            </a:r>
          </a:p>
        </p:txBody>
      </p:sp>
      <p:sp>
        <p:nvSpPr>
          <p:cNvPr id="8" name="deck-title">
            <a:extLst xmlns:a="http://schemas.openxmlformats.org/drawingml/2006/main">
              <a:ext uri="{FF2B5EF4-FFF2-40B4-BE49-F238E27FC236}">
                <a16:creationId xmlns:a16="http://schemas.microsoft.com/office/drawing/2014/main" id="{98EC787D-9664-4322-A8F2-19787222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90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9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Pendekatan sistematik dalam analisis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225ED1-4ECF-4693-B8E9-DBEBAF09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7810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deck-lead">
            <a:extLst xmlns:a="http://schemas.openxmlformats.org/drawingml/2006/main">
              <a:ext uri="{FF2B5EF4-FFF2-40B4-BE49-F238E27FC236}">
                <a16:creationId xmlns:a16="http://schemas.microsoft.com/office/drawing/2014/main" id="{4A670A15-C2F2-4F45-A6FC-675CCA9C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57625"/>
            <a:ext cx="733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Daripada soalan yang jelas kepada hasil yang boleh diaudit.</a:t>
            </a:r>
          </a:p>
        </p:txBody>
      </p:sp>
      <p:sp>
        <p:nvSpPr>
          <p:cNvPr id="11" name="presenter">
            <a:extLst xmlns:a="http://schemas.openxmlformats.org/drawingml/2006/main">
              <a:ext uri="{FF2B5EF4-FFF2-40B4-BE49-F238E27FC236}">
                <a16:creationId xmlns:a16="http://schemas.microsoft.com/office/drawing/2014/main" id="{D17C45C1-DA42-4A6C-A625-EA3B8892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57800"/>
            <a:ext cx="590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Prof. Madya Dr. Mohd Murtadha Mohamad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28 Julai 2026 · CREaTE JKR</a:t>
            </a:r>
          </a:p>
        </p:txBody>
      </p:sp>
      <p:sp>
        <p:nvSpPr>
          <p:cNvPr id="12" name="duration">
            <a:extLst xmlns:a="http://schemas.openxmlformats.org/drawingml/2006/main">
              <a:ext uri="{FF2B5EF4-FFF2-40B4-BE49-F238E27FC236}">
                <a16:creationId xmlns:a16="http://schemas.microsoft.com/office/drawing/2014/main" id="{9444F585-3AEF-4902-83C2-823C516C2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57800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40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210 MINIT</a:t>
            </a:r>
          </a:p>
        </p:txBody>
      </p:sp>
    </p:spTree>
    <p:extLst>
      <p:ext uri="{BB962C8B-B14F-4D97-AF65-F5344CB8AC3E}">
        <p14:creationId xmlns:p14="http://schemas.microsoft.com/office/powerpoint/2010/main" val="8136083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section-2">
            <a:extLst xmlns:a="http://schemas.openxmlformats.org/drawingml/2006/main">
              <a:ext uri="{FF2B5EF4-FFF2-40B4-BE49-F238E27FC236}">
                <a16:creationId xmlns:a16="http://schemas.microsoft.com/office/drawing/2014/main" id="{972034E1-71C6-41D3-BDB8-F75AD9B75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HASIL SESI</a:t>
            </a:r>
          </a:p>
        </p:txBody>
      </p:sp>
      <p:sp>
        <p:nvSpPr>
          <p:cNvPr id="2" name="number-2">
            <a:extLst xmlns:a="http://schemas.openxmlformats.org/drawingml/2006/main">
              <a:ext uri="{FF2B5EF4-FFF2-40B4-BE49-F238E27FC236}">
                <a16:creationId xmlns:a16="http://schemas.microsoft.com/office/drawing/2014/main" id="{67419B79-9DBF-483F-B8D7-735B19C9D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690E5-A75D-4143-B584-233B0F7E5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BE03DEAC-9508-4B55-80C3-1971C748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">
            <a:extLst xmlns:a="http://schemas.openxmlformats.org/drawingml/2006/main">
              <a:ext uri="{FF2B5EF4-FFF2-40B4-BE49-F238E27FC236}">
                <a16:creationId xmlns:a16="http://schemas.microsoft.com/office/drawing/2014/main" id="{0203E877-92F2-4EBE-BA40-612AC88A2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7423C69-206F-415B-BCC7-FE7A01D25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Apa yang peserta hasilkan dalam 3A?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E14BFAB2-41FB-4548-8668-1E6D966F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Setiap hasil mesti mempunyai sumber, kaedah, semakan dan batasan.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21A01-2837-4FDE-902D-8B00318F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6A4C10-2A4D-4DA9-8389-5E7EB11F0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30DB78A5-235B-4BA9-8BAA-DB8AF1CA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93DB51F1-5060-4CA9-B743-3C29E7C59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Soalan</a:t>
            </a:r>
          </a:p>
        </p:txBody>
      </p:sp>
      <p:sp>
        <p:nvSpPr>
          <p:cNvPr id="12" name="card-body-0">
            <a:extLst xmlns:a="http://schemas.openxmlformats.org/drawingml/2006/main">
              <a:ext uri="{FF2B5EF4-FFF2-40B4-BE49-F238E27FC236}">
                <a16:creationId xmlns:a16="http://schemas.microsoft.com/office/drawing/2014/main" id="{B87D2051-E063-4815-88A7-6158D295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Skop dan keputusan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9D39C-AF81-496B-9838-F59F4842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76878E-3608-444C-8DB2-37AAD0F3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A879AB4E-12A6-4AF6-9593-8269AABD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9F887725-309E-4622-A973-59A23B23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Kamus data</a:t>
            </a:r>
          </a:p>
        </p:txBody>
      </p:sp>
      <p:sp>
        <p:nvSpPr>
          <p:cNvPr id="1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E9ECA093-4BA3-423E-9CE2-4AE10C61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Lajur, unit, sumber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03FBD2-6C52-4D83-AFEF-BCEA9937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1D2B16-5E39-4976-9EC4-46FAF20D5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4A8B5883-3D29-472B-A5E5-1E75968DC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E38CBFB3-0B63-426D-B8E6-C877E354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Laporan kualiti</a:t>
            </a:r>
          </a:p>
        </p:txBody>
      </p:sp>
      <p:sp>
        <p:nvSpPr>
          <p:cNvPr id="22" name="card-body-2">
            <a:extLst xmlns:a="http://schemas.openxmlformats.org/drawingml/2006/main">
              <a:ext uri="{FF2B5EF4-FFF2-40B4-BE49-F238E27FC236}">
                <a16:creationId xmlns:a16="http://schemas.microsoft.com/office/drawing/2014/main" id="{8527401C-2794-4D84-9FF5-7CDA1BBC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Isu dan bukti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8B3397-FDB9-4357-B4C2-EA60AC213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52320F-8220-4821-9714-CCC94EA3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B09C4FF8-783C-44A5-86D1-9ED14276E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6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5A60947F-7F20-4DD5-8A7C-41A8CBC9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Analisis</a:t>
            </a:r>
          </a:p>
        </p:txBody>
      </p:sp>
      <p:sp>
        <p:nvSpPr>
          <p:cNvPr id="27" name="card-body-3">
            <a:extLst xmlns:a="http://schemas.openxmlformats.org/drawingml/2006/main">
              <a:ext uri="{FF2B5EF4-FFF2-40B4-BE49-F238E27FC236}">
                <a16:creationId xmlns:a16="http://schemas.microsoft.com/office/drawing/2014/main" id="{A398402C-5025-4AAE-97BC-7409273F7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Jadual dan carta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CE23560-41C2-44EB-AC07-ED1C6D48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E425D6-7916-41A7-9638-7202EB69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DB3778D7-0FDE-4597-BDB1-164F3CF4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1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CEB8AB2D-5A30-409E-8CA9-4905E993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Pakej rekod</a:t>
            </a:r>
          </a:p>
        </p:txBody>
      </p:sp>
      <p:sp>
        <p:nvSpPr>
          <p:cNvPr id="32" name="card-body-4">
            <a:extLst xmlns:a="http://schemas.openxmlformats.org/drawingml/2006/main">
              <a:ext uri="{FF2B5EF4-FFF2-40B4-BE49-F238E27FC236}">
                <a16:creationId xmlns:a16="http://schemas.microsoft.com/office/drawing/2014/main" id="{5DA8576E-98DE-4C76-8F85-99C032966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3429000"/>
            <a:ext cx="166497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Versi dan lokasi</a:t>
            </a:r>
          </a:p>
        </p:txBody>
      </p:sp>
    </p:spTree>
    <p:extLst>
      <p:ext uri="{BB962C8B-B14F-4D97-AF65-F5344CB8AC3E}">
        <p14:creationId xmlns:p14="http://schemas.microsoft.com/office/powerpoint/2010/main" val="1996128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3">
            <a:extLst xmlns:a="http://schemas.openxmlformats.org/drawingml/2006/main">
              <a:ext uri="{FF2B5EF4-FFF2-40B4-BE49-F238E27FC236}">
                <a16:creationId xmlns:a16="http://schemas.microsoft.com/office/drawing/2014/main" id="{8CE69528-7F69-4B7B-8F45-ABD8CFED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3A · PRINSIP</a:t>
            </a:r>
          </a:p>
        </p:txBody>
      </p:sp>
      <p:sp>
        <p:nvSpPr>
          <p:cNvPr id="2" name="number-3">
            <a:extLst xmlns:a="http://schemas.openxmlformats.org/drawingml/2006/main">
              <a:ext uri="{FF2B5EF4-FFF2-40B4-BE49-F238E27FC236}">
                <a16:creationId xmlns:a16="http://schemas.microsoft.com/office/drawing/2014/main" id="{B09D94FD-9362-49B7-9F4F-EB576B55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85BA8C-D1C8-4635-B775-3EA9AB13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71E8BC96-4CAC-4E46-BD9D-51D35E9D5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3">
            <a:extLst xmlns:a="http://schemas.openxmlformats.org/drawingml/2006/main">
              <a:ext uri="{FF2B5EF4-FFF2-40B4-BE49-F238E27FC236}">
                <a16:creationId xmlns:a16="http://schemas.microsoft.com/office/drawing/2014/main" id="{F2CE7A0B-1DBE-4D78-B73F-6EEC6273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3/30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361A0F-2E52-42A1-9B3A-F8B69CE4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membantu; manusia mengesahkan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64BE6AE0-0984-4B66-8AE8-F0F8CFBD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AI boleh meneroka dan menyusun, tetapi tidak boleh mengesahkan data atau meluluskan rekod.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B527D5-B330-42E8-B4A4-105AD31C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6E8952-355E-4CA8-B4BD-E6728C70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66CD0635-81B9-4561-A1B9-967535A3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 membantu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314A6DBD-CC83-4BF5-96D5-D78477D4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Profil · formula · jadual · draf tafsiran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5A473A-5F67-4740-B83D-2780E957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6BBE2F-EB45-489A-8C3B-F8BD40B0B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79AE142E-BE84-492B-9121-D84DC8B4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Manusia menyemak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9B3187D4-8015-4A3F-8C1F-7B20C038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Sumber · unit · pengiraan · konteks · batasan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4CCBDE-C1C2-4C18-A20B-8EACCF97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17903-7F70-4FF0-A3F6-F559C448E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09977942-7CB2-48CA-9F80-6B31A01E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Pegawai memutuskan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F491112F-2ADA-49D4-B863-E627CBABC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Penggunaan rasmi · status · tindakan</a:t>
            </a:r>
          </a:p>
        </p:txBody>
      </p:sp>
    </p:spTree>
    <p:extLst>
      <p:ext uri="{BB962C8B-B14F-4D97-AF65-F5344CB8AC3E}">
        <p14:creationId xmlns:p14="http://schemas.microsoft.com/office/powerpoint/2010/main" val="1843527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section-4">
            <a:extLst xmlns:a="http://schemas.openxmlformats.org/drawingml/2006/main">
              <a:ext uri="{FF2B5EF4-FFF2-40B4-BE49-F238E27FC236}">
                <a16:creationId xmlns:a16="http://schemas.microsoft.com/office/drawing/2014/main" id="{B13AF640-5008-47E9-98EA-D41CCA75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KAEDAH</a:t>
            </a:r>
          </a:p>
        </p:txBody>
      </p:sp>
      <p:sp>
        <p:nvSpPr>
          <p:cNvPr id="2" name="number-4">
            <a:extLst xmlns:a="http://schemas.openxmlformats.org/drawingml/2006/main">
              <a:ext uri="{FF2B5EF4-FFF2-40B4-BE49-F238E27FC236}">
                <a16:creationId xmlns:a16="http://schemas.microsoft.com/office/drawing/2014/main" id="{B6127710-AD85-4C31-A1A5-E741CAEAD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395A2-EEDB-437F-8FFE-D73F6A4FD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58BEBBAC-D278-464B-9026-70646FE7C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4">
            <a:extLst xmlns:a="http://schemas.openxmlformats.org/drawingml/2006/main">
              <a:ext uri="{FF2B5EF4-FFF2-40B4-BE49-F238E27FC236}">
                <a16:creationId xmlns:a16="http://schemas.microsoft.com/office/drawing/2014/main" id="{5C2473A5-B742-4BCE-922F-192140C9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4/30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09DB48A-EAE7-4529-9DF4-D4042A67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Tujuh langkah yang boleh dijejak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9FE3291-AA2B-4C14-A4ED-37BCE9EE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Tanya → Kenal → Semak → Bersih → Analisis → Sah → Rekod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3AAD3-258B-4274-9FAE-1D6BA348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0B0405-BAF2-4352-8D59-2453FD7C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5310AAF0-1E5D-4346-BDDB-219262BB0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T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AA240CF4-1FAE-42ED-8381-7B258143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Tanya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C16331-83AF-47B7-819A-EDF4D227B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BB3C19-CB48-49A4-B683-1409F97AA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2F2B3597-1415-4FE2-8EE0-A9BFB96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K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B52F7EA-8801-4093-8F5D-9A809B3A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FBEB71-1306-41E8-A2FC-571E333B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6DE63A-D26D-4E75-888D-738A6D20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6A2030B6-81E2-4057-A834-D9FD207A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9C5D746C-5AAC-4110-85EC-98F28C65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4CC41D-FDD0-48B2-BEFE-AE2B5A68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ADE7CF-0DC2-47DD-B975-E4762F43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B9C33ED0-78BC-4208-83C0-57DF00C5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6F772097-0B54-483C-B92A-D028D6E6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Bersih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97D8B-7080-4D5F-B84F-6965776A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3705225"/>
            <a:ext cx="2624138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64E3D4-FA1E-413F-B243-C00D37F19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8344" y="3705225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80BD86D1-C9FD-4C51-B8CB-1E2507952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94" y="387667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82AE85C5-5FBF-41F3-A2D3-5F9BDCAB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7894" y="4238625"/>
            <a:ext cx="2224088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Analisis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72F435-85C7-401C-BA4E-8DBDFD7E3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931" y="3705225"/>
            <a:ext cx="2624138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DCE2EB-E211-4875-A8D9-F8157528D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3931" y="3705225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8B5E119A-91FB-42A7-9A01-BC090619A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481" y="387667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S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0A58FBD9-38FA-467B-8B6F-53A47913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3481" y="4238625"/>
            <a:ext cx="2224088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Sah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EC7394-DC59-4E4D-91A5-68467F6E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519" y="3705225"/>
            <a:ext cx="2624138" cy="1323975"/>
          </a:xfrm>
          <a:prstGeom xmlns:a="http://schemas.openxmlformats.org/drawingml/2006/main" prst="roundRect">
            <a:avLst>
              <a:gd name="adj" fmla="val 86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6D66AF-5A61-4242-A91D-A6F377D0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9519" y="3705225"/>
            <a:ext cx="66675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3DFD7124-CCC9-44AE-BFE2-CFF841FD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069" y="387667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R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422BEB88-9236-4742-A876-1CD3AB1D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9069" y="4238625"/>
            <a:ext cx="2224088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Rekod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A19A17B-DB75-4D73-9698-0F93BBC0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itch">
            <a:extLst xmlns:a="http://schemas.openxmlformats.org/drawingml/2006/main">
              <a:ext uri="{FF2B5EF4-FFF2-40B4-BE49-F238E27FC236}">
                <a16:creationId xmlns:a16="http://schemas.microsoft.com/office/drawing/2014/main" id="{CDB90A36-4385-4CF3-8622-38281864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Setiap langkah menghasilkan bukti sebelum bergerak ke langkah berikutnya.</a:t>
            </a:r>
          </a:p>
        </p:txBody>
      </p:sp>
    </p:spTree>
    <p:extLst>
      <p:ext uri="{BB962C8B-B14F-4D97-AF65-F5344CB8AC3E}">
        <p14:creationId xmlns:p14="http://schemas.microsoft.com/office/powerpoint/2010/main" val="6326700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5">
            <a:extLst xmlns:a="http://schemas.openxmlformats.org/drawingml/2006/main">
              <a:ext uri="{FF2B5EF4-FFF2-40B4-BE49-F238E27FC236}">
                <a16:creationId xmlns:a16="http://schemas.microsoft.com/office/drawing/2014/main" id="{2729AFC0-16D3-4F7B-8672-689AFD965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HAD KESELAMATAN</a:t>
            </a:r>
          </a:p>
        </p:txBody>
      </p:sp>
      <p:sp>
        <p:nvSpPr>
          <p:cNvPr id="2" name="number-5">
            <a:extLst xmlns:a="http://schemas.openxmlformats.org/drawingml/2006/main">
              <a:ext uri="{FF2B5EF4-FFF2-40B4-BE49-F238E27FC236}">
                <a16:creationId xmlns:a16="http://schemas.microsoft.com/office/drawing/2014/main" id="{C6B7B3D0-8DCC-4626-AF8C-386D9263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3D7E40-37EA-47C1-9DF2-5923CF49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E860D0E6-76E0-4511-B948-4FF0DC360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5">
            <a:extLst xmlns:a="http://schemas.openxmlformats.org/drawingml/2006/main">
              <a:ext uri="{FF2B5EF4-FFF2-40B4-BE49-F238E27FC236}">
                <a16:creationId xmlns:a16="http://schemas.microsoft.com/office/drawing/2014/main" id="{642D57DA-2C3B-4D4F-BD3A-137A658A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5/30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584434-BE27-482B-8856-C402E01A8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Had dan kawalan keselamatan platform percuma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2DA74406-376E-4085-BD72-85453DA8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Kaedah latihan tidak bergantung pada satu platform atau fungsi muat naik.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277C3-543F-4B7A-9DCA-EC503A32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CBF530-B8BA-449A-9C98-7AD3E3626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7CFD6D4F-5A1B-4C6C-ACBA-19AD3E8A6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7142079C-D669-47B4-A20D-5AC43976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Tiada data peribadi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6B246-0364-4ED4-9F00-332E7A74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6553C4-424B-40A8-8B21-022B434C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B1FF5F75-A2F1-4218-8199-8AD73640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1A0CE775-3718-4D2F-88D7-2D73876D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Tiada dokumen terperingkat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5A7C5-C709-4DB8-975B-78F90B53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D19163-42A5-48BD-B8EE-DF57481C0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3F996252-A215-40FB-820D-EF4E9DED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A6C899B2-43A0-4642-A4AE-ED18EB76D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Guna sampel jika terhad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AFCE8F-2B28-43CA-9347-2A0F1F4F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D3D840-3F74-4832-B040-2AD8E299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9286367B-0DF6-46E9-960D-228B9970E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24CCDB01-EE9B-45C5-9C74-8B96C3BB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Semak jumlah &amp; carta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D89454-6D1C-4A2B-BF08-0BF9EC4B3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B0D872-3621-4B73-873D-4CED99CC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67426787-BA13-4AFF-94AC-F38C4486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0A4EF2F2-6AEC-4941-ACD6-2F3B131F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Chat bukan rekod rasmi</a:t>
            </a:r>
          </a:p>
        </p:txBody>
      </p:sp>
    </p:spTree>
    <p:extLst>
      <p:ext uri="{BB962C8B-B14F-4D97-AF65-F5344CB8AC3E}">
        <p14:creationId xmlns:p14="http://schemas.microsoft.com/office/powerpoint/2010/main" val="15498191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6">
            <a:extLst xmlns:a="http://schemas.openxmlformats.org/drawingml/2006/main">
              <a:ext uri="{FF2B5EF4-FFF2-40B4-BE49-F238E27FC236}">
                <a16:creationId xmlns:a16="http://schemas.microsoft.com/office/drawing/2014/main" id="{EE252EA8-386D-4201-8764-DF371A11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3A · DEMONSTRASI</a:t>
            </a:r>
          </a:p>
        </p:txBody>
      </p:sp>
      <p:sp>
        <p:nvSpPr>
          <p:cNvPr id="2" name="number-6">
            <a:extLst xmlns:a="http://schemas.openxmlformats.org/drawingml/2006/main">
              <a:ext uri="{FF2B5EF4-FFF2-40B4-BE49-F238E27FC236}">
                <a16:creationId xmlns:a16="http://schemas.microsoft.com/office/drawing/2014/main" id="{B4E57AED-EB74-443F-9E3A-8FB25DFF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10422E-A3B2-4530-9FA1-89C0514B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E25EF24F-127C-4BE1-AAD7-F444848E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6">
            <a:extLst xmlns:a="http://schemas.openxmlformats.org/drawingml/2006/main">
              <a:ext uri="{FF2B5EF4-FFF2-40B4-BE49-F238E27FC236}">
                <a16:creationId xmlns:a16="http://schemas.microsoft.com/office/drawing/2014/main" id="{CE8A78B2-49C5-459E-9339-4F46B74B4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6/30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3D2F73D-23FF-4F81-A380-BF6FFC50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Prompt kabur, hasil kabur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8075EC7E-2191-4092-8639-1DC3FA7DD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“Analisis data ini dan beri insight.”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6BE7FD-F693-4B29-A985-D7BA3D70A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592A9-8340-4D56-93CC-B8EDC637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EFBD40C1-435E-47ED-81A0-86A83055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E83A550B-2E02-419D-81FD-64976AF6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Soalan tidak jelas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DC39E9-C672-41F3-822D-0102FE97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CEA6DA-9FDD-4F7C-AE77-3A1BBEBB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1715A628-8473-4FC8-B3BB-88CE989D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2A16203D-2BA1-481E-A94B-8F445179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Kaedah tidak diketahui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E8AB29-57A3-461A-8880-807D96F2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50157E-791A-41BC-83AF-B76179A0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5D925B34-F24C-44CA-805B-F1CC11BF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874C83A2-CCA6-4257-A649-67E3FF99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Carta mungkin hiasan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172AC-D476-4EA9-8389-A456639C2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678378-0B6F-4981-A37F-62AAEE2F1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1F503E06-1F65-4BC5-8A9B-B11A7A3F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08B55C44-CD7B-40A7-8A3D-F59267AF6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Dakwaan boleh berlebihan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23597E-2425-4634-B363-B1F8E1035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tch">
            <a:extLst xmlns:a="http://schemas.openxmlformats.org/drawingml/2006/main">
              <a:ext uri="{FF2B5EF4-FFF2-40B4-BE49-F238E27FC236}">
                <a16:creationId xmlns:a16="http://schemas.microsoft.com/office/drawing/2014/main" id="{2F4CDC61-38A4-4358-9460-747E41A58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35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D27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272B"/>
                </a:solidFill>
                <a:latin typeface="Aptos"/>
                <a:ea typeface="Aptos"/>
                <a:cs typeface="Aptos"/>
              </a:rPr>
              <a:t>Kita akan menggantikan satu arahan kabur dengan tujuh langkah yang boleh diaudit.</a:t>
            </a:r>
          </a:p>
        </p:txBody>
      </p:sp>
    </p:spTree>
    <p:extLst>
      <p:ext uri="{BB962C8B-B14F-4D97-AF65-F5344CB8AC3E}">
        <p14:creationId xmlns:p14="http://schemas.microsoft.com/office/powerpoint/2010/main" val="339004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7">
            <a:extLst xmlns:a="http://schemas.openxmlformats.org/drawingml/2006/main">
              <a:ext uri="{FF2B5EF4-FFF2-40B4-BE49-F238E27FC236}">
                <a16:creationId xmlns:a16="http://schemas.microsoft.com/office/drawing/2014/main" id="{B012C252-2394-4BA3-A508-AF3657F5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LANGKAH 1</a:t>
            </a:r>
          </a:p>
        </p:txBody>
      </p:sp>
      <p:sp>
        <p:nvSpPr>
          <p:cNvPr id="2" name="number-7">
            <a:extLst xmlns:a="http://schemas.openxmlformats.org/drawingml/2006/main">
              <a:ext uri="{FF2B5EF4-FFF2-40B4-BE49-F238E27FC236}">
                <a16:creationId xmlns:a16="http://schemas.microsoft.com/office/drawing/2014/main" id="{4E1AFB8E-C4F4-45AA-8F3E-4B304DA4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1F928F-7890-4822-B604-AC5F3A64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02810295-D749-40F4-A05E-B20E1862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7">
            <a:extLst xmlns:a="http://schemas.openxmlformats.org/drawingml/2006/main">
              <a:ext uri="{FF2B5EF4-FFF2-40B4-BE49-F238E27FC236}">
                <a16:creationId xmlns:a16="http://schemas.microsoft.com/office/drawing/2014/main" id="{8DB66828-C197-45C6-82E6-45747945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7/30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1922C5-9C13-4E62-AFEC-18D42A1D0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Tanya: keputusan apa yang perlu disokong?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8DC244D-A75C-4F6E-B732-94A145457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Soalan analisis mesti menyatakan tempoh, kategori, pengguna dan tujuan.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9C007F-9438-4BC4-B203-3D2FCA08A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419725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B930ED-407F-41E6-882C-70DA4DBA5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04D6E53F-2813-4102-897F-B71D1FF9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5019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Kabur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274D891E-E725-4F8C-9019-4D9169B1B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50196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“Apakah insight data elektrik?”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3091A4-67B8-411D-9E6C-774A48881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5419725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50F463-1F1F-49B2-8337-ACD22425C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2A4349C-CB1D-4656-8A9E-CBDC5316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50196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Boleh diuji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80A1969F-4E9E-4C52-AFF1-A3946D6D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24200"/>
            <a:ext cx="5019675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“Bagi 2019–2023, bagaimana penggunaan komersial dan domestik berubah?”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4164BE-1B10-42D4-BA71-6E026185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itch">
            <a:extLst xmlns:a="http://schemas.openxmlformats.org/drawingml/2006/main">
              <a:ext uri="{FF2B5EF4-FFF2-40B4-BE49-F238E27FC236}">
                <a16:creationId xmlns:a16="http://schemas.microsoft.com/office/drawing/2014/main" id="{BBA5D061-3BDC-478C-8F6A-DE027150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36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Bagi tempoh [TEMPOH], bagaimanakah [UKURAN] berubah antara [KATEGORI], untuk membantu [PENGGUNA] membuat [KEPUTUSAN]?</a:t>
            </a:r>
          </a:p>
        </p:txBody>
      </p:sp>
    </p:spTree>
    <p:extLst>
      <p:ext uri="{BB962C8B-B14F-4D97-AF65-F5344CB8AC3E}">
        <p14:creationId xmlns:p14="http://schemas.microsoft.com/office/powerpoint/2010/main" val="10827159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8">
            <a:extLst xmlns:a="http://schemas.openxmlformats.org/drawingml/2006/main">
              <a:ext uri="{FF2B5EF4-FFF2-40B4-BE49-F238E27FC236}">
                <a16:creationId xmlns:a16="http://schemas.microsoft.com/office/drawing/2014/main" id="{6451CE68-F3D5-496B-BE70-A24A9E2F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LANGKAH 2</a:t>
            </a:r>
          </a:p>
        </p:txBody>
      </p:sp>
      <p:sp>
        <p:nvSpPr>
          <p:cNvPr id="2" name="number-8">
            <a:extLst xmlns:a="http://schemas.openxmlformats.org/drawingml/2006/main">
              <a:ext uri="{FF2B5EF4-FFF2-40B4-BE49-F238E27FC236}">
                <a16:creationId xmlns:a16="http://schemas.microsoft.com/office/drawing/2014/main" id="{14CEDE7D-CD65-47F8-B2C8-063B78512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2EF697-AF35-4EBC-86E8-730392A4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C587184F-2340-4DDE-9393-556014F9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8">
            <a:extLst xmlns:a="http://schemas.openxmlformats.org/drawingml/2006/main">
              <a:ext uri="{FF2B5EF4-FFF2-40B4-BE49-F238E27FC236}">
                <a16:creationId xmlns:a16="http://schemas.microsoft.com/office/drawing/2014/main" id="{0DBB7E1A-9B61-40D4-829D-E0880399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8/30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F2FD120-8A7D-42C8-90E3-8F349236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Kenal: fahami data sebelum mengira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A60A01AB-C571-424B-8E07-2786C2E0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Satu nama lajur tidak semestinya menerangkan definisi, unit atau kategori agregat.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FFBF1B-351C-4B72-A4F4-89473A006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C2BBF8-3140-4FC1-B182-1E7F6A6C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9C2A014D-C22D-4863-A1C7-53ADA46E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F29B47B9-78AB-4757-9B68-CB54E6EA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66497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Tarikh bulanan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27EBD7-1B56-41BD-AB54-2BA8079C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427D95-6274-469E-8D84-0B3094D5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33942D8C-E3FA-4B55-847A-9B916619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4384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sector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24880117-595A-4C3D-9172-502E767F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124200"/>
            <a:ext cx="166497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Kategori sektor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D355B-B9A6-4DA6-B1D4-E2D90C4C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EBB71B-3B26-4FC6-9E4F-220F24C7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E226E857-6933-4750-8EA8-850520483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4384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consumption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198B52A9-C95D-4C46-90B7-9DE81E66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124200"/>
            <a:ext cx="166497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Nilai penggunaan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F21697-4BD1-4878-AAC9-87F4BB8D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77AF9-C7BA-41BF-BC2F-0237D6865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BE3E2792-19BE-4619-BD27-7512E151C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4384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unit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ABBD4396-BF95-4B58-8B76-20B63ECF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124200"/>
            <a:ext cx="166497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MKWh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698DF4-F7F9-44BA-BBCC-06B41514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28194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1EA94A-5DAD-4458-A0A1-970119D4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24C58A26-9E2B-4973-8DF9-F0CC9107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4384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source</a:t>
            </a:r>
          </a:p>
        </p:txBody>
      </p:sp>
      <p:sp>
        <p:nvSpPr>
          <p:cNvPr id="27" name="card-body-4">
            <a:extLst xmlns:a="http://schemas.openxmlformats.org/drawingml/2006/main">
              <a:ext uri="{FF2B5EF4-FFF2-40B4-BE49-F238E27FC236}">
                <a16:creationId xmlns:a16="http://schemas.microsoft.com/office/drawing/2014/main" id="{985BCB68-7AA9-449A-8875-EFE0A81D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3124200"/>
            <a:ext cx="166497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data.gov.my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5A6513-FF89-43FF-8D3F-BF1A02A3C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itch">
            <a:extLst xmlns:a="http://schemas.openxmlformats.org/drawingml/2006/main">
              <a:ext uri="{FF2B5EF4-FFF2-40B4-BE49-F238E27FC236}">
                <a16:creationId xmlns:a16="http://schemas.microsoft.com/office/drawing/2014/main" id="{4D4F596C-5995-4FDB-B2ED-1EFB71B2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1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Semak metadata rasmi dan tandakan kategori yang tidak boleh dijumlahkan dua kali.</a:t>
            </a:r>
          </a:p>
        </p:txBody>
      </p:sp>
    </p:spTree>
    <p:extLst>
      <p:ext uri="{BB962C8B-B14F-4D97-AF65-F5344CB8AC3E}">
        <p14:creationId xmlns:p14="http://schemas.microsoft.com/office/powerpoint/2010/main" val="13145792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9">
            <a:extLst xmlns:a="http://schemas.openxmlformats.org/drawingml/2006/main">
              <a:ext uri="{FF2B5EF4-FFF2-40B4-BE49-F238E27FC236}">
                <a16:creationId xmlns:a16="http://schemas.microsoft.com/office/drawing/2014/main" id="{0240416D-71F6-4C57-9BBA-BC86CCED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SUMBER RASMI</a:t>
            </a:r>
          </a:p>
        </p:txBody>
      </p:sp>
      <p:sp>
        <p:nvSpPr>
          <p:cNvPr id="2" name="number-9">
            <a:extLst xmlns:a="http://schemas.openxmlformats.org/drawingml/2006/main">
              <a:ext uri="{FF2B5EF4-FFF2-40B4-BE49-F238E27FC236}">
                <a16:creationId xmlns:a16="http://schemas.microsoft.com/office/drawing/2014/main" id="{5E9EA816-5540-4884-AA87-F261A568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ADFAC6-C22C-4983-908B-6DE9CCCD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5AD64661-C18C-473A-87BE-EF49FF72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9">
            <a:extLst xmlns:a="http://schemas.openxmlformats.org/drawingml/2006/main">
              <a:ext uri="{FF2B5EF4-FFF2-40B4-BE49-F238E27FC236}">
                <a16:creationId xmlns:a16="http://schemas.microsoft.com/office/drawing/2014/main" id="{2C71E096-89C1-4F44-98A5-86920787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9/30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76A3B8C-B8D2-4942-A946-BB1CAE15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Dataset kerajaan: Penggunaan Elektrik Bulanan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D80BFEBC-2EA0-4009-AD81-60A9425A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Contoh neutral untuk mengajar metadata, trend dan batasan sumber.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605793-F2FE-4550-A261-08EA395C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AD2E1E-D9B5-4D9D-AE0C-3FC74E14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DF491B0C-73A1-4CF7-B7BB-ED8F89F7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Medan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2F25F1AE-9E77-44ED-A59F-62168A48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date · sector · consumption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E98C5-8484-4C07-B031-55E09DEA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34C10-F89A-46F4-B0DB-ABFECF9E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520E170B-7C59-4E68-92A4-0111878F5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Unit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72F801F3-1A5E-46AE-B265-7FD20529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Juta kilowatt-jam (MKWh)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09887D-F3B3-4E3A-A3C9-5F5ECDED5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61970B-27AA-4CB2-B901-55979BE82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AB167BDF-056B-4854-92B1-299839DB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Kaveat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74468F58-8B8E-4766-99EE-BD6E989F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Enam bulan terkini mungkin bersifat sementara.</a:t>
            </a:r>
          </a:p>
        </p:txBody>
      </p:sp>
      <p:sp>
        <p:nvSpPr>
          <p:cNvPr id="20" name="meta-buttons">
            <a:extLst xmlns:a="http://schemas.openxmlformats.org/drawingml/2006/main">
              <a:ext uri="{FF2B5EF4-FFF2-40B4-BE49-F238E27FC236}">
                <a16:creationId xmlns:a16="http://schemas.microsoft.com/office/drawing/2014/main" id="{4F35A444-8E33-4EC1-8206-7EC2A8F8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Buka metadata ↗ · Muat turun CSV ↗</a:t>
            </a:r>
          </a:p>
        </p:txBody>
      </p:sp>
    </p:spTree>
    <p:extLst>
      <p:ext uri="{BB962C8B-B14F-4D97-AF65-F5344CB8AC3E}">
        <p14:creationId xmlns:p14="http://schemas.microsoft.com/office/powerpoint/2010/main" val="18849999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10">
            <a:extLst xmlns:a="http://schemas.openxmlformats.org/drawingml/2006/main">
              <a:ext uri="{FF2B5EF4-FFF2-40B4-BE49-F238E27FC236}">
                <a16:creationId xmlns:a16="http://schemas.microsoft.com/office/drawing/2014/main" id="{1368CEFD-8EEE-40B2-8A20-B5BF9E922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3A · LANGKAH 3</a:t>
            </a:r>
          </a:p>
        </p:txBody>
      </p:sp>
      <p:sp>
        <p:nvSpPr>
          <p:cNvPr id="2" name="number-10">
            <a:extLst xmlns:a="http://schemas.openxmlformats.org/drawingml/2006/main">
              <a:ext uri="{FF2B5EF4-FFF2-40B4-BE49-F238E27FC236}">
                <a16:creationId xmlns:a16="http://schemas.microsoft.com/office/drawing/2014/main" id="{DCCEE745-E3CD-48EA-8D0F-02653B6E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CA5A0-06BF-4523-9D73-6AF537FC5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6250DDCC-2A11-495D-9EBA-5919DBE1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0">
            <a:extLst xmlns:a="http://schemas.openxmlformats.org/drawingml/2006/main">
              <a:ext uri="{FF2B5EF4-FFF2-40B4-BE49-F238E27FC236}">
                <a16:creationId xmlns:a16="http://schemas.microsoft.com/office/drawing/2014/main" id="{B6A4C4C1-CC26-44A9-ACE9-27E2DFF6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10/30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3570990-33B1-4A10-A89B-38B45214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Semak: lengkap, sah, konsisten dan unik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02CCA157-CFF4-49AB-8424-E9431DB41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Minta laporan kualiti dengan bukti baris dan lajur, bukan kenyataan “data bersih”.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AA22BC-9B96-4A99-A730-18D370410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EB668F-2469-4637-9B5F-720CCEBE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C7B88119-6643-4D06-90EB-3497683C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6A6A9147-B4E6-41E7-B7D9-92673ABD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Tarikh sah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5DEA84-74B0-416A-8430-ECA46469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DC0488-FC40-4526-83B2-A979C74C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6390707D-2519-4C60-A03F-AC68C1D7A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A85B13AC-81EC-46FE-A83E-11DD0E855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Gabungan unik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E72C69-6988-4FEC-8BAB-8D2D14E5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C31F8A-C3BE-41EC-B6BD-E63D88B9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BBCD0F17-4610-4F71-915D-8517CFC6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DBE83698-27A3-4109-AD5B-9B2D8E47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Nilai bernombor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FDD2F1-17BC-4C17-B7D1-497DB3C6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CCAD1-EFDB-469E-938E-9255BBE4F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A5E56B9A-63DE-426B-A966-E0677BB2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EBA7F7B7-C2AB-4B83-8DBF-3BBD34E8F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Tiada negatif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FBA60-3BA7-47D8-9D36-F23B17FB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2F786A-011C-4A13-AE60-9FB0A0340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1E0856B5-12EA-4062-B8BD-C88C0319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F0AD81DF-0308-4264-99AB-55521451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Tempoh lengkap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5DBFFE-B459-4AB3-BBDC-FABE9466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B5A61-0F11-40A9-A1F6-1356C2CA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D637C417-190A-4CD4-B6D3-B01D5228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4D1AB04B-7906-4D7B-B838-CC31D5405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Nilai luar biasa</a:t>
            </a:r>
          </a:p>
        </p:txBody>
      </p:sp>
    </p:spTree>
    <p:extLst>
      <p:ext uri="{BB962C8B-B14F-4D97-AF65-F5344CB8AC3E}">
        <p14:creationId xmlns:p14="http://schemas.microsoft.com/office/powerpoint/2010/main" val="12265525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1">
            <a:extLst xmlns:a="http://schemas.openxmlformats.org/drawingml/2006/main">
              <a:ext uri="{FF2B5EF4-FFF2-40B4-BE49-F238E27FC236}">
                <a16:creationId xmlns:a16="http://schemas.microsoft.com/office/drawing/2014/main" id="{135B4567-676C-4AF1-8E83-EEA17A112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LANGKAH 4</a:t>
            </a:r>
          </a:p>
        </p:txBody>
      </p:sp>
      <p:sp>
        <p:nvSpPr>
          <p:cNvPr id="2" name="number-11">
            <a:extLst xmlns:a="http://schemas.openxmlformats.org/drawingml/2006/main">
              <a:ext uri="{FF2B5EF4-FFF2-40B4-BE49-F238E27FC236}">
                <a16:creationId xmlns:a16="http://schemas.microsoft.com/office/drawing/2014/main" id="{42721070-5B1F-4264-AFED-76A6A1E5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D1D3F-B353-495D-8FB7-B5AC95D91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9180EC1F-0600-4B8F-ADF0-D308503F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1">
            <a:extLst xmlns:a="http://schemas.openxmlformats.org/drawingml/2006/main">
              <a:ext uri="{FF2B5EF4-FFF2-40B4-BE49-F238E27FC236}">
                <a16:creationId xmlns:a16="http://schemas.microsoft.com/office/drawing/2014/main" id="{2BDC073B-C988-4F05-BDE7-D5EF296FA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11/30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DD3C7F-57BC-4799-BEFA-7AC95328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Bersih: jangan ubah fail sumber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AB318B08-BA07-471A-A21D-5B5E5BD7C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Simpan salinan kerja dan rekod setiap perubahan atau keputusan tidak mengubah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6EED3-F8D2-4A8A-A6E5-E52B91056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0ACB6A-16C8-4B45-B9A1-6C5AC6AB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0F6D1666-6B49-4272-91B2-4715A5A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Fail sumber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7DA54A88-4C9C-4A32-9067-8041EBF0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Kekal tidak berubah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08939A-8954-4D4F-BEAE-774D15F9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74F5A9-1F8F-4765-9582-7A63A841F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BE0E37E2-1DEC-4719-9B12-F5BE884A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Data kerja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6EB19780-FF34-43C7-B3AA-04D11CF3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Pembetulan disemak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2158B-A96C-4964-AF71-C18656EC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B760B-97BE-4543-BF31-C557983C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D95DBDEE-6E06-4D22-A975-646B8DDD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Log perubahan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0623DF00-E5B5-4033-B0E7-CEC9F52F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Asal · baharu · sebab · penyemak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3800E-5B50-4537-88F6-D76B84CA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tch">
            <a:extLst xmlns:a="http://schemas.openxmlformats.org/drawingml/2006/main">
              <a:ext uri="{FF2B5EF4-FFF2-40B4-BE49-F238E27FC236}">
                <a16:creationId xmlns:a16="http://schemas.microsoft.com/office/drawing/2014/main" id="{D6592F26-9FAB-4A86-9954-746E73B33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Jika tiada pembetulan: catat “Tiada perubahan; semakan kualiti selesai”.</a:t>
            </a:r>
          </a:p>
        </p:txBody>
      </p:sp>
    </p:spTree>
    <p:extLst>
      <p:ext uri="{BB962C8B-B14F-4D97-AF65-F5344CB8AC3E}">
        <p14:creationId xmlns:p14="http://schemas.microsoft.com/office/powerpoint/2010/main" val="134672532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12">
            <a:extLst xmlns:a="http://schemas.openxmlformats.org/drawingml/2006/main">
              <a:ext uri="{FF2B5EF4-FFF2-40B4-BE49-F238E27FC236}">
                <a16:creationId xmlns:a16="http://schemas.microsoft.com/office/drawing/2014/main" id="{430B7E8E-3F47-47C5-A892-2C7FB4A73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LANGKAH 5</a:t>
            </a:r>
          </a:p>
        </p:txBody>
      </p:sp>
      <p:sp>
        <p:nvSpPr>
          <p:cNvPr id="2" name="number-12">
            <a:extLst xmlns:a="http://schemas.openxmlformats.org/drawingml/2006/main">
              <a:ext uri="{FF2B5EF4-FFF2-40B4-BE49-F238E27FC236}">
                <a16:creationId xmlns:a16="http://schemas.microsoft.com/office/drawing/2014/main" id="{07DA189D-74A5-42A5-957E-B48C947B1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19BC42-55CE-4DDE-9095-C57E95185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8C2043F0-66B9-4A90-9D3D-EA30EC71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2">
            <a:extLst xmlns:a="http://schemas.openxmlformats.org/drawingml/2006/main">
              <a:ext uri="{FF2B5EF4-FFF2-40B4-BE49-F238E27FC236}">
                <a16:creationId xmlns:a16="http://schemas.microsoft.com/office/drawing/2014/main" id="{95176784-ED42-4166-89D9-57712A062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12/30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D58C01-B895-4D15-8783-C2EE5C0A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Analisis: kira hanya yang menjawab soalan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BBB635DD-D853-4AC8-A265-CCE8A12B7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Jadual dan carta mesti berkait terus dengan keputusan yang hendak disokong.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EBE40-4F1E-47C8-B0B9-7657B749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FEC875-58C9-446C-99AA-49F53A1BB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8680AD8F-5F73-4790-94DC-B53560D6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Tertinggi &amp; terendah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E5CB916B-9EFE-4D29-9F2A-C2BC91F15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224088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Setiap sektor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ABED1F-5C79-4AE0-9B5B-DC40B108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66640-EB4D-4570-9050-28CDAFED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8EB163AB-B3EB-4BB2-98CA-872704E2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Purata tahunan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8856139D-A6DC-46D8-901E-C6BAA4F3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124200"/>
            <a:ext cx="2224088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Ikut sektor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6C154B-9FA4-4954-8CF3-AD154D18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B7A3F2-9F28-40B8-90C5-EAB7D16D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AC47639-407A-4E87-99CE-7DCC544E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Perubahan YoY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B09A6513-25C9-4993-85FD-7659C866C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24200"/>
            <a:ext cx="2224088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Asas dan akhir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ABA6AD-BF1D-4C5C-8BB4-4F451282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7E4B55-7979-4443-9E2B-F4BCDC11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826214BD-AB7C-4253-A8DB-60DC71E4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Perbandingan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428D598F-AB81-43D0-B3FF-A4A1BE0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124200"/>
            <a:ext cx="2224088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Komersial vs domestik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B91739-0036-4575-9837-2318EF00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tch">
            <a:extLst xmlns:a="http://schemas.openxmlformats.org/drawingml/2006/main">
              <a:ext uri="{FF2B5EF4-FFF2-40B4-BE49-F238E27FC236}">
                <a16:creationId xmlns:a16="http://schemas.microsoft.com/office/drawing/2014/main" id="{5ADFE6B9-B94D-4291-BD8E-150B67C1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Semak sekurang-kurangnya dua pengiraan dalam hamparan.</a:t>
            </a:r>
          </a:p>
        </p:txBody>
      </p:sp>
    </p:spTree>
    <p:extLst>
      <p:ext uri="{BB962C8B-B14F-4D97-AF65-F5344CB8AC3E}">
        <p14:creationId xmlns:p14="http://schemas.microsoft.com/office/powerpoint/2010/main" val="126378537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13">
            <a:extLst xmlns:a="http://schemas.openxmlformats.org/drawingml/2006/main">
              <a:ext uri="{FF2B5EF4-FFF2-40B4-BE49-F238E27FC236}">
                <a16:creationId xmlns:a16="http://schemas.microsoft.com/office/drawing/2014/main" id="{88A5671C-72E4-4B43-83B2-AC7D2EF0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VISUALISASI</a:t>
            </a:r>
          </a:p>
        </p:txBody>
      </p:sp>
      <p:sp>
        <p:nvSpPr>
          <p:cNvPr id="2" name="number-13">
            <a:extLst xmlns:a="http://schemas.openxmlformats.org/drawingml/2006/main">
              <a:ext uri="{FF2B5EF4-FFF2-40B4-BE49-F238E27FC236}">
                <a16:creationId xmlns:a16="http://schemas.microsoft.com/office/drawing/2014/main" id="{B838619F-9B58-4B74-9F31-F09B03BB8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1690E8-FEB7-400F-9CD2-356A865F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36754F71-2C4C-45A8-9E51-752DA534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3">
            <a:extLst xmlns:a="http://schemas.openxmlformats.org/drawingml/2006/main">
              <a:ext uri="{FF2B5EF4-FFF2-40B4-BE49-F238E27FC236}">
                <a16:creationId xmlns:a16="http://schemas.microsoft.com/office/drawing/2014/main" id="{671C3970-E553-4C25-B6B9-5AD156B9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13/30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7B54434-6E7B-498E-9584-3897E7FFE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Carta yang jujur menjawab satu soalan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E4EA0F6E-9E7E-4F6C-A3F1-4C5FFDBF7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Tajuk, paksi, unit, tempoh, sumber dan kaveat mesti jelas.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7C4145-A52A-4BF1-9BE6-34134104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E2C3D-A6BC-4933-B856-5830A311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111B8B50-3C36-49F8-A591-C120BB38A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Trend masa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85DBE021-1C87-4D59-A731-17B8FD832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Gunakan carta garis.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099046-9703-490F-8F7C-77684435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4304EA-EA6D-4552-8FBE-2D23EF68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F8BF675A-62D8-40D7-B6BA-E2C39CBA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Perbandingan kategori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7B6B2A71-A55C-4720-8953-1ACCE8E3B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Gunakan bar yang sejajar.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97FA70-2643-4E03-88CB-BF7D9FCD0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772FC6-D0B9-4032-B2C4-A926CE45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DBB638AC-0595-4D53-A686-BDEC76B3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Elakkan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E70A3F79-C7FA-4AEE-BB00-52C2C458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Paksi terpotong, unit hilang dan kategori bertindih.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DED4BF-4AC7-41F3-A20E-B30D9A6CC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7344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itch">
            <a:extLst xmlns:a="http://schemas.openxmlformats.org/drawingml/2006/main">
              <a:ext uri="{FF2B5EF4-FFF2-40B4-BE49-F238E27FC236}">
                <a16:creationId xmlns:a16="http://schemas.microsoft.com/office/drawing/2014/main" id="{44C8F8A6-F4F5-41D5-823A-5E10D5AFE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Carta bukan hiasan. Setiap unsur mesti membantu pembaca menilai bukti.</a:t>
            </a:r>
          </a:p>
        </p:txBody>
      </p:sp>
    </p:spTree>
    <p:extLst>
      <p:ext uri="{BB962C8B-B14F-4D97-AF65-F5344CB8AC3E}">
        <p14:creationId xmlns:p14="http://schemas.microsoft.com/office/powerpoint/2010/main" val="18429567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14">
            <a:extLst xmlns:a="http://schemas.openxmlformats.org/drawingml/2006/main">
              <a:ext uri="{FF2B5EF4-FFF2-40B4-BE49-F238E27FC236}">
                <a16:creationId xmlns:a16="http://schemas.microsoft.com/office/drawing/2014/main" id="{93A39E33-4D84-4C1E-9066-DB83C74E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3A · LANGKAH 6</a:t>
            </a:r>
          </a:p>
        </p:txBody>
      </p:sp>
      <p:sp>
        <p:nvSpPr>
          <p:cNvPr id="2" name="number-14">
            <a:extLst xmlns:a="http://schemas.openxmlformats.org/drawingml/2006/main">
              <a:ext uri="{FF2B5EF4-FFF2-40B4-BE49-F238E27FC236}">
                <a16:creationId xmlns:a16="http://schemas.microsoft.com/office/drawing/2014/main" id="{1F0818F0-B203-4DA0-88D0-0EB6A3B36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4AAA2-798E-4932-BA95-E880DDFC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39BB1A7B-39AE-4181-9C5F-B3B06BE5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4">
            <a:extLst xmlns:a="http://schemas.openxmlformats.org/drawingml/2006/main">
              <a:ext uri="{FF2B5EF4-FFF2-40B4-BE49-F238E27FC236}">
                <a16:creationId xmlns:a16="http://schemas.microsoft.com/office/drawing/2014/main" id="{12EFD5CF-4F5E-4B87-96F2-F2ADF442B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14/30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8244C8-6702-4047-B6FE-5852DB91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Sah: audit angka dan dakwaan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8DB84573-00EB-4F83-B224-8FFBCC704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Perkataan “meningkat” mesti mempunyai tempoh, nilai asas, nilai akhir dan unit.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63AB21-A74C-49B9-8B4B-8C5921C7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5419725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1F178-911D-4A8E-915D-2FA28685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6A08AE1E-03A7-4B8D-B00E-14912DE0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501967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“Penggunaan meningkat dengan ketara.”Tiada tempoh atau angka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C3335-36A9-473A-B1CE-44A06583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5419725" cy="3695700"/>
          </a:xfrm>
          <a:prstGeom xmlns:a="http://schemas.openxmlformats.org/drawingml/2006/main" prst="roundRect">
            <a:avLst>
              <a:gd name="adj" fmla="val 3093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84E6D-E984-4B3E-B029-CE3C01C0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087B882F-87AE-4C31-B7E2-A12B87A7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5019675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“Dari X MKWh pada 2022 kepada Y MKWh pada 2023.”Formula dan sumber dinyatakan</a:t>
            </a:r>
          </a:p>
        </p:txBody>
      </p:sp>
    </p:spTree>
    <p:extLst>
      <p:ext uri="{BB962C8B-B14F-4D97-AF65-F5344CB8AC3E}">
        <p14:creationId xmlns:p14="http://schemas.microsoft.com/office/powerpoint/2010/main" val="14368112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15">
            <a:extLst xmlns:a="http://schemas.openxmlformats.org/drawingml/2006/main">
              <a:ext uri="{FF2B5EF4-FFF2-40B4-BE49-F238E27FC236}">
                <a16:creationId xmlns:a16="http://schemas.microsoft.com/office/drawing/2014/main" id="{332B2F62-CF91-41E7-9F75-0D1F0F5A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LANGKAH 7</a:t>
            </a:r>
          </a:p>
        </p:txBody>
      </p:sp>
      <p:sp>
        <p:nvSpPr>
          <p:cNvPr id="2" name="number-15">
            <a:extLst xmlns:a="http://schemas.openxmlformats.org/drawingml/2006/main">
              <a:ext uri="{FF2B5EF4-FFF2-40B4-BE49-F238E27FC236}">
                <a16:creationId xmlns:a16="http://schemas.microsoft.com/office/drawing/2014/main" id="{022014CD-2120-4F8B-876B-FA815519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13747-2204-4D55-9A8F-685ECD254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5">
            <a:extLst xmlns:a="http://schemas.openxmlformats.org/drawingml/2006/main">
              <a:ext uri="{FF2B5EF4-FFF2-40B4-BE49-F238E27FC236}">
                <a16:creationId xmlns:a16="http://schemas.microsoft.com/office/drawing/2014/main" id="{2F84A0ED-B761-4006-AB28-C28CB1E8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5">
            <a:extLst xmlns:a="http://schemas.openxmlformats.org/drawingml/2006/main">
              <a:ext uri="{FF2B5EF4-FFF2-40B4-BE49-F238E27FC236}">
                <a16:creationId xmlns:a16="http://schemas.microsoft.com/office/drawing/2014/main" id="{BBE77677-B4FB-44A7-86AB-363D9DD7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15/30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EF89EC2-70E6-43DC-89B6-CC5FA497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Rekod: bina pakej hasil yang boleh dijejak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A0DAA9CA-BAA6-471F-A8F5-846FEA39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Pisahkan sumber asal, data kerja, log kualiti, analisis dan hasil disahkan.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C48DE2-0A9D-47F1-9A25-883FB149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B38DF-CE7F-44A2-BFCC-A9E69998A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94801A5F-D66F-461A-AA53-BD89E7903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Sumber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8A816DC2-7922-4AB2-B7C5-39A44AFC9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M3_Elektrik_Sumber_20240930.csv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88348-2057-49A1-8C7D-C47A2D2B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8AC120-E9F2-4803-87F8-9E54D814C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1CF505AE-9375-40D8-9359-248190E0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Kerja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AC576E2D-EC1E-4FFE-A51B-1348F64C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M3_Elektrik_DataKerja_v01.csv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0421C7-4E58-4CE2-BFDF-506574FFA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E34959-CBF7-4F14-9CD6-81C3C51E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7DAF9B7C-F807-4889-B9A1-41628A27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Kamus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1F3777A8-8743-48DE-87FF-D1DD9A76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M3_Elektrik_KamusData_v01.xlsx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D007CE-B5A0-4A63-A5FA-A8557DCC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46502C-5A8B-43E2-87D8-A5F29ADE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AD5CFBD3-02D8-45DF-92D7-D97158C35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Kualiti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EB933C7A-F824-43A5-9F65-7BCD08E0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M3_Elektrik_LogKualiti_v01.xlsx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8247FF-D5FC-415B-9DDB-50B10485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6F44A4-26C2-41E6-B9D9-8D8ADF57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81979F2F-B4A5-44E1-8126-2A6670FC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Analisis</a:t>
            </a:r>
          </a:p>
        </p:txBody>
      </p:sp>
      <p:sp>
        <p:nvSpPr>
          <p:cNvPr id="27" name="card-body-4">
            <a:extLst xmlns:a="http://schemas.openxmlformats.org/drawingml/2006/main">
              <a:ext uri="{FF2B5EF4-FFF2-40B4-BE49-F238E27FC236}">
                <a16:creationId xmlns:a16="http://schemas.microsoft.com/office/drawing/2014/main" id="{959C257C-00E7-4618-B6C5-1BB6A267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M3_Elektrik_Analisis_v01.xlsx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122C4-E376-4457-BF0F-78B80D31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2D2733-50F1-45B8-9138-5C7E7286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331D3FFD-9454-473F-B14E-91E9A83C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Ringkasan</a:t>
            </a:r>
          </a:p>
        </p:txBody>
      </p:sp>
      <p:sp>
        <p:nvSpPr>
          <p:cNvPr id="31" name="card-body-5">
            <a:extLst xmlns:a="http://schemas.openxmlformats.org/drawingml/2006/main">
              <a:ext uri="{FF2B5EF4-FFF2-40B4-BE49-F238E27FC236}">
                <a16:creationId xmlns:a16="http://schemas.microsoft.com/office/drawing/2014/main" id="{3EA1B4EF-55BB-4530-87C8-FE3E579A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M3_Elektrik_Ringkasan_v01.docx</a:t>
            </a:r>
          </a:p>
        </p:txBody>
      </p:sp>
    </p:spTree>
    <p:extLst>
      <p:ext uri="{BB962C8B-B14F-4D97-AF65-F5344CB8AC3E}">
        <p14:creationId xmlns:p14="http://schemas.microsoft.com/office/powerpoint/2010/main" val="13429375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ection-16">
            <a:extLst xmlns:a="http://schemas.openxmlformats.org/drawingml/2006/main">
              <a:ext uri="{FF2B5EF4-FFF2-40B4-BE49-F238E27FC236}">
                <a16:creationId xmlns:a16="http://schemas.microsoft.com/office/drawing/2014/main" id="{697CD873-69D8-4B83-8AF1-E9802CC3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3A · AKTIVITI</a:t>
            </a:r>
          </a:p>
        </p:txBody>
      </p:sp>
      <p:sp>
        <p:nvSpPr>
          <p:cNvPr id="2" name="number-16">
            <a:extLst xmlns:a="http://schemas.openxmlformats.org/drawingml/2006/main">
              <a:ext uri="{FF2B5EF4-FFF2-40B4-BE49-F238E27FC236}">
                <a16:creationId xmlns:a16="http://schemas.microsoft.com/office/drawing/2014/main" id="{4A650676-1FA2-4C50-85AC-93AF85FFD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2472C-8E8B-492D-9EB3-B2B450C8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6">
            <a:extLst xmlns:a="http://schemas.openxmlformats.org/drawingml/2006/main">
              <a:ext uri="{FF2B5EF4-FFF2-40B4-BE49-F238E27FC236}">
                <a16:creationId xmlns:a16="http://schemas.microsoft.com/office/drawing/2014/main" id="{067274C1-CE98-46FE-8EBD-97D42F13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6">
            <a:extLst xmlns:a="http://schemas.openxmlformats.org/drawingml/2006/main">
              <a:ext uri="{FF2B5EF4-FFF2-40B4-BE49-F238E27FC236}">
                <a16:creationId xmlns:a16="http://schemas.microsoft.com/office/drawing/2014/main" id="{2AA812BD-0FBC-45EE-909E-747D8BA7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16/30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50F3D7-A2FE-4873-86C2-CECEB6FC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Latihan kumpulan · aliran lengkap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8242A792-47AC-4890-8D8E-298EA20CC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Tanya · Kenal · Semak · Bersih · Analisis · Sah · Rekod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1ADACB-A414-4453-BEEF-61D019F36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3016C6-31AA-41EF-A837-78361D5E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19DD1D0F-CEB6-45A2-8719-9316E5D8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0–15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586C37C0-38C8-49C7-8ACC-07412EEA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Soalan &amp; kamus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65CA59-9EC2-4179-BBAF-70F59386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01E401-22AD-486D-8EF7-9367A906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EB29DCC3-845A-46EF-9F9F-7BC8EA2EA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15–35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F4009A7-4168-4F2C-910F-EFA48CD8A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Kualiti &amp; 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33732-6536-4418-A4E7-A340A1FFA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E0F1FF-7C39-42A3-B4E9-7F4AB37D2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C259EDE9-C72A-4347-9887-9FC0EFB1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35–60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B1FC026C-E5E0-4C22-827A-F037385A6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Analisis &amp; carta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8A334F-2495-45B8-83B5-AE5CD34E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28194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EC2698-827B-4C1A-90B6-3DBCD892E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2819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9F66AB84-FAAF-4D70-B776-7BE7C96D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60–72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E00E2B79-456F-4325-96FD-BC2564E97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2343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Sah &amp; rekod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692F09-BCE1-4A6E-BA52-B2A8B5A4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905500"/>
            <a:ext cx="85725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itch">
            <a:extLst xmlns:a="http://schemas.openxmlformats.org/drawingml/2006/main">
              <a:ext uri="{FF2B5EF4-FFF2-40B4-BE49-F238E27FC236}">
                <a16:creationId xmlns:a16="http://schemas.microsoft.com/office/drawing/2014/main" id="{D91FE5A2-256C-4511-A763-E171CF96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600075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D27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D272B"/>
                </a:solidFill>
                <a:latin typeface="Aptos"/>
                <a:ea typeface="Aptos"/>
                <a:cs typeface="Aptos"/>
              </a:rPr>
              <a:t>Hasil minimum: satu jadual, satu carta dan dua pengiraan semula.</a:t>
            </a:r>
          </a:p>
        </p:txBody>
      </p:sp>
    </p:spTree>
    <p:extLst>
      <p:ext uri="{BB962C8B-B14F-4D97-AF65-F5344CB8AC3E}">
        <p14:creationId xmlns:p14="http://schemas.microsoft.com/office/powerpoint/2010/main" val="8492834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17">
            <a:extLst xmlns:a="http://schemas.openxmlformats.org/drawingml/2006/main">
              <a:ext uri="{FF2B5EF4-FFF2-40B4-BE49-F238E27FC236}">
                <a16:creationId xmlns:a16="http://schemas.microsoft.com/office/drawing/2014/main" id="{5121A523-9BD0-44E0-98D4-C3B5EEFAA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3A · PENUTUP</a:t>
            </a:r>
          </a:p>
        </p:txBody>
      </p:sp>
      <p:sp>
        <p:nvSpPr>
          <p:cNvPr id="2" name="number-17">
            <a:extLst xmlns:a="http://schemas.openxmlformats.org/drawingml/2006/main">
              <a:ext uri="{FF2B5EF4-FFF2-40B4-BE49-F238E27FC236}">
                <a16:creationId xmlns:a16="http://schemas.microsoft.com/office/drawing/2014/main" id="{28A3AB88-E2DD-4612-A40F-538D5C30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0FABC-5FBA-4CF2-81F6-5AC4B0A6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7">
            <a:extLst xmlns:a="http://schemas.openxmlformats.org/drawingml/2006/main">
              <a:ext uri="{FF2B5EF4-FFF2-40B4-BE49-F238E27FC236}">
                <a16:creationId xmlns:a16="http://schemas.microsoft.com/office/drawing/2014/main" id="{D4F460E7-1419-4AA9-BAAF-E5378E3EC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7">
            <a:extLst xmlns:a="http://schemas.openxmlformats.org/drawingml/2006/main">
              <a:ext uri="{FF2B5EF4-FFF2-40B4-BE49-F238E27FC236}">
                <a16:creationId xmlns:a16="http://schemas.microsoft.com/office/drawing/2014/main" id="{6B15E54F-254C-46C8-9D44-D7120D3E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17/30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31A1B9-CFA0-42A1-9499-788D85DE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Bukti siap Modul 3A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8A7DAE75-DF3E-4523-9283-05E1D483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Jangan bergerak ke rekod teknikal tanpa bukti analisis yang boleh dijejak.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C83C06-2B65-4605-B176-76342DA9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7A84C-BE2E-440A-8285-96A84FFD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8B4227E4-D8FD-433D-A3E0-1E4F9EB3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AFB5CA63-D1D3-44E7-BDCC-0C713896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Soalan analisis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874547-1237-411E-B1A0-A0F7A45E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D3B670-A6F8-49B7-82BB-29665E08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72F8760E-1294-41A9-AD12-3E727EF2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1069197D-43D6-4074-9655-565715ABA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Kamus data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4BD73-DA3D-4EDA-9E51-A17066B01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88863B-0A61-4066-9A05-5F85A36D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3EBBDFAF-15D3-4380-A929-E4D9531C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010EDF39-64E6-4CE1-B7D0-4CB07D2A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Laporan kualiti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3A43EA-2D25-490D-979F-A1E4DB39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43FCC8-8E75-4B3B-B92C-6962141F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851738D9-416B-45A8-BE7F-2554B458D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815063C8-E069-4FB9-9EC1-A6FFBE68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Log perubahan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C76C95-E473-4335-840F-86D2280F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BEAB77-56E7-45ED-8555-74606854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79508E55-5B7A-4E62-A6CD-D9ABA11B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3B4A9F2E-F617-4A39-9C23-7AF86C13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Jadual ringkasan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B82E1C-F1D4-41D9-A383-37E630E2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247F33F-97AE-4E4E-AE6A-64739496C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E23C0517-C952-4408-ADDF-5EBC2AFF6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3D5407EE-4C05-40C4-ACBB-6F0B5B9FB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Carta bersumber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6981E0-7B59-4733-A22D-2CB2F99C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4A6A7F-695E-48DF-915A-7647D272C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10432238-3A7B-4BA2-8F4D-91EE2982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B9417B8B-26DA-4FAF-8A86-9B279B82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Dua semakan kiraan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28F5A9E-14C6-4BA2-934A-8E023A99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4F563C2-F21C-421B-8A7A-0560A6CF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EDF8DB9E-8BC1-4E86-B966-FEE25B0C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688863C4-A7C0-46C8-8A7F-315D3A7B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Nota batasan</a:t>
            </a:r>
          </a:p>
        </p:txBody>
      </p:sp>
    </p:spTree>
    <p:extLst>
      <p:ext uri="{BB962C8B-B14F-4D97-AF65-F5344CB8AC3E}">
        <p14:creationId xmlns:p14="http://schemas.microsoft.com/office/powerpoint/2010/main" val="85156675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18">
            <a:extLst xmlns:a="http://schemas.openxmlformats.org/drawingml/2006/main">
              <a:ext uri="{FF2B5EF4-FFF2-40B4-BE49-F238E27FC236}">
                <a16:creationId xmlns:a16="http://schemas.microsoft.com/office/drawing/2014/main" id="{688C9BEE-E512-4F75-BA0B-FE40E9CB0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3B · PEMBUKAAN</a:t>
            </a:r>
          </a:p>
        </p:txBody>
      </p:sp>
      <p:sp>
        <p:nvSpPr>
          <p:cNvPr id="2" name="number-18">
            <a:extLst xmlns:a="http://schemas.openxmlformats.org/drawingml/2006/main">
              <a:ext uri="{FF2B5EF4-FFF2-40B4-BE49-F238E27FC236}">
                <a16:creationId xmlns:a16="http://schemas.microsoft.com/office/drawing/2014/main" id="{CC18D390-CD24-466E-BC9F-6B58B2DF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DBD757-18D8-4BF4-A382-392EA377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8">
            <a:extLst xmlns:a="http://schemas.openxmlformats.org/drawingml/2006/main">
              <a:ext uri="{FF2B5EF4-FFF2-40B4-BE49-F238E27FC236}">
                <a16:creationId xmlns:a16="http://schemas.microsoft.com/office/drawing/2014/main" id="{8317660D-BF29-469D-8140-D23FCD12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8">
            <a:extLst xmlns:a="http://schemas.openxmlformats.org/drawingml/2006/main">
              <a:ext uri="{FF2B5EF4-FFF2-40B4-BE49-F238E27FC236}">
                <a16:creationId xmlns:a16="http://schemas.microsoft.com/office/drawing/2014/main" id="{ED2B8FCC-4EC8-468D-BC49-6A494F7F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18/30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AF0164-2A79-488D-8021-BBACEDF6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Pengurusan rekod teknikal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F3F9EDD6-61E0-4552-AA73-69B890656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Daripada data kerja kepada rekod yang mempunyai identiti, autoriti, versi dan status.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55A95-75AE-4189-A640-B65F78FC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00300"/>
            <a:ext cx="103632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main-content">
            <a:extLst xmlns:a="http://schemas.openxmlformats.org/drawingml/2006/main">
              <a:ext uri="{FF2B5EF4-FFF2-40B4-BE49-F238E27FC236}">
                <a16:creationId xmlns:a16="http://schemas.microsoft.com/office/drawing/2014/main" id="{3B4E889B-24F1-4413-9597-BFD8018B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19400"/>
            <a:ext cx="94869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Imbas kembali: Tanya · Kenal · Semak · Bersih · Analisis · Sah · Rekod</a:t>
            </a:r>
          </a:p>
        </p:txBody>
      </p:sp>
    </p:spTree>
    <p:extLst>
      <p:ext uri="{BB962C8B-B14F-4D97-AF65-F5344CB8AC3E}">
        <p14:creationId xmlns:p14="http://schemas.microsoft.com/office/powerpoint/2010/main" val="102033880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19">
            <a:extLst xmlns:a="http://schemas.openxmlformats.org/drawingml/2006/main">
              <a:ext uri="{FF2B5EF4-FFF2-40B4-BE49-F238E27FC236}">
                <a16:creationId xmlns:a16="http://schemas.microsoft.com/office/drawing/2014/main" id="{99DCEA42-E7D9-4B93-B8AB-5C096D17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3B · SENARIO</a:t>
            </a:r>
          </a:p>
        </p:txBody>
      </p:sp>
      <p:sp>
        <p:nvSpPr>
          <p:cNvPr id="2" name="number-19">
            <a:extLst xmlns:a="http://schemas.openxmlformats.org/drawingml/2006/main">
              <a:ext uri="{FF2B5EF4-FFF2-40B4-BE49-F238E27FC236}">
                <a16:creationId xmlns:a16="http://schemas.microsoft.com/office/drawing/2014/main" id="{558E6AF7-89EC-4B2F-8420-46EAE4D2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2C7CB-9BCE-4A0D-A5AF-28311E0B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19">
            <a:extLst xmlns:a="http://schemas.openxmlformats.org/drawingml/2006/main">
              <a:ext uri="{FF2B5EF4-FFF2-40B4-BE49-F238E27FC236}">
                <a16:creationId xmlns:a16="http://schemas.microsoft.com/office/drawing/2014/main" id="{63A1CA19-DD5B-41DA-8A86-EED8089D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19">
            <a:extLst xmlns:a="http://schemas.openxmlformats.org/drawingml/2006/main">
              <a:ext uri="{FF2B5EF4-FFF2-40B4-BE49-F238E27FC236}">
                <a16:creationId xmlns:a16="http://schemas.microsoft.com/office/drawing/2014/main" id="{BEB03855-C7A7-4CB0-8BAE-97B8A8D3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19/30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1FA1FBE-C7A9-4B47-A419-E62761E7B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Tiga jenis rekod, satu fail latihan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D544951-21AE-4823-BEA5-8BE722AB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Semua data rekaan dan kesalahan dimasukkan dengan sengaja.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D2A66B-05A0-4F04-828E-21FA4383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5D60DF-1D2D-4923-AEB9-AC8C45E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4AB4B0B6-FB5C-4249-B34D-8B03EAC0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Buku Log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9D940C46-4F0E-4EF7-B5C7-9283BD86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Aktiviti harian dan tarikh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FD6C6-4119-4D9C-BD00-ADAE2DD5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37088B-A4F0-493B-83C5-F98A53AC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02E3FDA0-CCD3-4040-BEB1-7AC256982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KEW.PA-9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1EB4F424-9325-4D0D-A157-D3EDB601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Pergerakan aset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A95A17-EAA2-496C-BFEC-DA488742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722CFE-E1DE-47B0-A904-E3325264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50FDD91E-1DB7-4C13-AC11-22A83D85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Ujian MCCB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98D0EF7B-CD40-4140-B39E-C57A52CD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Bacaan, unit dan keputusan</a:t>
            </a:r>
          </a:p>
        </p:txBody>
      </p:sp>
      <p:sp>
        <p:nvSpPr>
          <p:cNvPr id="20" name="meta-buttons">
            <a:extLst xmlns:a="http://schemas.openxmlformats.org/drawingml/2006/main">
              <a:ext uri="{FF2B5EF4-FFF2-40B4-BE49-F238E27FC236}">
                <a16:creationId xmlns:a16="http://schemas.microsoft.com/office/drawing/2014/main" id="{59AE8F54-752F-446A-8527-2B81F126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Muat turun CSV latihan</a:t>
            </a:r>
          </a:p>
        </p:txBody>
      </p:sp>
    </p:spTree>
    <p:extLst>
      <p:ext uri="{BB962C8B-B14F-4D97-AF65-F5344CB8AC3E}">
        <p14:creationId xmlns:p14="http://schemas.microsoft.com/office/powerpoint/2010/main" val="20951605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section-20">
            <a:extLst xmlns:a="http://schemas.openxmlformats.org/drawingml/2006/main">
              <a:ext uri="{FF2B5EF4-FFF2-40B4-BE49-F238E27FC236}">
                <a16:creationId xmlns:a16="http://schemas.microsoft.com/office/drawing/2014/main" id="{54E1823D-091F-4D67-AF93-B09534C0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3B · MEDAN REKOD</a:t>
            </a:r>
          </a:p>
        </p:txBody>
      </p:sp>
      <p:sp>
        <p:nvSpPr>
          <p:cNvPr id="2" name="number-20">
            <a:extLst xmlns:a="http://schemas.openxmlformats.org/drawingml/2006/main">
              <a:ext uri="{FF2B5EF4-FFF2-40B4-BE49-F238E27FC236}">
                <a16:creationId xmlns:a16="http://schemas.microsoft.com/office/drawing/2014/main" id="{B6684FC5-255C-4A71-8260-19571050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7700F-276F-4ED3-BB29-D8CF6CBE3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0">
            <a:extLst xmlns:a="http://schemas.openxmlformats.org/drawingml/2006/main">
              <a:ext uri="{FF2B5EF4-FFF2-40B4-BE49-F238E27FC236}">
                <a16:creationId xmlns:a16="http://schemas.microsoft.com/office/drawing/2014/main" id="{FC7513F2-3F1B-431F-80B5-C4493EC6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0">
            <a:extLst xmlns:a="http://schemas.openxmlformats.org/drawingml/2006/main">
              <a:ext uri="{FF2B5EF4-FFF2-40B4-BE49-F238E27FC236}">
                <a16:creationId xmlns:a16="http://schemas.microsoft.com/office/drawing/2014/main" id="{BD39A00A-DCD1-4A69-B3AC-681B566E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20/30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0AA9076-687C-410C-AB54-07BB4688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Anatomi rekod teknikal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B05F68B9-5DB5-4452-9DD3-F38C8DE3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Setiap rekod perlu boleh dikenal pasti, dijejak dan disemak.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18887-6875-4192-A832-989CBB6C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1176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E40C6-863D-4136-91F2-A2D59254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7DDA2BAC-735F-495F-99A8-04423B128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E27EA680-BAF6-4EC9-95DA-3A8CC587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64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record_id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D67302-9963-47EE-BD79-B6D63CC2A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1176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4D8F4-4375-4585-889A-0E567768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AF6F4155-AF36-405B-BEC7-65930CEB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8870E236-3BFB-48A4-925F-02B450D8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64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record_type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25865-35D2-4284-9450-5F8D1AEA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1176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9197B-3240-4055-B308-6A860CA2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06192930-EA5B-41FE-8CEC-684C1908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2834EED7-8137-4FFE-B864-2F395CBC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64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asset_id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0DDD7-9278-43FA-85B7-70D2EEF8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1176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23187-82DD-498B-B25F-9E7E6C0B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0B80EC57-BAB0-4E72-B7DE-5376E9C3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1D064B8A-EC56-4818-8F05-2DE923F01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64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record_date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8A8E538-C64A-416F-ACFE-A01974EA9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8850"/>
            <a:ext cx="2624138" cy="11176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85FBCB-43F1-449C-BAEF-52ED68346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8850"/>
            <a:ext cx="66675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CF22D280-5240-4B43-8804-4C5156A7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7030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EDCDA402-C01D-4E62-BA34-4CC521AB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32250"/>
            <a:ext cx="2224088" cy="64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activity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0453708-04F5-4EF4-B7B3-DFAE2A85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3498850"/>
            <a:ext cx="2624138" cy="11176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289DE6-24D4-4CFF-BB6B-9EF3984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3498850"/>
            <a:ext cx="66675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26E9AAFF-4BC6-4216-B24C-C9B01A4F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67030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EB0A24F1-B1D7-47B4-92C7-DDBD6C1FA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032250"/>
            <a:ext cx="2224088" cy="64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reading + unit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37A09F-90CE-4EC8-9037-FBE897E0A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98850"/>
            <a:ext cx="2624138" cy="11176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92D042-7761-4981-BEE8-E9A04047A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3498850"/>
            <a:ext cx="66675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9B13D90F-C250-4C91-A719-84B2E01E8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7030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AAEB9DC1-2549-440E-BDBE-FED8D41E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032250"/>
            <a:ext cx="2224088" cy="64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6C8686-3CF0-4967-97B6-6D47B03D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498850"/>
            <a:ext cx="2624138" cy="11176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86414A-DAD9-41C8-AFBA-4352B8468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3498850"/>
            <a:ext cx="66675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AC0AA2B2-012D-4E3E-A7DA-F9637761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67030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A147E961-1A48-48F8-88C2-E910820B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032250"/>
            <a:ext cx="2224088" cy="64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source_file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359078C-0E2E-467A-AB06-270AB6C1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787900"/>
            <a:ext cx="2624138" cy="11176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9F60B7-596D-4C98-AE9C-826A1BD4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787900"/>
            <a:ext cx="66675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ard-number-8">
            <a:extLst xmlns:a="http://schemas.openxmlformats.org/drawingml/2006/main">
              <a:ext uri="{FF2B5EF4-FFF2-40B4-BE49-F238E27FC236}">
                <a16:creationId xmlns:a16="http://schemas.microsoft.com/office/drawing/2014/main" id="{B1865FED-6A36-45FE-9230-9DC9F3B5D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9593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3" name="card-title-8">
            <a:extLst xmlns:a="http://schemas.openxmlformats.org/drawingml/2006/main">
              <a:ext uri="{FF2B5EF4-FFF2-40B4-BE49-F238E27FC236}">
                <a16:creationId xmlns:a16="http://schemas.microsoft.com/office/drawing/2014/main" id="{08DDD578-8A41-444A-B170-419FDC9A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5321300"/>
            <a:ext cx="2224088" cy="64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version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6650B0-B276-41A3-B59F-0653D6EB3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787900"/>
            <a:ext cx="2624138" cy="11176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5529790-D007-4B64-8EA7-183D0095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787900"/>
            <a:ext cx="66675" cy="111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ard-number-9">
            <a:extLst xmlns:a="http://schemas.openxmlformats.org/drawingml/2006/main">
              <a:ext uri="{FF2B5EF4-FFF2-40B4-BE49-F238E27FC236}">
                <a16:creationId xmlns:a16="http://schemas.microsoft.com/office/drawing/2014/main" id="{ACA72DFA-5FB2-425F-A58F-9BD87A9CD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9593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7" name="card-title-9">
            <a:extLst xmlns:a="http://schemas.openxmlformats.org/drawingml/2006/main">
              <a:ext uri="{FF2B5EF4-FFF2-40B4-BE49-F238E27FC236}">
                <a16:creationId xmlns:a16="http://schemas.microsoft.com/office/drawing/2014/main" id="{6363198D-D92B-4FC0-8C17-C1122675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5321300"/>
            <a:ext cx="2224088" cy="641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reviewer</a:t>
            </a:r>
          </a:p>
        </p:txBody>
      </p:sp>
    </p:spTree>
    <p:extLst>
      <p:ext uri="{BB962C8B-B14F-4D97-AF65-F5344CB8AC3E}">
        <p14:creationId xmlns:p14="http://schemas.microsoft.com/office/powerpoint/2010/main" val="170114900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21">
            <a:extLst xmlns:a="http://schemas.openxmlformats.org/drawingml/2006/main">
              <a:ext uri="{FF2B5EF4-FFF2-40B4-BE49-F238E27FC236}">
                <a16:creationId xmlns:a16="http://schemas.microsoft.com/office/drawing/2014/main" id="{AEE791C0-D69F-4183-B184-67C2CD385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3B · AUDIT</a:t>
            </a:r>
          </a:p>
        </p:txBody>
      </p:sp>
      <p:sp>
        <p:nvSpPr>
          <p:cNvPr id="2" name="number-21">
            <a:extLst xmlns:a="http://schemas.openxmlformats.org/drawingml/2006/main">
              <a:ext uri="{FF2B5EF4-FFF2-40B4-BE49-F238E27FC236}">
                <a16:creationId xmlns:a16="http://schemas.microsoft.com/office/drawing/2014/main" id="{48BB475D-559A-4880-B3A5-48439F54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65BA99-69EF-43C4-8D07-4C4917D9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1">
            <a:extLst xmlns:a="http://schemas.openxmlformats.org/drawingml/2006/main">
              <a:ext uri="{FF2B5EF4-FFF2-40B4-BE49-F238E27FC236}">
                <a16:creationId xmlns:a16="http://schemas.microsoft.com/office/drawing/2014/main" id="{BAB2133A-1A17-4B8C-8A12-C918C53B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1">
            <a:extLst xmlns:a="http://schemas.openxmlformats.org/drawingml/2006/main">
              <a:ext uri="{FF2B5EF4-FFF2-40B4-BE49-F238E27FC236}">
                <a16:creationId xmlns:a16="http://schemas.microsoft.com/office/drawing/2014/main" id="{6AB89A38-1D37-4A67-97EF-DD44C1D3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21/30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729C5D-63CD-4FEF-B9DB-E8F8A022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Audit dahulu, jangan terus membetulkan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B3FC8728-647B-4613-8C09-B1D1A1BA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Cari isu dan petik nombor baris sebagai bukti.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215C2-4CA5-40F4-A6F6-F553736B8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1DEFB-C1BF-4F46-9877-C02CCFD3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9EBFE61A-D8AE-49E4-A653-79777342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76DA01A3-0485-4B3A-ABF3-F2FE6F0C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 aset berbeza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2AB767-7C34-405F-AE0A-65635CA3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6B2F53-550E-4B7F-836F-871502DE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3C352169-AAC8-44DB-8382-7026E01D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E6D3F2F2-B905-463C-B8B9-CAF7ED751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Tarikh bercampur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5282C0-1920-464B-A023-CFD1650B9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740859-FE9C-4BBD-A503-52A012E9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C0A87D25-4E29-4B90-B3EB-4C9272802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BAA4F54A-640B-4F4A-A818-6906C363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Status bercanggah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06BFF9-A50B-47E1-B541-753BEA01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28F8B5-EA4E-4D9B-A996-75B251036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F08E374B-8ECD-4D65-9722-88CF2A1D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1B504724-DCB7-4CE0-AF69-83FA91ED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Rekod pendua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A8EE1ED-82B8-4DFB-A833-49D0AA5B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AD5EA1-DBB6-43B4-8C93-C67B5F57D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BB0712CF-F791-4454-A049-082F7AB5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3B38D636-1CA6-453D-B7E1-ED946CBC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Bacaan tanpa unit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CF3D2-D0C0-40A8-A8D8-0CE7F4CB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6D5843-C17A-4F77-9C6E-1939CC22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3A96DACA-78A2-46B3-900E-DC7113B1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6BA704BE-BE91-4443-9BED-18A7E713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Diluluskan tanpa penyemak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3EDCD3-D946-40B3-8432-D09D27BF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04A942-866C-4696-A766-71615E0CB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3C0BD922-83F1-459D-BD8C-A1266A8EE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017A48DE-D029-4DCA-8D6F-3A2AA471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Versi hilang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9B7F734-4FCC-4FAD-B3A7-80C53D68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91EA6F-3372-45A7-8B6D-B02A7478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A83A6AE2-4B4A-4917-AAD6-10EA8E1B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F6E8A658-EAB4-44FC-B9CA-351DC3058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Sumber tiada</a:t>
            </a:r>
          </a:p>
        </p:txBody>
      </p:sp>
    </p:spTree>
    <p:extLst>
      <p:ext uri="{BB962C8B-B14F-4D97-AF65-F5344CB8AC3E}">
        <p14:creationId xmlns:p14="http://schemas.microsoft.com/office/powerpoint/2010/main" val="131906090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22">
            <a:extLst xmlns:a="http://schemas.openxmlformats.org/drawingml/2006/main">
              <a:ext uri="{FF2B5EF4-FFF2-40B4-BE49-F238E27FC236}">
                <a16:creationId xmlns:a16="http://schemas.microsoft.com/office/drawing/2014/main" id="{3CE62FC1-86F7-494C-99D2-AB08D93BD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3B · AUTORITI</a:t>
            </a:r>
          </a:p>
        </p:txBody>
      </p:sp>
      <p:sp>
        <p:nvSpPr>
          <p:cNvPr id="2" name="number-22">
            <a:extLst xmlns:a="http://schemas.openxmlformats.org/drawingml/2006/main">
              <a:ext uri="{FF2B5EF4-FFF2-40B4-BE49-F238E27FC236}">
                <a16:creationId xmlns:a16="http://schemas.microsoft.com/office/drawing/2014/main" id="{370A8B06-A39B-4CEA-ABB8-057358DB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ADAD3-B9BC-4BA0-9B89-9C5F1A33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2">
            <a:extLst xmlns:a="http://schemas.openxmlformats.org/drawingml/2006/main">
              <a:ext uri="{FF2B5EF4-FFF2-40B4-BE49-F238E27FC236}">
                <a16:creationId xmlns:a16="http://schemas.microsoft.com/office/drawing/2014/main" id="{824FA498-430E-47A0-9524-C05FE2A3B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2">
            <a:extLst xmlns:a="http://schemas.openxmlformats.org/drawingml/2006/main">
              <a:ext uri="{FF2B5EF4-FFF2-40B4-BE49-F238E27FC236}">
                <a16:creationId xmlns:a16="http://schemas.microsoft.com/office/drawing/2014/main" id="{354DE01D-4061-473A-8F7D-268E8D326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22/30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ADD4C5D-9BC2-42BA-8B59-AC355235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Apabila rekod bercanggah, rujuk sumber autoritatif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74E19699-81D6-479B-9D4A-DACFA8358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AI tidak boleh memilih rekod yang “paling masuk akal”.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64B6A1-468A-4621-BA9E-4EEB15515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16CF4-5F39-4D15-BBD0-4F233F26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C21BF203-7A25-4B9E-BDE4-CF66088F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Aset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6FFD4499-FFAF-47C4-ADB3-2023DC82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166497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Daftar aset disahkan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8BAA0D-3177-4651-9B05-172B89E20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323410-52A7-4BA6-BB39-8114AD14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6B6DC15D-812A-4137-814E-FD17209E0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4384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Pergerakan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05725330-29A5-4D65-AE7C-3BF98D3A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3124200"/>
            <a:ext cx="166497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KEW.PA-9 diluluskan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91708-340A-4A78-8B8F-6E91C729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9F5657-D228-43CF-89AE-7BAFD927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8983C7F4-B734-41A0-820F-601E601F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4384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Aktiviti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7C740EAF-BA79-4D90-A53F-1C6839166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3124200"/>
            <a:ext cx="166497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Buku Log bertarikh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6CD191-BADA-42A7-BAD6-F7445747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B94A3E-BBDB-4827-861F-B70F9B10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6AC73FBF-1E36-4866-BD85-07C41FA3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4384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Ujian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C4949FB4-F972-4674-B6D6-4EF81B331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3124200"/>
            <a:ext cx="166497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Laporan bertandatangan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B654A7-AFF1-48F7-A911-14B334E9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AAABB2F-C344-4510-A025-DA3CDA760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8EB5337D-D170-4985-8283-743F7347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438400"/>
            <a:ext cx="166497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Kelulusan</a:t>
            </a:r>
          </a:p>
        </p:txBody>
      </p:sp>
      <p:sp>
        <p:nvSpPr>
          <p:cNvPr id="27" name="card-body-4">
            <a:extLst xmlns:a="http://schemas.openxmlformats.org/drawingml/2006/main">
              <a:ext uri="{FF2B5EF4-FFF2-40B4-BE49-F238E27FC236}">
                <a16:creationId xmlns:a16="http://schemas.microsoft.com/office/drawing/2014/main" id="{B9187A59-B135-4B45-94A0-7C34E413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3124200"/>
            <a:ext cx="166497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Pegawai diberi kuasa</a:t>
            </a:r>
          </a:p>
        </p:txBody>
      </p:sp>
    </p:spTree>
    <p:extLst>
      <p:ext uri="{BB962C8B-B14F-4D97-AF65-F5344CB8AC3E}">
        <p14:creationId xmlns:p14="http://schemas.microsoft.com/office/powerpoint/2010/main" val="877652031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23">
            <a:extLst xmlns:a="http://schemas.openxmlformats.org/drawingml/2006/main">
              <a:ext uri="{FF2B5EF4-FFF2-40B4-BE49-F238E27FC236}">
                <a16:creationId xmlns:a16="http://schemas.microsoft.com/office/drawing/2014/main" id="{44F513BB-81B1-4422-A07F-3E3F65CE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3B · STANDARDISASI</a:t>
            </a:r>
          </a:p>
        </p:txBody>
      </p:sp>
      <p:sp>
        <p:nvSpPr>
          <p:cNvPr id="2" name="number-23">
            <a:extLst xmlns:a="http://schemas.openxmlformats.org/drawingml/2006/main">
              <a:ext uri="{FF2B5EF4-FFF2-40B4-BE49-F238E27FC236}">
                <a16:creationId xmlns:a16="http://schemas.microsoft.com/office/drawing/2014/main" id="{C0EA64CA-5F49-4555-AE5B-42456E43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499D7-BA50-46FC-90E2-48E082D2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3">
            <a:extLst xmlns:a="http://schemas.openxmlformats.org/drawingml/2006/main">
              <a:ext uri="{FF2B5EF4-FFF2-40B4-BE49-F238E27FC236}">
                <a16:creationId xmlns:a16="http://schemas.microsoft.com/office/drawing/2014/main" id="{6604AEED-2509-432B-B41B-335AD5A3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3">
            <a:extLst xmlns:a="http://schemas.openxmlformats.org/drawingml/2006/main">
              <a:ext uri="{FF2B5EF4-FFF2-40B4-BE49-F238E27FC236}">
                <a16:creationId xmlns:a16="http://schemas.microsoft.com/office/drawing/2014/main" id="{2FA235E1-1BB8-4945-B62E-E6CB8DD6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23/30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1C9F01-8F90-4994-9341-CEFB17F1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Cadangkan peraturan, kemudian semak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0F99FB93-9D57-42AD-BC06-AF4005D1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Perubahan mekanikal dan pengesahan pemilik rekod mesti dibezakan.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3CA7C-0D71-434B-AF0F-BB35D96B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000B1-E1D8-405D-952F-C27A1D23A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7AC6E8E7-AD3D-4FCD-991A-4971B893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ID aset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6A863801-4A49-434B-BDFF-FFA91B945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MPE-[JENIS]-NN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5C3714-5C16-4F2D-BE22-9FCB442F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D4F189-AD6C-4889-9331-E379E206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1C583C02-41E1-4BDA-A815-7CF506D5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Tarikh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A97D06A4-567C-40DD-A66F-60EBC969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ISO YYYY-MM-DD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E0DB87-C51C-487D-A71A-F2C79650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4498F2-C628-40F9-8C6D-4BFB358F6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A9329AFF-8F66-4598-85D1-D72C0535C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4384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Status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F64FF511-E4BF-442B-A465-21002057B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124200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Kamus terkawal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65547F-AC67-45D2-8FDA-DBA05C92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7FB37-1179-4FCB-8FC3-DF8633173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E1AA44F9-238A-4F8C-B4CB-859A4CED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Unit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7C7492AB-4993-41A8-95CF-F85F8D41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Wajib bagi bacaan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43F323-1B36-4D2A-946E-C752EB4D4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F275CE-8889-4710-BD21-C9591D75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766F4FD0-D34D-4466-93CE-D5F268D3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Pendua</a:t>
            </a:r>
          </a:p>
        </p:txBody>
      </p:sp>
      <p:sp>
        <p:nvSpPr>
          <p:cNvPr id="27" name="card-body-4">
            <a:extLst xmlns:a="http://schemas.openxmlformats.org/drawingml/2006/main">
              <a:ext uri="{FF2B5EF4-FFF2-40B4-BE49-F238E27FC236}">
                <a16:creationId xmlns:a16="http://schemas.microsoft.com/office/drawing/2014/main" id="{221827EC-40DF-4F42-BEFD-5B5FACE1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Tanda, jangan terus padam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196AB91-B24E-4665-A17E-E31D2D0A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27B438-76B6-4AF7-A0F2-E44163B4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4803151C-3F25-4642-B50C-03CE58FA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71975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Nilai hilang</a:t>
            </a:r>
          </a:p>
        </p:txBody>
      </p:sp>
      <p:sp>
        <p:nvSpPr>
          <p:cNvPr id="31" name="card-body-5">
            <a:extLst xmlns:a="http://schemas.openxmlformats.org/drawingml/2006/main">
              <a:ext uri="{FF2B5EF4-FFF2-40B4-BE49-F238E27FC236}">
                <a16:creationId xmlns:a16="http://schemas.microsoft.com/office/drawing/2014/main" id="{DD5FBC54-7D67-487D-A93D-BC9C6729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057775"/>
            <a:ext cx="31559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[PERLU PENGESAHAN]</a:t>
            </a:r>
          </a:p>
        </p:txBody>
      </p:sp>
    </p:spTree>
    <p:extLst>
      <p:ext uri="{BB962C8B-B14F-4D97-AF65-F5344CB8AC3E}">
        <p14:creationId xmlns:p14="http://schemas.microsoft.com/office/powerpoint/2010/main" val="1950694684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24">
            <a:extLst xmlns:a="http://schemas.openxmlformats.org/drawingml/2006/main">
              <a:ext uri="{FF2B5EF4-FFF2-40B4-BE49-F238E27FC236}">
                <a16:creationId xmlns:a16="http://schemas.microsoft.com/office/drawing/2014/main" id="{E7942AD8-67AC-4BCB-BE90-9EA64AB82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3B · HUBUNGAN REKOD</a:t>
            </a:r>
          </a:p>
        </p:txBody>
      </p:sp>
      <p:sp>
        <p:nvSpPr>
          <p:cNvPr id="2" name="number-24">
            <a:extLst xmlns:a="http://schemas.openxmlformats.org/drawingml/2006/main">
              <a:ext uri="{FF2B5EF4-FFF2-40B4-BE49-F238E27FC236}">
                <a16:creationId xmlns:a16="http://schemas.microsoft.com/office/drawing/2014/main" id="{708AFED8-741F-45BF-B437-79A82294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92D2F2-A271-4686-860F-E251BF51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4">
            <a:extLst xmlns:a="http://schemas.openxmlformats.org/drawingml/2006/main">
              <a:ext uri="{FF2B5EF4-FFF2-40B4-BE49-F238E27FC236}">
                <a16:creationId xmlns:a16="http://schemas.microsoft.com/office/drawing/2014/main" id="{86AF3071-842B-43F9-95D0-6289549C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4">
            <a:extLst xmlns:a="http://schemas.openxmlformats.org/drawingml/2006/main">
              <a:ext uri="{FF2B5EF4-FFF2-40B4-BE49-F238E27FC236}">
                <a16:creationId xmlns:a16="http://schemas.microsoft.com/office/drawing/2014/main" id="{122FE642-8FE1-4982-BC2A-7E28DCDF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24/30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6FD9F3-6B1E-42D0-B54B-9B0B90F7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Jejak aset → ujian → tindakan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1E2D97E9-B450-4387-8239-EDA411CB6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ID aset dan sumber membolehkan rekod berkaitan disambungkan tanpa kehilangan konteks.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C8CC9-3F64-4391-B8F5-60626FCB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F8038-6470-4711-91E7-1769E6151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777A6B1A-26D0-4608-871B-17D87DE6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Aset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7417A6F1-6185-4849-B17A-B927E285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ID dan pemilik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BB239C-E0E1-47D7-9FE6-0AF612333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778A4-86E2-475D-BFE3-5DB41300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A9C0B355-9BA1-49E7-9335-EF6B081A4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Ujian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A2A5F9E4-85E5-4216-80BD-2F3DAC7B5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Tarikh, bacaan, unit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156547-8297-43D0-ACDC-9B4E0D26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351692-9A59-4DCE-B918-9C70ACCA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42B297E-3A6D-4596-936C-A40D0302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E1B4351E-A954-4AA5-91D3-B21FC21E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Bukti dan penyemak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FB7373-6646-49DF-A841-320BCA0EF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9274C7-8A14-4EE6-82D7-B324FAAE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79716F17-C9AA-473C-95FD-9BF74487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Tindakan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199E3256-7661-4A77-99FD-E4431B18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Pemilik dan status</a:t>
            </a:r>
          </a:p>
        </p:txBody>
      </p:sp>
    </p:spTree>
    <p:extLst>
      <p:ext uri="{BB962C8B-B14F-4D97-AF65-F5344CB8AC3E}">
        <p14:creationId xmlns:p14="http://schemas.microsoft.com/office/powerpoint/2010/main" val="66430996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25">
            <a:extLst xmlns:a="http://schemas.openxmlformats.org/drawingml/2006/main">
              <a:ext uri="{FF2B5EF4-FFF2-40B4-BE49-F238E27FC236}">
                <a16:creationId xmlns:a16="http://schemas.microsoft.com/office/drawing/2014/main" id="{0D15950D-FD41-45DF-8E3E-AE4047112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3B · STATUS</a:t>
            </a:r>
          </a:p>
        </p:txBody>
      </p:sp>
      <p:sp>
        <p:nvSpPr>
          <p:cNvPr id="2" name="number-25">
            <a:extLst xmlns:a="http://schemas.openxmlformats.org/drawingml/2006/main">
              <a:ext uri="{FF2B5EF4-FFF2-40B4-BE49-F238E27FC236}">
                <a16:creationId xmlns:a16="http://schemas.microsoft.com/office/drawing/2014/main" id="{1CD7682E-B575-4A62-BCAD-AC6BAE10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57E6FE-0343-4E40-BE14-ADF5042A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5">
            <a:extLst xmlns:a="http://schemas.openxmlformats.org/drawingml/2006/main">
              <a:ext uri="{FF2B5EF4-FFF2-40B4-BE49-F238E27FC236}">
                <a16:creationId xmlns:a16="http://schemas.microsoft.com/office/drawing/2014/main" id="{4A32AA48-E927-4210-AB59-BD9E31836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5">
            <a:extLst xmlns:a="http://schemas.openxmlformats.org/drawingml/2006/main">
              <a:ext uri="{FF2B5EF4-FFF2-40B4-BE49-F238E27FC236}">
                <a16:creationId xmlns:a16="http://schemas.microsoft.com/office/drawing/2014/main" id="{2E299AA6-9F96-48A0-84F8-49F00CA0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25/30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5D1FDFB-48A4-4D48-9D3D-AE39515F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Siapa boleh menetapkan status?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BCAA421A-A8DA-42B1-BEDC-F828B568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AI tidak boleh menetapkan Disahkan atau Diluluskan.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CB0E7A-9A6C-48D0-8D38-C301D048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359AF3-79B0-4FB1-9562-70A3DA22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04662C94-34CE-46AE-80B6-90A235C7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Draf</a:t>
            </a:r>
          </a:p>
        </p:txBody>
      </p:sp>
      <p:sp>
        <p:nvSpPr>
          <p:cNvPr id="11" name="card-body-0">
            <a:extLst xmlns:a="http://schemas.openxmlformats.org/drawingml/2006/main">
              <a:ext uri="{FF2B5EF4-FFF2-40B4-BE49-F238E27FC236}">
                <a16:creationId xmlns:a16="http://schemas.microsoft.com/office/drawing/2014/main" id="{7AB95D66-5BE2-4EC1-9E7B-03753BC2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Penyedia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DB73F-E004-4634-BF75-A4A13BE2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17922-BD60-4114-8DFD-60DC9248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DDC90C4D-3162-460B-A8AB-7E145E749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Dalam Semakan</a:t>
            </a:r>
          </a:p>
        </p:txBody>
      </p:sp>
      <p:sp>
        <p:nvSpPr>
          <p:cNvPr id="15" name="card-body-1">
            <a:extLst xmlns:a="http://schemas.openxmlformats.org/drawingml/2006/main">
              <a:ext uri="{FF2B5EF4-FFF2-40B4-BE49-F238E27FC236}">
                <a16:creationId xmlns:a16="http://schemas.microsoft.com/office/drawing/2014/main" id="{3E96C960-0475-46C6-AB6B-6F824FCB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Penyedia / penyemak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2AC30-E4F3-4422-A5D1-FB72484E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641361-4776-4E18-BA7B-CFC0B630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1AFCEAAF-E0FF-4A48-9CBA-4ACC63D4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Disahkan</a:t>
            </a:r>
          </a:p>
        </p:txBody>
      </p:sp>
      <p:sp>
        <p:nvSpPr>
          <p:cNvPr id="19" name="card-body-2">
            <a:extLst xmlns:a="http://schemas.openxmlformats.org/drawingml/2006/main">
              <a:ext uri="{FF2B5EF4-FFF2-40B4-BE49-F238E27FC236}">
                <a16:creationId xmlns:a16="http://schemas.microsoft.com/office/drawing/2014/main" id="{5541880C-9DC1-4D7A-9C5E-2A6F92911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Penyemak ditetapkan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4F82B-D691-4A62-92B6-E522E0A7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3695700"/>
          </a:xfrm>
          <a:prstGeom xmlns:a="http://schemas.openxmlformats.org/drawingml/2006/main" prst="roundRect">
            <a:avLst>
              <a:gd name="adj" fmla="val 4356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8F7403-2967-498F-B73E-C28AD345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DEF956F9-8CE0-4432-8F89-54F022A75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438400"/>
            <a:ext cx="2224088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Diluluskan</a:t>
            </a:r>
          </a:p>
        </p:txBody>
      </p:sp>
      <p:sp>
        <p:nvSpPr>
          <p:cNvPr id="23" name="card-body-3">
            <a:extLst xmlns:a="http://schemas.openxmlformats.org/drawingml/2006/main">
              <a:ext uri="{FF2B5EF4-FFF2-40B4-BE49-F238E27FC236}">
                <a16:creationId xmlns:a16="http://schemas.microsoft.com/office/drawing/2014/main" id="{D0654902-DE34-429F-8451-586DF830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3124200"/>
            <a:ext cx="2224088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Pegawai diberi kuasa</a:t>
            </a:r>
          </a:p>
        </p:txBody>
      </p:sp>
    </p:spTree>
    <p:extLst>
      <p:ext uri="{BB962C8B-B14F-4D97-AF65-F5344CB8AC3E}">
        <p14:creationId xmlns:p14="http://schemas.microsoft.com/office/powerpoint/2010/main" val="18600559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ection-26">
            <a:extLst xmlns:a="http://schemas.openxmlformats.org/drawingml/2006/main">
              <a:ext uri="{FF2B5EF4-FFF2-40B4-BE49-F238E27FC236}">
                <a16:creationId xmlns:a16="http://schemas.microsoft.com/office/drawing/2014/main" id="{D3123E95-E602-4C1B-8A51-6E99D0F4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3B · PAKEJ REKOD</a:t>
            </a:r>
          </a:p>
        </p:txBody>
      </p:sp>
      <p:sp>
        <p:nvSpPr>
          <p:cNvPr id="2" name="number-26">
            <a:extLst xmlns:a="http://schemas.openxmlformats.org/drawingml/2006/main">
              <a:ext uri="{FF2B5EF4-FFF2-40B4-BE49-F238E27FC236}">
                <a16:creationId xmlns:a16="http://schemas.microsoft.com/office/drawing/2014/main" id="{2B6F7EFF-3AD1-4CDC-90AE-91FFB7CB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E65BF-D082-445C-8720-72FFE869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6">
            <a:extLst xmlns:a="http://schemas.openxmlformats.org/drawingml/2006/main">
              <a:ext uri="{FF2B5EF4-FFF2-40B4-BE49-F238E27FC236}">
                <a16:creationId xmlns:a16="http://schemas.microsoft.com/office/drawing/2014/main" id="{55A8C0D9-16A2-4A9E-8E3D-B8792437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6">
            <a:extLst xmlns:a="http://schemas.openxmlformats.org/drawingml/2006/main">
              <a:ext uri="{FF2B5EF4-FFF2-40B4-BE49-F238E27FC236}">
                <a16:creationId xmlns:a16="http://schemas.microsoft.com/office/drawing/2014/main" id="{BE2427A8-DE8D-4F57-864E-306C0929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26/30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8468C9-9EA1-4CD7-A861-ED99D0B7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Struktur folder yang memelihara jejak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0255DF9F-E294-493C-8143-7FE33E51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Sumber asal, data kerja, draf dan rekod rasmi tidak sepatutnya bercampur.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AC205-8CB8-439C-A742-D649ADEC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4CF61B-D384-48DC-89DC-314B8A0A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4B0E13FB-C645-4D5D-BA8C-0F5E2DF4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AFA75912-7C4C-484F-AB9D-F3E59FDAE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Sumber_Asal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9C2B27-A2CA-4565-8044-CF5FBB944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6B639E-B4AF-49BE-985D-68E458D37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34BD56DF-18F2-4A47-B6FE-1A7D7545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D8140C69-D478-438B-B2AD-24108989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Data_Kerja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0CED3E-8776-4D0F-9C10-8ACA99F3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34D2EF-C18C-4F0C-8F1A-10351D6EB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0EC0674C-E965-4171-9681-2B738A59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EAE46532-7366-471F-A5A8-9824A3B66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Log_Perubahan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ED58E5-ADC8-43AE-8520-AA23E086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222DA-55F9-453A-9352-D23660DE3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5BB7903A-180C-48F7-A883-DA798D96B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0D6E46D5-E6A5-4036-A573-D3AF03D2C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Analisis_Draf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CD0B2E-AE51-4A75-958A-E0F9436AE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CB1E511-C74F-47BE-94F0-90610D98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3BCC3DF6-DF65-44F6-AAC3-C0ED227A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57AF32E8-BB7A-49E1-B212-89C681B8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Hasil_Disahkan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90A659-71DC-4F84-9439-D48B9E60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3556000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BD3145-8F2C-42BF-8E58-535C8CC89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A169B32F-4C2C-4B66-8DB9-82A77853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314825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B481CA63-CDE3-4BB3-A66F-A693E9EB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76775"/>
            <a:ext cx="3155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Rekod_Rasmi</a:t>
            </a:r>
          </a:p>
        </p:txBody>
      </p:sp>
    </p:spTree>
    <p:extLst>
      <p:ext uri="{BB962C8B-B14F-4D97-AF65-F5344CB8AC3E}">
        <p14:creationId xmlns:p14="http://schemas.microsoft.com/office/powerpoint/2010/main" val="53538423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ection-27">
            <a:extLst xmlns:a="http://schemas.openxmlformats.org/drawingml/2006/main">
              <a:ext uri="{FF2B5EF4-FFF2-40B4-BE49-F238E27FC236}">
                <a16:creationId xmlns:a16="http://schemas.microsoft.com/office/drawing/2014/main" id="{91847246-9B96-4760-B71B-E3B468D8F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3B · AKTIVITI</a:t>
            </a:r>
          </a:p>
        </p:txBody>
      </p:sp>
      <p:sp>
        <p:nvSpPr>
          <p:cNvPr id="2" name="number-27">
            <a:extLst xmlns:a="http://schemas.openxmlformats.org/drawingml/2006/main">
              <a:ext uri="{FF2B5EF4-FFF2-40B4-BE49-F238E27FC236}">
                <a16:creationId xmlns:a16="http://schemas.microsoft.com/office/drawing/2014/main" id="{6C110143-7B95-4439-A634-DDDFDEE6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392EEB-F699-47D2-9E25-84A8AC2B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7">
            <a:extLst xmlns:a="http://schemas.openxmlformats.org/drawingml/2006/main">
              <a:ext uri="{FF2B5EF4-FFF2-40B4-BE49-F238E27FC236}">
                <a16:creationId xmlns:a16="http://schemas.microsoft.com/office/drawing/2014/main" id="{0B1AB847-1797-47DC-B31D-A9318118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7">
            <a:extLst xmlns:a="http://schemas.openxmlformats.org/drawingml/2006/main">
              <a:ext uri="{FF2B5EF4-FFF2-40B4-BE49-F238E27FC236}">
                <a16:creationId xmlns:a16="http://schemas.microsoft.com/office/drawing/2014/main" id="{A4900A3E-A0DE-4380-B542-33714B80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27/30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FB7873-3CDE-453E-8EF8-34208D42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Latihan audit rekod · 55 minit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A3993410-BBAE-4A05-9FBB-4B5500B5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Audit → standardisasi → hubung rekod → daftar → semakan silang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64D30-9DF6-433D-AB89-7984A9AD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0BB7E-F305-4A9A-8471-2906C6C9C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C8AD1CF5-1A06-47D3-BCEB-2218885F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0–20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DC2792D7-93D9-4DA0-A8C7-91CBFFED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Audit isu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6E0609-6328-4335-A19A-14C0B6B4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52986B-DD26-4396-B267-A4595CBD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702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7D0C5A61-17D2-47B2-9F91-86AA5E53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20–38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2B21F4FE-C5F2-4976-8340-702CB107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657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Standardisasi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156934-C12A-4C1A-A003-B098F1EAA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06B0F2-4610-4D30-8172-3B4CDDF85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49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C1C2208B-51B9-4354-8C3D-87E0485B9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38–55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320712CD-9449-479E-97D0-33B55D43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304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Hubung rekod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419D8C-D75E-4097-8168-8076800C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4EB8F-C1EC-4242-ADB5-221825967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45B9F9E1-6CA3-4136-8624-D883FAF3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55–68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B44D8DAB-C58B-443B-BDD3-26DDA452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951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Daftar &amp; versi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865A2-EF99-4D7A-B816-7DCA623B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2065020" cy="3695700"/>
          </a:xfrm>
          <a:prstGeom xmlns:a="http://schemas.openxmlformats.org/drawingml/2006/main" prst="roundRect">
            <a:avLst>
              <a:gd name="adj" fmla="val 5535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A30B68-8504-4678-994A-61C09B602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643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9055B10C-9C5F-423A-B45D-8CF49203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381250"/>
            <a:ext cx="166497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68–78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B3E86F54-F132-4E3A-B152-FBEEC2502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5980" y="2743200"/>
            <a:ext cx="166497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Semakan silang</a:t>
            </a:r>
          </a:p>
        </p:txBody>
      </p:sp>
    </p:spTree>
    <p:extLst>
      <p:ext uri="{BB962C8B-B14F-4D97-AF65-F5344CB8AC3E}">
        <p14:creationId xmlns:p14="http://schemas.microsoft.com/office/powerpoint/2010/main" val="121328523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28">
            <a:extLst xmlns:a="http://schemas.openxmlformats.org/drawingml/2006/main">
              <a:ext uri="{FF2B5EF4-FFF2-40B4-BE49-F238E27FC236}">
                <a16:creationId xmlns:a16="http://schemas.microsoft.com/office/drawing/2014/main" id="{E1C03792-47E1-415D-BB9C-C286E0672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3B · TANDA BAHAYA</a:t>
            </a:r>
          </a:p>
        </p:txBody>
      </p:sp>
      <p:sp>
        <p:nvSpPr>
          <p:cNvPr id="2" name="number-28">
            <a:extLst xmlns:a="http://schemas.openxmlformats.org/drawingml/2006/main">
              <a:ext uri="{FF2B5EF4-FFF2-40B4-BE49-F238E27FC236}">
                <a16:creationId xmlns:a16="http://schemas.microsoft.com/office/drawing/2014/main" id="{8961C59E-145E-44A3-AB48-4F1A525B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072F1-F640-4B56-8368-8D4456FAD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8">
            <a:extLst xmlns:a="http://schemas.openxmlformats.org/drawingml/2006/main">
              <a:ext uri="{FF2B5EF4-FFF2-40B4-BE49-F238E27FC236}">
                <a16:creationId xmlns:a16="http://schemas.microsoft.com/office/drawing/2014/main" id="{BB160C36-8BB9-444E-9F32-29B7BF02A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8">
            <a:extLst xmlns:a="http://schemas.openxmlformats.org/drawingml/2006/main">
              <a:ext uri="{FF2B5EF4-FFF2-40B4-BE49-F238E27FC236}">
                <a16:creationId xmlns:a16="http://schemas.microsoft.com/office/drawing/2014/main" id="{266D9999-0B7A-4149-91CC-AC9C978E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28/30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F030FD-3BE4-499B-8D3A-C75685B2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Tanda bahaya dalam output AI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5C91692D-44CB-494A-A141-0260DF43C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Berhenti dan semak jika output melakukan mana-mana perkara ini.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1A0253-8CB5-4E77-8182-B77C4955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5E2ED-8FEE-4031-8439-CF309D5D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71FEA445-2210-4C73-9F86-E5AC9023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0509B2BB-D14E-4762-810D-CF82D46F8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Kosong jadi sifar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36F3E2-ADF1-4FF6-80FB-A30E02884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AC3BED-AE1E-4A63-9950-DA562D21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4C81B2B8-A7A8-45B8-899B-152AE4CA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2060EF3E-944D-482F-BAE0-D4CD131A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Pencilan dibuang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8A62C2-B8A2-42A6-BD1A-5FB0096D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847BC-C805-404C-AEB7-59648F4D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42FC246F-C83F-416E-85EF-1FDDF5BB1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2B550785-D113-414C-BD9B-3810C412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Unit digabung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25416A-DA6A-4539-9458-53030C46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A27D9-A9C6-446D-BAE3-C8BF9BAF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3AFCA42E-FBEA-4497-B112-0B2D8F75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727FD51A-ED7D-45B5-9D99-A39628F6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Kategori dijumlah dua kali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C31FD4-A67B-4B71-89C4-D9555739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570E2F9-D8EF-4B76-B13F-32C01AD30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EFEA6780-EEB7-45F8-8F02-08836E1C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803CA73B-7A97-4DFB-A4F1-138DCEF3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Korelasi jadi sebab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701536-0599-402C-9DE0-5B0B3568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103FDB-5603-4D5D-A77F-8ECF8D8B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9722404F-3C59-48A2-87D5-4F4EAA60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B5480126-C69D-476E-9345-6A85729E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Lajur atau status dicipta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504DEB-9839-4988-B563-A3E7DA4A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2DE550-E747-469F-A852-E3CABE87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3FF60F72-65DB-4B52-A34F-3E5E50CC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40C65B15-AE04-49EA-9A69-02AB7906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Data disebut bersih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D4FD95-B258-4B21-A020-0837DC70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08FC2C-EADE-40FB-B2B8-5BEB8C2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3A022D6E-1969-4C73-B63F-C8DE52F5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!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B3AFE61E-9E4B-4406-9F3E-EA5D46F0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Status lulus diberi</a:t>
            </a:r>
          </a:p>
        </p:txBody>
      </p:sp>
    </p:spTree>
    <p:extLst>
      <p:ext uri="{BB962C8B-B14F-4D97-AF65-F5344CB8AC3E}">
        <p14:creationId xmlns:p14="http://schemas.microsoft.com/office/powerpoint/2010/main" val="3945583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section-29">
            <a:extLst xmlns:a="http://schemas.openxmlformats.org/drawingml/2006/main">
              <a:ext uri="{FF2B5EF4-FFF2-40B4-BE49-F238E27FC236}">
                <a16:creationId xmlns:a16="http://schemas.microsoft.com/office/drawing/2014/main" id="{DD7402F4-0044-4B5C-8325-7FEC2641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MODUL 3B · HASIL SERAHAN</a:t>
            </a:r>
          </a:p>
        </p:txBody>
      </p:sp>
      <p:sp>
        <p:nvSpPr>
          <p:cNvPr id="2" name="number-29">
            <a:extLst xmlns:a="http://schemas.openxmlformats.org/drawingml/2006/main">
              <a:ext uri="{FF2B5EF4-FFF2-40B4-BE49-F238E27FC236}">
                <a16:creationId xmlns:a16="http://schemas.microsoft.com/office/drawing/2014/main" id="{5BAC2564-16DE-4D9A-95C2-54B46F95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17174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267C86-E94D-419D-B9E9-B8D40BAE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DE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29">
            <a:extLst xmlns:a="http://schemas.openxmlformats.org/drawingml/2006/main">
              <a:ext uri="{FF2B5EF4-FFF2-40B4-BE49-F238E27FC236}">
                <a16:creationId xmlns:a16="http://schemas.microsoft.com/office/drawing/2014/main" id="{DF93123B-3F8A-4C24-A257-5A78BA3C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29">
            <a:extLst xmlns:a="http://schemas.openxmlformats.org/drawingml/2006/main">
              <a:ext uri="{FF2B5EF4-FFF2-40B4-BE49-F238E27FC236}">
                <a16:creationId xmlns:a16="http://schemas.microsoft.com/office/drawing/2014/main" id="{313906F2-E4B4-4529-9EF1-3C56DCC33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08F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08F"/>
                </a:solidFill>
                <a:latin typeface="Aptos"/>
                <a:ea typeface="Aptos"/>
                <a:cs typeface="Aptos"/>
              </a:rPr>
              <a:t>29/30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B76BA59-CEB6-409E-9247-3699D3EB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3440"/>
                </a:solidFill>
                <a:latin typeface="Aptos Display"/>
                <a:ea typeface="Aptos Display"/>
                <a:cs typeface="Aptos Display"/>
              </a:rPr>
              <a:t>Bukti penyempurnaan Modul 3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5A5758DD-38BF-4A88-834C-422159BCA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61717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17174"/>
                </a:solidFill>
                <a:latin typeface="Aptos"/>
                <a:ea typeface="Aptos"/>
                <a:cs typeface="Aptos"/>
              </a:rPr>
              <a:t>Hasil akhir mesti boleh disemak oleh orang lain tanpa sejarah chat.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E30BA-4D3C-4062-B09B-C10856E5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22A6B-357F-4AF4-B6A9-A2E97906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F833E3AC-A9B7-44A5-9586-AAC93905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D0EB59AA-DCF5-46A4-BBA1-838F06F3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Laporan isu + baris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F8BC1D-2A61-408F-B476-9415A43D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6E1E74-D561-48A6-A5A1-3EFDCB033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D66F87D4-6D9E-4350-A055-025CC2E4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CEEB77FF-E9FA-4254-BF6B-90D2FBB0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Kamus status &amp; ID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5A6F6-6E7D-4F63-B003-B7A5F0DC9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84989B-5078-468A-9751-C3DDDB95F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BF8C78B6-EDFA-48E1-9355-B4D5B4D7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3D973DD1-5D52-4C69-B365-E4B0C7AB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Log perubahan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D6855B-A4B3-494E-B0E0-C0A20A82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2814F0-63DF-4649-AFB2-22D6AEFA2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09800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ard-number-3">
            <a:extLst xmlns:a="http://schemas.openxmlformats.org/drawingml/2006/main">
              <a:ext uri="{FF2B5EF4-FFF2-40B4-BE49-F238E27FC236}">
                <a16:creationId xmlns:a16="http://schemas.microsoft.com/office/drawing/2014/main" id="{27CDD0C6-F6B8-4626-9681-5CE95EDB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381250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3B22A947-0E21-456A-BADF-83828AD8D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2743200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Daftar rekod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06FEA2-40BF-4B73-A3EB-3F844176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6E16FD-F865-47B2-82A2-5AB4E18BF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ard-number-4">
            <a:extLst xmlns:a="http://schemas.openxmlformats.org/drawingml/2006/main">
              <a:ext uri="{FF2B5EF4-FFF2-40B4-BE49-F238E27FC236}">
                <a16:creationId xmlns:a16="http://schemas.microsoft.com/office/drawing/2014/main" id="{EFD50D7B-477B-42DF-A03C-C3CA9DCF1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card-title-4">
            <a:extLst xmlns:a="http://schemas.openxmlformats.org/drawingml/2006/main">
              <a:ext uri="{FF2B5EF4-FFF2-40B4-BE49-F238E27FC236}">
                <a16:creationId xmlns:a16="http://schemas.microsoft.com/office/drawing/2014/main" id="{D77657EA-1573-4886-8D72-3DF657576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Peta autoriti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D3486E-F26A-49C5-86AC-9B35E2FA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A242DA-365D-4B75-B19B-BE714C3DA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6138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ard-number-5">
            <a:extLst xmlns:a="http://schemas.openxmlformats.org/drawingml/2006/main">
              <a:ext uri="{FF2B5EF4-FFF2-40B4-BE49-F238E27FC236}">
                <a16:creationId xmlns:a16="http://schemas.microsoft.com/office/drawing/2014/main" id="{50899729-5DA2-4C1C-9E21-0A332EDD7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card-title-5">
            <a:extLst xmlns:a="http://schemas.openxmlformats.org/drawingml/2006/main">
              <a:ext uri="{FF2B5EF4-FFF2-40B4-BE49-F238E27FC236}">
                <a16:creationId xmlns:a16="http://schemas.microsoft.com/office/drawing/2014/main" id="{D06A3A6E-E1D6-4478-9F34-8D764A84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Struktur folder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2ACDB51-63B9-4219-B3D6-2EC5B0455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280D0C-6F9B-416C-8CAE-F3400A9E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card-number-6">
            <a:extLst xmlns:a="http://schemas.openxmlformats.org/drawingml/2006/main">
              <a:ext uri="{FF2B5EF4-FFF2-40B4-BE49-F238E27FC236}">
                <a16:creationId xmlns:a16="http://schemas.microsoft.com/office/drawing/2014/main" id="{DDBF8545-C612-4BA8-ABB2-1B650DA8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5" name="card-title-6">
            <a:extLst xmlns:a="http://schemas.openxmlformats.org/drawingml/2006/main">
              <a:ext uri="{FF2B5EF4-FFF2-40B4-BE49-F238E27FC236}">
                <a16:creationId xmlns:a16="http://schemas.microsoft.com/office/drawing/2014/main" id="{2072C935-E6D8-4BF7-9A37-E8FDCB32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Nota batasan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29EE4C-A570-4FF9-8923-5F2B03150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2624138" cy="1762125"/>
          </a:xfrm>
          <a:prstGeom xmlns:a="http://schemas.openxmlformats.org/drawingml/2006/main" prst="roundRect">
            <a:avLst>
              <a:gd name="adj" fmla="val 64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6D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916EF0F-5520-4C50-94DB-8610051D2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4143375"/>
            <a:ext cx="666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ard-number-7">
            <a:extLst xmlns:a="http://schemas.openxmlformats.org/drawingml/2006/main">
              <a:ext uri="{FF2B5EF4-FFF2-40B4-BE49-F238E27FC236}">
                <a16:creationId xmlns:a16="http://schemas.microsoft.com/office/drawing/2014/main" id="{4823E70C-0C61-46A6-868F-64FAD55DD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314825"/>
            <a:ext cx="222408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0A99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0A99D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9" name="card-title-7">
            <a:extLst xmlns:a="http://schemas.openxmlformats.org/drawingml/2006/main">
              <a:ext uri="{FF2B5EF4-FFF2-40B4-BE49-F238E27FC236}">
                <a16:creationId xmlns:a16="http://schemas.microsoft.com/office/drawing/2014/main" id="{17D27D65-3A80-452D-BC47-836FD5DF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6863" y="4676775"/>
            <a:ext cx="2224088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3440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73440"/>
                </a:solidFill>
                <a:latin typeface="Aptos"/>
                <a:ea typeface="Aptos"/>
                <a:cs typeface="Aptos"/>
              </a:rPr>
              <a:t>Lokasi rekod rasmi</a:t>
            </a:r>
          </a:p>
        </p:txBody>
      </p:sp>
    </p:spTree>
    <p:extLst>
      <p:ext uri="{BB962C8B-B14F-4D97-AF65-F5344CB8AC3E}">
        <p14:creationId xmlns:p14="http://schemas.microsoft.com/office/powerpoint/2010/main" val="11595077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D27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ection-30">
            <a:extLst xmlns:a="http://schemas.openxmlformats.org/drawingml/2006/main">
              <a:ext uri="{FF2B5EF4-FFF2-40B4-BE49-F238E27FC236}">
                <a16:creationId xmlns:a16="http://schemas.microsoft.com/office/drawing/2014/main" id="{F742B494-82E6-4AAE-984B-DC028E025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MODUL 3B · PENUTUP</a:t>
            </a:r>
          </a:p>
        </p:txBody>
      </p:sp>
      <p:sp>
        <p:nvSpPr>
          <p:cNvPr id="2" name="number-30">
            <a:extLst xmlns:a="http://schemas.openxmlformats.org/drawingml/2006/main">
              <a:ext uri="{FF2B5EF4-FFF2-40B4-BE49-F238E27FC236}">
                <a16:creationId xmlns:a16="http://schemas.microsoft.com/office/drawing/2014/main" id="{7D81EE56-A73D-4DC3-AC72-CA03A1AC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47650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>
                <a:solidFill>
                  <a:srgbClr val="9CB1B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B1B4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D153BA-64DD-486A-AF40-B5194978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3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30">
            <a:extLst xmlns:a="http://schemas.openxmlformats.org/drawingml/2006/main">
              <a:ext uri="{FF2B5EF4-FFF2-40B4-BE49-F238E27FC236}">
                <a16:creationId xmlns:a16="http://schemas.microsoft.com/office/drawing/2014/main" id="{0949ADB2-2A7D-465D-BA46-368E030D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00825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MODUL 3 · CREaTE JKR · 2026</a:t>
            </a:r>
          </a:p>
        </p:txBody>
      </p:sp>
      <p:sp>
        <p:nvSpPr>
          <p:cNvPr id="5" name="progress-30">
            <a:extLst xmlns:a="http://schemas.openxmlformats.org/drawingml/2006/main">
              <a:ext uri="{FF2B5EF4-FFF2-40B4-BE49-F238E27FC236}">
                <a16:creationId xmlns:a16="http://schemas.microsoft.com/office/drawing/2014/main" id="{F70FA1FB-3ACB-439F-BD0D-1C093281F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600825"/>
            <a:ext cx="11049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>
                <a:solidFill>
                  <a:srgbClr val="82999D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82999D"/>
                </a:solidFill>
                <a:latin typeface="Aptos"/>
                <a:ea typeface="Aptos"/>
                <a:cs typeface="Aptos"/>
              </a:rPr>
              <a:t>30/30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B5A71D6-6B38-4EE4-B7C9-9CF46308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66750"/>
            <a:ext cx="10934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Analisis yang baik meninggalkan jejak</a:t>
            </a:r>
          </a:p>
        </p:txBody>
      </p:sp>
      <p:sp>
        <p:nvSpPr>
          <p:cNvPr id="7" name="slide-lead">
            <a:extLst xmlns:a="http://schemas.openxmlformats.org/drawingml/2006/main">
              <a:ext uri="{FF2B5EF4-FFF2-40B4-BE49-F238E27FC236}">
                <a16:creationId xmlns:a16="http://schemas.microsoft.com/office/drawing/2014/main" id="{C83DECCA-EFC7-49B8-B0A7-987B2EA1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839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>
                <a:solidFill>
                  <a:srgbClr val="BFD0D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BFD0D2"/>
                </a:solidFill>
                <a:latin typeface="Aptos"/>
                <a:ea typeface="Aptos"/>
                <a:cs typeface="Aptos"/>
              </a:rPr>
              <a:t>Soalan jelas · data difahami · pengiraan disahkan · rekod dikawal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309A5-6415-4EE0-A4FD-0CBCCBACB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AF7EC2-0B32-4B52-9369-BCC8F8EE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number-0">
            <a:extLst xmlns:a="http://schemas.openxmlformats.org/drawingml/2006/main">
              <a:ext uri="{FF2B5EF4-FFF2-40B4-BE49-F238E27FC236}">
                <a16:creationId xmlns:a16="http://schemas.microsoft.com/office/drawing/2014/main" id="{3886BD44-3BCD-4770-8F9E-1DD0A255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card-title-0">
            <a:extLst xmlns:a="http://schemas.openxmlformats.org/drawingml/2006/main">
              <a:ext uri="{FF2B5EF4-FFF2-40B4-BE49-F238E27FC236}">
                <a16:creationId xmlns:a16="http://schemas.microsoft.com/office/drawing/2014/main" id="{CCA4AD0B-00BE-4A43-B3A7-7BA345B4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Jangan mula dengan carta.</a:t>
            </a:r>
          </a:p>
        </p:txBody>
      </p:sp>
      <p:sp>
        <p:nvSpPr>
          <p:cNvPr id="12" name="card-body-0">
            <a:extLst xmlns:a="http://schemas.openxmlformats.org/drawingml/2006/main">
              <a:ext uri="{FF2B5EF4-FFF2-40B4-BE49-F238E27FC236}">
                <a16:creationId xmlns:a16="http://schemas.microsoft.com/office/drawing/2014/main" id="{F76ED163-2223-4F32-B97E-B6B255785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3155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Mulakan dengan soalan dan metadata.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C6F68-4D10-416F-9BBF-A8F5F155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173C40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006B2-7BAD-4362-8EE5-05AD1B7B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9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rd-number-1">
            <a:extLst xmlns:a="http://schemas.openxmlformats.org/drawingml/2006/main">
              <a:ext uri="{FF2B5EF4-FFF2-40B4-BE49-F238E27FC236}">
                <a16:creationId xmlns:a16="http://schemas.microsoft.com/office/drawing/2014/main" id="{DC065AFF-E431-42F9-801E-2DD7798B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2A334E97-740F-4273-AF60-AD73D029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27432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Jangan terima angka tanpa semakan.</a:t>
            </a:r>
          </a:p>
        </p:txBody>
      </p:sp>
      <p:sp>
        <p:nvSpPr>
          <p:cNvPr id="17" name="card-body-1">
            <a:extLst xmlns:a="http://schemas.openxmlformats.org/drawingml/2006/main">
              <a:ext uri="{FF2B5EF4-FFF2-40B4-BE49-F238E27FC236}">
                <a16:creationId xmlns:a16="http://schemas.microsoft.com/office/drawing/2014/main" id="{AE0DC1C7-92E6-4E13-A8D4-FACFEBF9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7550" y="3429000"/>
            <a:ext cx="3155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Hasilkan semula pengiraan.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EDDF6-FECC-4868-94AA-C4DBC3E1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3556000" cy="3695700"/>
          </a:xfrm>
          <a:prstGeom xmlns:a="http://schemas.openxmlformats.org/drawingml/2006/main" prst="roundRect">
            <a:avLst>
              <a:gd name="adj" fmla="val 3214"/>
            </a:avLst>
          </a:prstGeom>
          <a:solidFill xmlns:a="http://schemas.openxmlformats.org/drawingml/2006/main">
            <a:srgbClr val="21464A"/>
          </a:solidFill>
          <a:ln xmlns:a="http://schemas.openxmlformats.org/drawingml/2006/main" w="9525">
            <a:solidFill>
              <a:srgbClr val="45676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C04377-EC26-4A35-A184-35FE4D72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5450" y="2209800"/>
            <a:ext cx="66675" cy="3695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F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ard-number-2">
            <a:extLst xmlns:a="http://schemas.openxmlformats.org/drawingml/2006/main">
              <a:ext uri="{FF2B5EF4-FFF2-40B4-BE49-F238E27FC236}">
                <a16:creationId xmlns:a16="http://schemas.microsoft.com/office/drawing/2014/main" id="{FFC7779E-02D1-4A02-AC22-FA4104BE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381250"/>
            <a:ext cx="315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30409BB4-D1F4-4E3C-8629-3C449AE5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2743200"/>
            <a:ext cx="3155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53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Jangan simpan rekod rasmi dalam chat.</a:t>
            </a:r>
          </a:p>
        </p:txBody>
      </p:sp>
      <p:sp>
        <p:nvSpPr>
          <p:cNvPr id="22" name="card-body-2">
            <a:extLst xmlns:a="http://schemas.openxmlformats.org/drawingml/2006/main">
              <a:ext uri="{FF2B5EF4-FFF2-40B4-BE49-F238E27FC236}">
                <a16:creationId xmlns:a16="http://schemas.microsoft.com/office/drawing/2014/main" id="{CC18F520-EFC4-474E-98CC-821FBD2A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429000"/>
            <a:ext cx="31559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C5D3D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C5D3D5"/>
                </a:solidFill>
                <a:latin typeface="Aptos"/>
                <a:ea typeface="Aptos"/>
                <a:cs typeface="Aptos"/>
              </a:rPr>
              <a:t>Gunakan repositori jabatan.</a:t>
            </a:r>
          </a:p>
        </p:txBody>
      </p:sp>
      <p:sp>
        <p:nvSpPr>
          <p:cNvPr id="23" name="meta-buttons">
            <a:extLst xmlns:a="http://schemas.openxmlformats.org/drawingml/2006/main">
              <a:ext uri="{FF2B5EF4-FFF2-40B4-BE49-F238E27FC236}">
                <a16:creationId xmlns:a16="http://schemas.microsoft.com/office/drawing/2014/main" id="{0AEEC1CD-B6DF-4345-985B-2135404C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00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CDFF3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DFF3F"/>
                </a:solidFill>
                <a:latin typeface="Aptos"/>
                <a:ea typeface="Aptos"/>
                <a:cs typeface="Aptos"/>
              </a:rPr>
              <a:t>Buka kuiz dan exit ticket</a:t>
            </a:r>
          </a:p>
        </p:txBody>
      </p:sp>
    </p:spTree>
    <p:extLst>
      <p:ext uri="{BB962C8B-B14F-4D97-AF65-F5344CB8AC3E}">
        <p14:creationId xmlns:p14="http://schemas.microsoft.com/office/powerpoint/2010/main" val="6007640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2026-07-26T03:12:37.7580000Z</dcterms:created>
  <dcterms:modified xsi:type="dcterms:W3CDTF">2026-07-26T03:12:37.7580000Z</dcterms:modified>
</coreProperties>
</file>